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33CBB-A45C-4A1B-802E-8853C3DE0A7B}" v="41" dt="2026-04-06T06:35:44.173"/>
    <p1510:client id="{52BD5881-8833-8A05-96C3-5082908E0374}" v="31" dt="2026-04-06T15:52:17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01" y="-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w Ruenn Rong Rayna" userId="e50ebb62-945f-4e1c-b846-2dc3ae227c89" providerId="ADAL" clId="{DDD415D0-F492-42E8-A1C1-D1BC5C74D080}"/>
    <pc:docChg chg="undo custSel addSld modSld sldOrd">
      <pc:chgData name="Low Ruenn Rong Rayna" userId="e50ebb62-945f-4e1c-b846-2dc3ae227c89" providerId="ADAL" clId="{DDD415D0-F492-42E8-A1C1-D1BC5C74D080}" dt="2026-04-06T06:37:47.410" v="919" actId="1076"/>
      <pc:docMkLst>
        <pc:docMk/>
      </pc:docMkLst>
      <pc:sldChg chg="modSp mod">
        <pc:chgData name="Low Ruenn Rong Rayna" userId="e50ebb62-945f-4e1c-b846-2dc3ae227c89" providerId="ADAL" clId="{DDD415D0-F492-42E8-A1C1-D1BC5C74D080}" dt="2026-04-05T08:30:22.054" v="15" actId="20577"/>
        <pc:sldMkLst>
          <pc:docMk/>
          <pc:sldMk cId="0" sldId="256"/>
        </pc:sldMkLst>
        <pc:spChg chg="mod">
          <ac:chgData name="Low Ruenn Rong Rayna" userId="e50ebb62-945f-4e1c-b846-2dc3ae227c89" providerId="ADAL" clId="{DDD415D0-F492-42E8-A1C1-D1BC5C74D080}" dt="2026-04-05T08:30:22.054" v="15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Low Ruenn Rong Rayna" userId="e50ebb62-945f-4e1c-b846-2dc3ae227c89" providerId="ADAL" clId="{DDD415D0-F492-42E8-A1C1-D1BC5C74D080}" dt="2026-04-06T05:09:47.319" v="95" actId="20577"/>
        <pc:sldMkLst>
          <pc:docMk/>
          <pc:sldMk cId="0" sldId="257"/>
        </pc:sldMkLst>
        <pc:spChg chg="mod">
          <ac:chgData name="Low Ruenn Rong Rayna" userId="e50ebb62-945f-4e1c-b846-2dc3ae227c89" providerId="ADAL" clId="{DDD415D0-F492-42E8-A1C1-D1BC5C74D080}" dt="2026-04-05T08:30:47.658" v="3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ow Ruenn Rong Rayna" userId="e50ebb62-945f-4e1c-b846-2dc3ae227c89" providerId="ADAL" clId="{DDD415D0-F492-42E8-A1C1-D1BC5C74D080}" dt="2026-04-06T05:09:47.319" v="95" actId="20577"/>
          <ac:spMkLst>
            <pc:docMk/>
            <pc:sldMk cId="0" sldId="257"/>
            <ac:spMk id="13" creationId="{00000000-0000-0000-0000-000000000000}"/>
          </ac:spMkLst>
        </pc:spChg>
      </pc:sldChg>
      <pc:sldChg chg="ord">
        <pc:chgData name="Low Ruenn Rong Rayna" userId="e50ebb62-945f-4e1c-b846-2dc3ae227c89" providerId="ADAL" clId="{DDD415D0-F492-42E8-A1C1-D1BC5C74D080}" dt="2026-04-06T05:20:41.362" v="97"/>
        <pc:sldMkLst>
          <pc:docMk/>
          <pc:sldMk cId="0" sldId="260"/>
        </pc:sldMkLst>
      </pc:sldChg>
      <pc:sldChg chg="ord">
        <pc:chgData name="Low Ruenn Rong Rayna" userId="e50ebb62-945f-4e1c-b846-2dc3ae227c89" providerId="ADAL" clId="{DDD415D0-F492-42E8-A1C1-D1BC5C74D080}" dt="2026-04-06T05:36:10.976" v="102"/>
        <pc:sldMkLst>
          <pc:docMk/>
          <pc:sldMk cId="0" sldId="261"/>
        </pc:sldMkLst>
      </pc:sldChg>
      <pc:sldChg chg="modSp mod">
        <pc:chgData name="Low Ruenn Rong Rayna" userId="e50ebb62-945f-4e1c-b846-2dc3ae227c89" providerId="ADAL" clId="{DDD415D0-F492-42E8-A1C1-D1BC5C74D080}" dt="2026-04-05T08:32:57.848" v="88" actId="20577"/>
        <pc:sldMkLst>
          <pc:docMk/>
          <pc:sldMk cId="0" sldId="266"/>
        </pc:sldMkLst>
        <pc:spChg chg="mod">
          <ac:chgData name="Low Ruenn Rong Rayna" userId="e50ebb62-945f-4e1c-b846-2dc3ae227c89" providerId="ADAL" clId="{DDD415D0-F492-42E8-A1C1-D1BC5C74D080}" dt="2026-04-05T08:32:57.848" v="88" actId="20577"/>
          <ac:spMkLst>
            <pc:docMk/>
            <pc:sldMk cId="0" sldId="266"/>
            <ac:spMk id="70" creationId="{00000000-0000-0000-0000-000000000000}"/>
          </ac:spMkLst>
        </pc:spChg>
      </pc:sldChg>
      <pc:sldChg chg="addSp delSp modSp add mod ord">
        <pc:chgData name="Low Ruenn Rong Rayna" userId="e50ebb62-945f-4e1c-b846-2dc3ae227c89" providerId="ADAL" clId="{DDD415D0-F492-42E8-A1C1-D1BC5C74D080}" dt="2026-04-06T06:37:47.410" v="919" actId="1076"/>
        <pc:sldMkLst>
          <pc:docMk/>
          <pc:sldMk cId="1194165571" sldId="268"/>
        </pc:sldMkLst>
        <pc:spChg chg="mod ord">
          <ac:chgData name="Low Ruenn Rong Rayna" userId="e50ebb62-945f-4e1c-b846-2dc3ae227c89" providerId="ADAL" clId="{DDD415D0-F492-42E8-A1C1-D1BC5C74D080}" dt="2026-04-06T06:09:38.334" v="542" actId="1076"/>
          <ac:spMkLst>
            <pc:docMk/>
            <pc:sldMk cId="1194165571" sldId="268"/>
            <ac:spMk id="6" creationId="{50491D6F-E5A4-0AC6-B501-E7CDE387537F}"/>
          </ac:spMkLst>
        </pc:spChg>
        <pc:spChg chg="del">
          <ac:chgData name="Low Ruenn Rong Rayna" userId="e50ebb62-945f-4e1c-b846-2dc3ae227c89" providerId="ADAL" clId="{DDD415D0-F492-42E8-A1C1-D1BC5C74D080}" dt="2026-04-06T05:37:59.835" v="114" actId="478"/>
          <ac:spMkLst>
            <pc:docMk/>
            <pc:sldMk cId="1194165571" sldId="268"/>
            <ac:spMk id="7" creationId="{03466A2E-0653-FCEF-F4CF-17ADE49E48C6}"/>
          </ac:spMkLst>
        </pc:spChg>
        <pc:spChg chg="mod topLvl">
          <ac:chgData name="Low Ruenn Rong Rayna" userId="e50ebb62-945f-4e1c-b846-2dc3ae227c89" providerId="ADAL" clId="{DDD415D0-F492-42E8-A1C1-D1BC5C74D080}" dt="2026-04-06T05:41:05.309" v="128" actId="164"/>
          <ac:spMkLst>
            <pc:docMk/>
            <pc:sldMk cId="1194165571" sldId="268"/>
            <ac:spMk id="8" creationId="{AEE75EAE-A127-1660-A67F-EFF0D15056E3}"/>
          </ac:spMkLst>
        </pc:spChg>
        <pc:spChg chg="mod topLvl">
          <ac:chgData name="Low Ruenn Rong Rayna" userId="e50ebb62-945f-4e1c-b846-2dc3ae227c89" providerId="ADAL" clId="{DDD415D0-F492-42E8-A1C1-D1BC5C74D080}" dt="2026-04-06T05:41:05.309" v="128" actId="164"/>
          <ac:spMkLst>
            <pc:docMk/>
            <pc:sldMk cId="1194165571" sldId="268"/>
            <ac:spMk id="9" creationId="{01F476C7-11E0-C78F-A8B4-B59E721381FD}"/>
          </ac:spMkLst>
        </pc:spChg>
        <pc:spChg chg="del mod topLvl">
          <ac:chgData name="Low Ruenn Rong Rayna" userId="e50ebb62-945f-4e1c-b846-2dc3ae227c89" providerId="ADAL" clId="{DDD415D0-F492-42E8-A1C1-D1BC5C74D080}" dt="2026-04-06T05:45:55.533" v="155" actId="478"/>
          <ac:spMkLst>
            <pc:docMk/>
            <pc:sldMk cId="1194165571" sldId="268"/>
            <ac:spMk id="10" creationId="{49890E55-4A68-557B-4397-007012F60322}"/>
          </ac:spMkLst>
        </pc:spChg>
        <pc:spChg chg="del mod topLvl">
          <ac:chgData name="Low Ruenn Rong Rayna" userId="e50ebb62-945f-4e1c-b846-2dc3ae227c89" providerId="ADAL" clId="{DDD415D0-F492-42E8-A1C1-D1BC5C74D080}" dt="2026-04-06T05:46:07.862" v="156" actId="478"/>
          <ac:spMkLst>
            <pc:docMk/>
            <pc:sldMk cId="1194165571" sldId="268"/>
            <ac:spMk id="11" creationId="{1C540F30-4325-A540-4463-3819A96C5CC0}"/>
          </ac:spMkLst>
        </pc:spChg>
        <pc:spChg chg="del mod">
          <ac:chgData name="Low Ruenn Rong Rayna" userId="e50ebb62-945f-4e1c-b846-2dc3ae227c89" providerId="ADAL" clId="{DDD415D0-F492-42E8-A1C1-D1BC5C74D080}" dt="2026-04-06T05:45:41.558" v="147" actId="478"/>
          <ac:spMkLst>
            <pc:docMk/>
            <pc:sldMk cId="1194165571" sldId="268"/>
            <ac:spMk id="12" creationId="{11B1D4AC-EF4F-0B86-A17B-44D452C16BD2}"/>
          </ac:spMkLst>
        </pc:spChg>
        <pc:spChg chg="del">
          <ac:chgData name="Low Ruenn Rong Rayna" userId="e50ebb62-945f-4e1c-b846-2dc3ae227c89" providerId="ADAL" clId="{DDD415D0-F492-42E8-A1C1-D1BC5C74D080}" dt="2026-04-06T05:37:16.591" v="103" actId="478"/>
          <ac:spMkLst>
            <pc:docMk/>
            <pc:sldMk cId="1194165571" sldId="268"/>
            <ac:spMk id="13" creationId="{389E260F-2355-2359-7616-831DBCECA13E}"/>
          </ac:spMkLst>
        </pc:spChg>
        <pc:spChg chg="del">
          <ac:chgData name="Low Ruenn Rong Rayna" userId="e50ebb62-945f-4e1c-b846-2dc3ae227c89" providerId="ADAL" clId="{DDD415D0-F492-42E8-A1C1-D1BC5C74D080}" dt="2026-04-06T05:37:26.374" v="105" actId="478"/>
          <ac:spMkLst>
            <pc:docMk/>
            <pc:sldMk cId="1194165571" sldId="268"/>
            <ac:spMk id="15" creationId="{EF146677-4C25-E049-E3E7-7021CD75149B}"/>
          </ac:spMkLst>
        </pc:spChg>
        <pc:spChg chg="del mod">
          <ac:chgData name="Low Ruenn Rong Rayna" userId="e50ebb62-945f-4e1c-b846-2dc3ae227c89" providerId="ADAL" clId="{DDD415D0-F492-42E8-A1C1-D1BC5C74D080}" dt="2026-04-06T05:37:31.788" v="107" actId="478"/>
          <ac:spMkLst>
            <pc:docMk/>
            <pc:sldMk cId="1194165571" sldId="268"/>
            <ac:spMk id="16" creationId="{2FBC9286-6D2B-A849-AFBD-FF90160B32F2}"/>
          </ac:spMkLst>
        </pc:spChg>
        <pc:spChg chg="del mod">
          <ac:chgData name="Low Ruenn Rong Rayna" userId="e50ebb62-945f-4e1c-b846-2dc3ae227c89" providerId="ADAL" clId="{DDD415D0-F492-42E8-A1C1-D1BC5C74D080}" dt="2026-04-06T05:37:37.375" v="109" actId="478"/>
          <ac:spMkLst>
            <pc:docMk/>
            <pc:sldMk cId="1194165571" sldId="268"/>
            <ac:spMk id="17" creationId="{F28FFF73-9841-85E8-1A72-AB8D67089780}"/>
          </ac:spMkLst>
        </pc:spChg>
        <pc:spChg chg="del">
          <ac:chgData name="Low Ruenn Rong Rayna" userId="e50ebb62-945f-4e1c-b846-2dc3ae227c89" providerId="ADAL" clId="{DDD415D0-F492-42E8-A1C1-D1BC5C74D080}" dt="2026-04-06T05:37:44.553" v="111" actId="478"/>
          <ac:spMkLst>
            <pc:docMk/>
            <pc:sldMk cId="1194165571" sldId="268"/>
            <ac:spMk id="18" creationId="{98EBB6F3-2426-2F9D-90A6-CC7447DBD742}"/>
          </ac:spMkLst>
        </pc:spChg>
        <pc:spChg chg="del">
          <ac:chgData name="Low Ruenn Rong Rayna" userId="e50ebb62-945f-4e1c-b846-2dc3ae227c89" providerId="ADAL" clId="{DDD415D0-F492-42E8-A1C1-D1BC5C74D080}" dt="2026-04-06T05:37:41.738" v="110" actId="478"/>
          <ac:spMkLst>
            <pc:docMk/>
            <pc:sldMk cId="1194165571" sldId="268"/>
            <ac:spMk id="19" creationId="{5E650892-8E28-4D35-CFBC-B9AF4272D356}"/>
          </ac:spMkLst>
        </pc:spChg>
        <pc:spChg chg="mod">
          <ac:chgData name="Low Ruenn Rong Rayna" userId="e50ebb62-945f-4e1c-b846-2dc3ae227c89" providerId="ADAL" clId="{DDD415D0-F492-42E8-A1C1-D1BC5C74D080}" dt="2026-04-06T06:23:31.640" v="658" actId="14100"/>
          <ac:spMkLst>
            <pc:docMk/>
            <pc:sldMk cId="1194165571" sldId="268"/>
            <ac:spMk id="20" creationId="{147BE06A-3D15-2EE7-9D51-4AAC3D6B08A9}"/>
          </ac:spMkLst>
        </pc:spChg>
        <pc:spChg chg="add del">
          <ac:chgData name="Low Ruenn Rong Rayna" userId="e50ebb62-945f-4e1c-b846-2dc3ae227c89" providerId="ADAL" clId="{DDD415D0-F492-42E8-A1C1-D1BC5C74D080}" dt="2026-04-06T05:52:03.128" v="231" actId="478"/>
          <ac:spMkLst>
            <pc:docMk/>
            <pc:sldMk cId="1194165571" sldId="268"/>
            <ac:spMk id="22" creationId="{44F3A31B-C729-6A5B-CBAA-4450152B2857}"/>
          </ac:spMkLst>
        </pc:spChg>
        <pc:spChg chg="del mod">
          <ac:chgData name="Low Ruenn Rong Rayna" userId="e50ebb62-945f-4e1c-b846-2dc3ae227c89" providerId="ADAL" clId="{DDD415D0-F492-42E8-A1C1-D1BC5C74D080}" dt="2026-04-06T05:47:46.825" v="168" actId="478"/>
          <ac:spMkLst>
            <pc:docMk/>
            <pc:sldMk cId="1194165571" sldId="268"/>
            <ac:spMk id="23" creationId="{454AEE73-F7DD-8DA8-4851-4070E6AFF4F2}"/>
          </ac:spMkLst>
        </pc:spChg>
        <pc:spChg chg="add del mod">
          <ac:chgData name="Low Ruenn Rong Rayna" userId="e50ebb62-945f-4e1c-b846-2dc3ae227c89" providerId="ADAL" clId="{DDD415D0-F492-42E8-A1C1-D1BC5C74D080}" dt="2026-04-06T05:51:56.683" v="230" actId="478"/>
          <ac:spMkLst>
            <pc:docMk/>
            <pc:sldMk cId="1194165571" sldId="268"/>
            <ac:spMk id="24" creationId="{FA0D2627-8F74-E3E2-E379-DE57A3BAC06E}"/>
          </ac:spMkLst>
        </pc:spChg>
        <pc:spChg chg="add del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25" creationId="{3C474095-7543-8647-B54A-38BDDBF0E26C}"/>
          </ac:spMkLst>
        </pc:spChg>
        <pc:spChg chg="add del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26" creationId="{8E0BE0B2-F43A-354C-9791-C5831285838B}"/>
          </ac:spMkLst>
        </pc:spChg>
        <pc:spChg chg="add del">
          <ac:chgData name="Low Ruenn Rong Rayna" userId="e50ebb62-945f-4e1c-b846-2dc3ae227c89" providerId="ADAL" clId="{DDD415D0-F492-42E8-A1C1-D1BC5C74D080}" dt="2026-04-06T06:23:25.292" v="657" actId="478"/>
          <ac:spMkLst>
            <pc:docMk/>
            <pc:sldMk cId="1194165571" sldId="268"/>
            <ac:spMk id="27" creationId="{B318E815-9C7D-4623-E653-9F2639762614}"/>
          </ac:spMkLst>
        </pc:spChg>
        <pc:spChg chg="del">
          <ac:chgData name="Low Ruenn Rong Rayna" userId="e50ebb62-945f-4e1c-b846-2dc3ae227c89" providerId="ADAL" clId="{DDD415D0-F492-42E8-A1C1-D1BC5C74D080}" dt="2026-04-06T05:47:18.550" v="164" actId="478"/>
          <ac:spMkLst>
            <pc:docMk/>
            <pc:sldMk cId="1194165571" sldId="268"/>
            <ac:spMk id="29" creationId="{FE210145-70A6-5F77-9C92-2A8D30670E67}"/>
          </ac:spMkLst>
        </pc:spChg>
        <pc:spChg chg="del">
          <ac:chgData name="Low Ruenn Rong Rayna" userId="e50ebb62-945f-4e1c-b846-2dc3ae227c89" providerId="ADAL" clId="{DDD415D0-F492-42E8-A1C1-D1BC5C74D080}" dt="2026-04-06T05:47:29.197" v="166" actId="478"/>
          <ac:spMkLst>
            <pc:docMk/>
            <pc:sldMk cId="1194165571" sldId="268"/>
            <ac:spMk id="30" creationId="{B9507523-A753-B24C-7DE3-5CB7F1908B0B}"/>
          </ac:spMkLst>
        </pc:spChg>
        <pc:spChg chg="del">
          <ac:chgData name="Low Ruenn Rong Rayna" userId="e50ebb62-945f-4e1c-b846-2dc3ae227c89" providerId="ADAL" clId="{DDD415D0-F492-42E8-A1C1-D1BC5C74D080}" dt="2026-04-06T05:47:25.159" v="165" actId="478"/>
          <ac:spMkLst>
            <pc:docMk/>
            <pc:sldMk cId="1194165571" sldId="268"/>
            <ac:spMk id="31" creationId="{1956FAF5-6761-F5A1-598A-61952292E977}"/>
          </ac:spMkLst>
        </pc:spChg>
        <pc:spChg chg="add del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32" creationId="{81F22C4D-40CC-0433-9B95-E26FFAC22E3F}"/>
          </ac:spMkLst>
        </pc:spChg>
        <pc:spChg chg="add del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33" creationId="{BF1DF7DA-53E0-414A-ECA3-EB0413B7350E}"/>
          </ac:spMkLst>
        </pc:spChg>
        <pc:spChg chg="mod">
          <ac:chgData name="Low Ruenn Rong Rayna" userId="e50ebb62-945f-4e1c-b846-2dc3ae227c89" providerId="ADAL" clId="{DDD415D0-F492-42E8-A1C1-D1BC5C74D080}" dt="2026-04-06T06:37:47.410" v="919" actId="1076"/>
          <ac:spMkLst>
            <pc:docMk/>
            <pc:sldMk cId="1194165571" sldId="268"/>
            <ac:spMk id="37" creationId="{F673E53D-C7B2-55F9-7AA7-4BC8BFE5C036}"/>
          </ac:spMkLst>
        </pc:spChg>
        <pc:spChg chg="mod">
          <ac:chgData name="Low Ruenn Rong Rayna" userId="e50ebb62-945f-4e1c-b846-2dc3ae227c89" providerId="ADAL" clId="{DDD415D0-F492-42E8-A1C1-D1BC5C74D080}" dt="2026-04-06T06:37:42.859" v="918" actId="1076"/>
          <ac:spMkLst>
            <pc:docMk/>
            <pc:sldMk cId="1194165571" sldId="268"/>
            <ac:spMk id="38" creationId="{792EC48B-AEDD-BECE-E706-97F19F4C03E7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1" creationId="{69578782-60A8-9339-B321-24D47599EC68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3" creationId="{6F9A4589-2049-5A3D-E0DA-127302EBED29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4" creationId="{39C1B0DB-98C7-6AC7-BC86-9CABE4954345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5" creationId="{AC661756-4F2F-6D3C-0B64-28594C12204F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6" creationId="{03216AA0-337F-DF2D-D255-93C006E33010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7" creationId="{7F8877CC-8BF2-3053-DA99-1DAB50E55B7E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48" creationId="{6D50467F-6460-34BF-429A-BD3F24F5A9A3}"/>
          </ac:spMkLst>
        </pc:spChg>
        <pc:spChg chg="add mod">
          <ac:chgData name="Low Ruenn Rong Rayna" userId="e50ebb62-945f-4e1c-b846-2dc3ae227c89" providerId="ADAL" clId="{DDD415D0-F492-42E8-A1C1-D1BC5C74D080}" dt="2026-04-06T05:47:05.195" v="161" actId="1076"/>
          <ac:spMkLst>
            <pc:docMk/>
            <pc:sldMk cId="1194165571" sldId="268"/>
            <ac:spMk id="49" creationId="{9FC2F0C0-B075-6EE2-AFCC-7B04DC2D327F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50" creationId="{193AEE98-D236-E6C6-3E15-1798B70D438E}"/>
          </ac:spMkLst>
        </pc:spChg>
        <pc:spChg chg="add mod">
          <ac:chgData name="Low Ruenn Rong Rayna" userId="e50ebb62-945f-4e1c-b846-2dc3ae227c89" providerId="ADAL" clId="{DDD415D0-F492-42E8-A1C1-D1BC5C74D080}" dt="2026-04-06T05:46:36.217" v="159"/>
          <ac:spMkLst>
            <pc:docMk/>
            <pc:sldMk cId="1194165571" sldId="268"/>
            <ac:spMk id="51" creationId="{3663DC40-172F-0F6D-6902-63064053A145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2" creationId="{9A857DA1-22E6-C195-5E49-A2CFAFF54770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4" creationId="{698ECB48-9C5F-C82D-C5D5-9CC45307EC83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5" creationId="{46C3D70E-420D-FCA9-0CAF-67E1733AA4E5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6" creationId="{EF97CC1A-D1F0-8659-8381-F9A9A8436084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7" creationId="{4A781443-F423-34BA-2966-A940D0788C48}"/>
          </ac:spMkLst>
        </pc:spChg>
        <pc:spChg chg="add del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8" creationId="{5F3873E2-A790-7860-C962-F273F90E3BE3}"/>
          </ac:spMkLst>
        </pc:spChg>
        <pc:spChg chg="add del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59" creationId="{11193225-469C-3C60-19CB-D850E3E98D55}"/>
          </ac:spMkLst>
        </pc:spChg>
        <pc:spChg chg="add del mod topLvl">
          <ac:chgData name="Low Ruenn Rong Rayna" userId="e50ebb62-945f-4e1c-b846-2dc3ae227c89" providerId="ADAL" clId="{DDD415D0-F492-42E8-A1C1-D1BC5C74D080}" dt="2026-04-06T05:51:17.505" v="199" actId="164"/>
          <ac:spMkLst>
            <pc:docMk/>
            <pc:sldMk cId="1194165571" sldId="268"/>
            <ac:spMk id="60" creationId="{C683CD3D-D627-984C-5AE1-FEEFA8F40AD0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61" creationId="{E6776875-13FF-28B8-9489-59C84D3407BF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62" creationId="{9827E70F-957C-146C-A1B2-BF5390AA25B4}"/>
          </ac:spMkLst>
        </pc:spChg>
        <pc:spChg chg="add mod topLvl">
          <ac:chgData name="Low Ruenn Rong Rayna" userId="e50ebb62-945f-4e1c-b846-2dc3ae227c89" providerId="ADAL" clId="{DDD415D0-F492-42E8-A1C1-D1BC5C74D080}" dt="2026-04-06T05:51:19.188" v="202" actId="164"/>
          <ac:spMkLst>
            <pc:docMk/>
            <pc:sldMk cId="1194165571" sldId="268"/>
            <ac:spMk id="63" creationId="{8BD9F217-D0F4-E477-DA14-A3468AEF5BD4}"/>
          </ac:spMkLst>
        </pc:spChg>
        <pc:spChg chg="add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1027" creationId="{2B0CD639-B94F-6653-1FC7-3BE673DB4728}"/>
          </ac:spMkLst>
        </pc:spChg>
        <pc:spChg chg="add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1029" creationId="{DE3A5BA7-D903-70F7-95DD-EB841D961748}"/>
          </ac:spMkLst>
        </pc:spChg>
        <pc:spChg chg="add mod">
          <ac:chgData name="Low Ruenn Rong Rayna" userId="e50ebb62-945f-4e1c-b846-2dc3ae227c89" providerId="ADAL" clId="{DDD415D0-F492-42E8-A1C1-D1BC5C74D080}" dt="2026-04-06T06:04:37.243" v="455" actId="164"/>
          <ac:spMkLst>
            <pc:docMk/>
            <pc:sldMk cId="1194165571" sldId="268"/>
            <ac:spMk id="1031" creationId="{36C1B4CC-6CE8-7FDE-570B-FF6FF350CE05}"/>
          </ac:spMkLst>
        </pc:spChg>
        <pc:spChg chg="mod">
          <ac:chgData name="Low Ruenn Rong Rayna" userId="e50ebb62-945f-4e1c-b846-2dc3ae227c89" providerId="ADAL" clId="{DDD415D0-F492-42E8-A1C1-D1BC5C74D080}" dt="2026-04-06T06:05:05.321" v="457"/>
          <ac:spMkLst>
            <pc:docMk/>
            <pc:sldMk cId="1194165571" sldId="268"/>
            <ac:spMk id="1035" creationId="{12188419-8CF2-2638-FB12-AD218044B1FD}"/>
          </ac:spMkLst>
        </pc:spChg>
        <pc:spChg chg="mod">
          <ac:chgData name="Low Ruenn Rong Rayna" userId="e50ebb62-945f-4e1c-b846-2dc3ae227c89" providerId="ADAL" clId="{DDD415D0-F492-42E8-A1C1-D1BC5C74D080}" dt="2026-04-06T06:10:28.871" v="551" actId="20577"/>
          <ac:spMkLst>
            <pc:docMk/>
            <pc:sldMk cId="1194165571" sldId="268"/>
            <ac:spMk id="1036" creationId="{1C7EED51-5285-8A13-75A3-318548D0B251}"/>
          </ac:spMkLst>
        </pc:spChg>
        <pc:spChg chg="mod">
          <ac:chgData name="Low Ruenn Rong Rayna" userId="e50ebb62-945f-4e1c-b846-2dc3ae227c89" providerId="ADAL" clId="{DDD415D0-F492-42E8-A1C1-D1BC5C74D080}" dt="2026-04-06T06:05:05.321" v="457"/>
          <ac:spMkLst>
            <pc:docMk/>
            <pc:sldMk cId="1194165571" sldId="268"/>
            <ac:spMk id="1037" creationId="{8820ED20-3962-B8AF-C765-14D1A958D321}"/>
          </ac:spMkLst>
        </pc:spChg>
        <pc:spChg chg="mod">
          <ac:chgData name="Low Ruenn Rong Rayna" userId="e50ebb62-945f-4e1c-b846-2dc3ae227c89" providerId="ADAL" clId="{DDD415D0-F492-42E8-A1C1-D1BC5C74D080}" dt="2026-04-06T06:11:51.653" v="623" actId="20577"/>
          <ac:spMkLst>
            <pc:docMk/>
            <pc:sldMk cId="1194165571" sldId="268"/>
            <ac:spMk id="1038" creationId="{FE86B371-2FA4-4F54-6D0F-9A47658F149E}"/>
          </ac:spMkLst>
        </pc:spChg>
        <pc:spChg chg="del mod">
          <ac:chgData name="Low Ruenn Rong Rayna" userId="e50ebb62-945f-4e1c-b846-2dc3ae227c89" providerId="ADAL" clId="{DDD415D0-F492-42E8-A1C1-D1BC5C74D080}" dt="2026-04-06T06:12:57.998" v="628" actId="478"/>
          <ac:spMkLst>
            <pc:docMk/>
            <pc:sldMk cId="1194165571" sldId="268"/>
            <ac:spMk id="1039" creationId="{EDCEE82A-04BF-18F0-63CD-8A2A67C94067}"/>
          </ac:spMkLst>
        </pc:spChg>
        <pc:spChg chg="del mod">
          <ac:chgData name="Low Ruenn Rong Rayna" userId="e50ebb62-945f-4e1c-b846-2dc3ae227c89" providerId="ADAL" clId="{DDD415D0-F492-42E8-A1C1-D1BC5C74D080}" dt="2026-04-06T06:12:45.834" v="627" actId="478"/>
          <ac:spMkLst>
            <pc:docMk/>
            <pc:sldMk cId="1194165571" sldId="268"/>
            <ac:spMk id="1040" creationId="{23302F8F-42DE-7825-FFFA-AE3B40C070CD}"/>
          </ac:spMkLst>
        </pc:spChg>
        <pc:spChg chg="mod">
          <ac:chgData name="Low Ruenn Rong Rayna" userId="e50ebb62-945f-4e1c-b846-2dc3ae227c89" providerId="ADAL" clId="{DDD415D0-F492-42E8-A1C1-D1BC5C74D080}" dt="2026-04-06T06:12:13.527" v="626" actId="1076"/>
          <ac:spMkLst>
            <pc:docMk/>
            <pc:sldMk cId="1194165571" sldId="268"/>
            <ac:spMk id="1041" creationId="{6C471CF4-2F59-DF73-A77E-B1249FE4E4F8}"/>
          </ac:spMkLst>
        </pc:spChg>
        <pc:spChg chg="add mod">
          <ac:chgData name="Low Ruenn Rong Rayna" userId="e50ebb62-945f-4e1c-b846-2dc3ae227c89" providerId="ADAL" clId="{DDD415D0-F492-42E8-A1C1-D1BC5C74D080}" dt="2026-04-06T06:13:45.433" v="634" actId="1076"/>
          <ac:spMkLst>
            <pc:docMk/>
            <pc:sldMk cId="1194165571" sldId="268"/>
            <ac:spMk id="1042" creationId="{C87A2911-CFA2-E784-11D9-CA3257A06F21}"/>
          </ac:spMkLst>
        </pc:spChg>
        <pc:spChg chg="add mod">
          <ac:chgData name="Low Ruenn Rong Rayna" userId="e50ebb62-945f-4e1c-b846-2dc3ae227c89" providerId="ADAL" clId="{DDD415D0-F492-42E8-A1C1-D1BC5C74D080}" dt="2026-04-06T06:14:06.655" v="637" actId="1076"/>
          <ac:spMkLst>
            <pc:docMk/>
            <pc:sldMk cId="1194165571" sldId="268"/>
            <ac:spMk id="1043" creationId="{DD2C8C78-6B0E-301A-1D79-5BAF2A3116C9}"/>
          </ac:spMkLst>
        </pc:spChg>
        <pc:spChg chg="add mod">
          <ac:chgData name="Low Ruenn Rong Rayna" userId="e50ebb62-945f-4e1c-b846-2dc3ae227c89" providerId="ADAL" clId="{DDD415D0-F492-42E8-A1C1-D1BC5C74D080}" dt="2026-04-06T06:26:39.460" v="707" actId="1076"/>
          <ac:spMkLst>
            <pc:docMk/>
            <pc:sldMk cId="1194165571" sldId="268"/>
            <ac:spMk id="1044" creationId="{53A36D2A-2949-2072-60A4-DB325713A5DF}"/>
          </ac:spMkLst>
        </pc:spChg>
        <pc:spChg chg="add mod">
          <ac:chgData name="Low Ruenn Rong Rayna" userId="e50ebb62-945f-4e1c-b846-2dc3ae227c89" providerId="ADAL" clId="{DDD415D0-F492-42E8-A1C1-D1BC5C74D080}" dt="2026-04-06T06:31:41.853" v="823" actId="1076"/>
          <ac:spMkLst>
            <pc:docMk/>
            <pc:sldMk cId="1194165571" sldId="268"/>
            <ac:spMk id="1047" creationId="{7D1DCE4B-BC8D-4714-393A-3F9E6172562F}"/>
          </ac:spMkLst>
        </pc:spChg>
        <pc:spChg chg="mod">
          <ac:chgData name="Low Ruenn Rong Rayna" userId="e50ebb62-945f-4e1c-b846-2dc3ae227c89" providerId="ADAL" clId="{DDD415D0-F492-42E8-A1C1-D1BC5C74D080}" dt="2026-04-06T06:25:27.284" v="665"/>
          <ac:spMkLst>
            <pc:docMk/>
            <pc:sldMk cId="1194165571" sldId="268"/>
            <ac:spMk id="1049" creationId="{B02F9D8D-6567-A7B9-2B57-45472B1316D0}"/>
          </ac:spMkLst>
        </pc:spChg>
        <pc:spChg chg="mod">
          <ac:chgData name="Low Ruenn Rong Rayna" userId="e50ebb62-945f-4e1c-b846-2dc3ae227c89" providerId="ADAL" clId="{DDD415D0-F492-42E8-A1C1-D1BC5C74D080}" dt="2026-04-06T06:28:14.053" v="767" actId="20577"/>
          <ac:spMkLst>
            <pc:docMk/>
            <pc:sldMk cId="1194165571" sldId="268"/>
            <ac:spMk id="1050" creationId="{11FA603A-A846-E278-FF33-B85DE04435C7}"/>
          </ac:spMkLst>
        </pc:spChg>
        <pc:spChg chg="mod">
          <ac:chgData name="Low Ruenn Rong Rayna" userId="e50ebb62-945f-4e1c-b846-2dc3ae227c89" providerId="ADAL" clId="{DDD415D0-F492-42E8-A1C1-D1BC5C74D080}" dt="2026-04-06T06:25:27.284" v="665"/>
          <ac:spMkLst>
            <pc:docMk/>
            <pc:sldMk cId="1194165571" sldId="268"/>
            <ac:spMk id="1051" creationId="{55E6C818-C71D-31D4-76B3-B3FE8B443D31}"/>
          </ac:spMkLst>
        </pc:spChg>
        <pc:spChg chg="mod">
          <ac:chgData name="Low Ruenn Rong Rayna" userId="e50ebb62-945f-4e1c-b846-2dc3ae227c89" providerId="ADAL" clId="{DDD415D0-F492-42E8-A1C1-D1BC5C74D080}" dt="2026-04-06T06:29:52.544" v="822" actId="20577"/>
          <ac:spMkLst>
            <pc:docMk/>
            <pc:sldMk cId="1194165571" sldId="268"/>
            <ac:spMk id="1052" creationId="{D3B0EA18-3FA7-833C-162C-C896F2627DE1}"/>
          </ac:spMkLst>
        </pc:spChg>
        <pc:spChg chg="mod">
          <ac:chgData name="Low Ruenn Rong Rayna" userId="e50ebb62-945f-4e1c-b846-2dc3ae227c89" providerId="ADAL" clId="{DDD415D0-F492-42E8-A1C1-D1BC5C74D080}" dt="2026-04-06T06:26:26.037" v="706" actId="1076"/>
          <ac:spMkLst>
            <pc:docMk/>
            <pc:sldMk cId="1194165571" sldId="268"/>
            <ac:spMk id="1053" creationId="{6D877956-72F7-75A7-8F4C-93F563C08642}"/>
          </ac:spMkLst>
        </pc:spChg>
        <pc:grpChg chg="add del mod">
          <ac:chgData name="Low Ruenn Rong Rayna" userId="e50ebb62-945f-4e1c-b846-2dc3ae227c89" providerId="ADAL" clId="{DDD415D0-F492-42E8-A1C1-D1BC5C74D080}" dt="2026-04-06T05:40:58.714" v="127" actId="165"/>
          <ac:grpSpMkLst>
            <pc:docMk/>
            <pc:sldMk cId="1194165571" sldId="268"/>
            <ac:grpSpMk id="14" creationId="{ECFF41DE-57FD-8B47-1FBB-8C1D3471B98E}"/>
          </ac:grpSpMkLst>
        </pc:grpChg>
        <pc:grpChg chg="add del mod">
          <ac:chgData name="Low Ruenn Rong Rayna" userId="e50ebb62-945f-4e1c-b846-2dc3ae227c89" providerId="ADAL" clId="{DDD415D0-F492-42E8-A1C1-D1BC5C74D080}" dt="2026-04-06T05:46:10.184" v="157" actId="478"/>
          <ac:grpSpMkLst>
            <pc:docMk/>
            <pc:sldMk cId="1194165571" sldId="268"/>
            <ac:grpSpMk id="28" creationId="{9067FC1F-85BC-9E4E-48F0-B13FB3CE0532}"/>
          </ac:grpSpMkLst>
        </pc:grpChg>
        <pc:grpChg chg="add del mod">
          <ac:chgData name="Low Ruenn Rong Rayna" userId="e50ebb62-945f-4e1c-b846-2dc3ae227c89" providerId="ADAL" clId="{DDD415D0-F492-42E8-A1C1-D1BC5C74D080}" dt="2026-04-06T05:45:55.533" v="155" actId="478"/>
          <ac:grpSpMkLst>
            <pc:docMk/>
            <pc:sldMk cId="1194165571" sldId="268"/>
            <ac:grpSpMk id="39" creationId="{C0001D28-6228-199F-0CF9-FCE36F5BA86F}"/>
          </ac:grpSpMkLst>
        </pc:grpChg>
        <pc:grpChg chg="mod">
          <ac:chgData name="Low Ruenn Rong Rayna" userId="e50ebb62-945f-4e1c-b846-2dc3ae227c89" providerId="ADAL" clId="{DDD415D0-F492-42E8-A1C1-D1BC5C74D080}" dt="2026-04-06T05:51:18.451" v="201" actId="1076"/>
          <ac:grpSpMkLst>
            <pc:docMk/>
            <pc:sldMk cId="1194165571" sldId="268"/>
            <ac:grpSpMk id="1024" creationId="{AEDBA924-125F-072E-8B33-7F52929960B6}"/>
          </ac:grpSpMkLst>
        </pc:grpChg>
        <pc:grpChg chg="add del mod">
          <ac:chgData name="Low Ruenn Rong Rayna" userId="e50ebb62-945f-4e1c-b846-2dc3ae227c89" providerId="ADAL" clId="{DDD415D0-F492-42E8-A1C1-D1BC5C74D080}" dt="2026-04-06T05:51:17.505" v="199" actId="164"/>
          <ac:grpSpMkLst>
            <pc:docMk/>
            <pc:sldMk cId="1194165571" sldId="268"/>
            <ac:grpSpMk id="1025" creationId="{D58DFAF2-1E98-B10B-82F5-F551F8A4D66E}"/>
          </ac:grpSpMkLst>
        </pc:grpChg>
        <pc:grpChg chg="add mod">
          <ac:chgData name="Low Ruenn Rong Rayna" userId="e50ebb62-945f-4e1c-b846-2dc3ae227c89" providerId="ADAL" clId="{DDD415D0-F492-42E8-A1C1-D1BC5C74D080}" dt="2026-04-06T06:22:27.469" v="656" actId="1076"/>
          <ac:grpSpMkLst>
            <pc:docMk/>
            <pc:sldMk cId="1194165571" sldId="268"/>
            <ac:grpSpMk id="1033" creationId="{1F678EB3-8F2C-684F-4A79-DD6AD34F5D16}"/>
          </ac:grpSpMkLst>
        </pc:grpChg>
        <pc:grpChg chg="add mod">
          <ac:chgData name="Low Ruenn Rong Rayna" userId="e50ebb62-945f-4e1c-b846-2dc3ae227c89" providerId="ADAL" clId="{DDD415D0-F492-42E8-A1C1-D1BC5C74D080}" dt="2026-04-06T06:13:06.388" v="629" actId="1076"/>
          <ac:grpSpMkLst>
            <pc:docMk/>
            <pc:sldMk cId="1194165571" sldId="268"/>
            <ac:grpSpMk id="1034" creationId="{F207508A-483C-1DAB-47EF-FDF7C16CF3E5}"/>
          </ac:grpSpMkLst>
        </pc:grpChg>
        <pc:grpChg chg="add mod">
          <ac:chgData name="Low Ruenn Rong Rayna" userId="e50ebb62-945f-4e1c-b846-2dc3ae227c89" providerId="ADAL" clId="{DDD415D0-F492-42E8-A1C1-D1BC5C74D080}" dt="2026-04-06T06:31:41.853" v="823" actId="1076"/>
          <ac:grpSpMkLst>
            <pc:docMk/>
            <pc:sldMk cId="1194165571" sldId="268"/>
            <ac:grpSpMk id="1048" creationId="{CDEC7CFF-16AF-6362-61C0-9AC2645DB20E}"/>
          </ac:grpSpMkLst>
        </pc:grpChg>
        <pc:picChg chg="add mod">
          <ac:chgData name="Low Ruenn Rong Rayna" userId="e50ebb62-945f-4e1c-b846-2dc3ae227c89" providerId="ADAL" clId="{DDD415D0-F492-42E8-A1C1-D1BC5C74D080}" dt="2026-04-06T05:42:49.364" v="142" actId="1076"/>
          <ac:picMkLst>
            <pc:docMk/>
            <pc:sldMk cId="1194165571" sldId="268"/>
            <ac:picMk id="21" creationId="{58EB155E-037F-5097-D30E-8F4544B8668D}"/>
          </ac:picMkLst>
        </pc:picChg>
        <pc:picChg chg="del">
          <ac:chgData name="Low Ruenn Rong Rayna" userId="e50ebb62-945f-4e1c-b846-2dc3ae227c89" providerId="ADAL" clId="{DDD415D0-F492-42E8-A1C1-D1BC5C74D080}" dt="2026-04-06T05:37:57.396" v="113" actId="478"/>
          <ac:picMkLst>
            <pc:docMk/>
            <pc:sldMk cId="1194165571" sldId="268"/>
            <ac:picMk id="1026" creationId="{E1A22BDB-AFD7-76C9-B133-61783818F644}"/>
          </ac:picMkLst>
        </pc:picChg>
        <pc:picChg chg="del">
          <ac:chgData name="Low Ruenn Rong Rayna" userId="e50ebb62-945f-4e1c-b846-2dc3ae227c89" providerId="ADAL" clId="{DDD415D0-F492-42E8-A1C1-D1BC5C74D080}" dt="2026-04-06T05:37:21.484" v="104" actId="478"/>
          <ac:picMkLst>
            <pc:docMk/>
            <pc:sldMk cId="1194165571" sldId="268"/>
            <ac:picMk id="1028" creationId="{3C083BC7-52C0-4212-2390-1E770A44478E}"/>
          </ac:picMkLst>
        </pc:picChg>
        <pc:picChg chg="del">
          <ac:chgData name="Low Ruenn Rong Rayna" userId="e50ebb62-945f-4e1c-b846-2dc3ae227c89" providerId="ADAL" clId="{DDD415D0-F492-42E8-A1C1-D1BC5C74D080}" dt="2026-04-06T05:47:14.664" v="162" actId="478"/>
          <ac:picMkLst>
            <pc:docMk/>
            <pc:sldMk cId="1194165571" sldId="268"/>
            <ac:picMk id="1030" creationId="{3467E08A-6CC4-5076-B573-F9793D076F62}"/>
          </ac:picMkLst>
        </pc:picChg>
        <pc:picChg chg="del">
          <ac:chgData name="Low Ruenn Rong Rayna" userId="e50ebb62-945f-4e1c-b846-2dc3ae227c89" providerId="ADAL" clId="{DDD415D0-F492-42E8-A1C1-D1BC5C74D080}" dt="2026-04-06T05:47:16.557" v="163" actId="478"/>
          <ac:picMkLst>
            <pc:docMk/>
            <pc:sldMk cId="1194165571" sldId="268"/>
            <ac:picMk id="1032" creationId="{FC3AE30B-BAD2-AE67-16A9-91326EBF8AF4}"/>
          </ac:picMkLst>
        </pc:picChg>
        <pc:picChg chg="add mod">
          <ac:chgData name="Low Ruenn Rong Rayna" userId="e50ebb62-945f-4e1c-b846-2dc3ae227c89" providerId="ADAL" clId="{DDD415D0-F492-42E8-A1C1-D1BC5C74D080}" dt="2026-04-06T06:21:37.062" v="651" actId="1076"/>
          <ac:picMkLst>
            <pc:docMk/>
            <pc:sldMk cId="1194165571" sldId="268"/>
            <ac:picMk id="1045" creationId="{432B9433-F0D7-29EC-9DF8-5E1146C4BD89}"/>
          </ac:picMkLst>
        </pc:picChg>
        <pc:picChg chg="add mod">
          <ac:chgData name="Low Ruenn Rong Rayna" userId="e50ebb62-945f-4e1c-b846-2dc3ae227c89" providerId="ADAL" clId="{DDD415D0-F492-42E8-A1C1-D1BC5C74D080}" dt="2026-04-06T06:23:56.141" v="661" actId="1076"/>
          <ac:picMkLst>
            <pc:docMk/>
            <pc:sldMk cId="1194165571" sldId="268"/>
            <ac:picMk id="1046" creationId="{A030B041-4031-6D51-4503-0D309F848DB1}"/>
          </ac:picMkLst>
        </pc:picChg>
      </pc:sldChg>
    </pc:docChg>
  </pc:docChgLst>
  <pc:docChgLst>
    <pc:chgData name="Noviana Ghovin" userId="S::e1062194@u.nus.edu::3f7bf749-b877-4b99-a697-e95acf82d2db" providerId="AD" clId="Web-{52BD5881-8833-8A05-96C3-5082908E0374}"/>
    <pc:docChg chg="modSld">
      <pc:chgData name="Noviana Ghovin" userId="S::e1062194@u.nus.edu::3f7bf749-b877-4b99-a697-e95acf82d2db" providerId="AD" clId="Web-{52BD5881-8833-8A05-96C3-5082908E0374}" dt="2026-04-06T15:52:17.994" v="29" actId="1076"/>
      <pc:docMkLst>
        <pc:docMk/>
      </pc:docMkLst>
      <pc:sldChg chg="modSp">
        <pc:chgData name="Noviana Ghovin" userId="S::e1062194@u.nus.edu::3f7bf749-b877-4b99-a697-e95acf82d2db" providerId="AD" clId="Web-{52BD5881-8833-8A05-96C3-5082908E0374}" dt="2026-04-06T15:51:21.837" v="11" actId="1076"/>
        <pc:sldMkLst>
          <pc:docMk/>
          <pc:sldMk cId="0" sldId="256"/>
        </pc:sldMkLst>
        <pc:spChg chg="mod">
          <ac:chgData name="Noviana Ghovin" userId="S::e1062194@u.nus.edu::3f7bf749-b877-4b99-a697-e95acf82d2db" providerId="AD" clId="Web-{52BD5881-8833-8A05-96C3-5082908E0374}" dt="2026-04-06T15:50:46.086" v="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Noviana Ghovin" userId="S::e1062194@u.nus.edu::3f7bf749-b877-4b99-a697-e95acf82d2db" providerId="AD" clId="Web-{52BD5881-8833-8A05-96C3-5082908E0374}" dt="2026-04-06T15:51:21.837" v="11" actId="1076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Noviana Ghovin" userId="S::e1062194@u.nus.edu::3f7bf749-b877-4b99-a697-e95acf82d2db" providerId="AD" clId="Web-{52BD5881-8833-8A05-96C3-5082908E0374}" dt="2026-04-06T15:52:17.994" v="29" actId="1076"/>
        <pc:sldMkLst>
          <pc:docMk/>
          <pc:sldMk cId="0" sldId="258"/>
        </pc:sldMkLst>
        <pc:spChg chg="mod">
          <ac:chgData name="Noviana Ghovin" userId="S::e1062194@u.nus.edu::3f7bf749-b877-4b99-a697-e95acf82d2db" providerId="AD" clId="Web-{52BD5881-8833-8A05-96C3-5082908E0374}" dt="2026-04-06T15:52:17.994" v="29" actId="1076"/>
          <ac:spMkLst>
            <pc:docMk/>
            <pc:sldMk cId="0" sldId="258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28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55A2-41C2-E7A9-E022-FC26249B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D366A-6D2D-1CE5-A167-4B0E08BF3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67D2D-E925-E215-4A3A-40483E67C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77BDB-5678-84E3-411D-96F233D86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61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a0173a716f09d7654602773d4c52a43471b93ae2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1"/>
          <p:cNvSpPr/>
          <p:nvPr/>
        </p:nvSpPr>
        <p:spPr>
          <a:xfrm>
            <a:off x="385763" y="833438"/>
            <a:ext cx="2095500" cy="390525"/>
          </a:xfrm>
          <a:custGeom>
            <a:avLst/>
            <a:gdLst/>
            <a:ahLst/>
            <a:cxnLst/>
            <a:rect l="l" t="t" r="r" b="b"/>
            <a:pathLst>
              <a:path w="2095500" h="390525">
                <a:moveTo>
                  <a:pt x="195263" y="0"/>
                </a:moveTo>
                <a:lnTo>
                  <a:pt x="1900238" y="0"/>
                </a:lnTo>
                <a:cubicBezTo>
                  <a:pt x="2008006" y="0"/>
                  <a:pt x="2095500" y="87494"/>
                  <a:pt x="2095500" y="195263"/>
                </a:cubicBezTo>
                <a:lnTo>
                  <a:pt x="2095500" y="195263"/>
                </a:lnTo>
                <a:cubicBezTo>
                  <a:pt x="2095500" y="303031"/>
                  <a:pt x="2008006" y="390525"/>
                  <a:pt x="19002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2"/>
          <p:cNvSpPr/>
          <p:nvPr/>
        </p:nvSpPr>
        <p:spPr>
          <a:xfrm>
            <a:off x="542925" y="938213"/>
            <a:ext cx="18483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TCX3212 Phase 2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85925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>
                <a:solidFill>
                  <a:srgbClr val="EFEFEF"/>
                </a:solidFill>
                <a:latin typeface="Liter"/>
              </a:rPr>
              <a:t>Rental Market</a:t>
            </a:r>
            <a:endParaRPr lang="en-US"/>
          </a:p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433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Predictive Analytics Study of Rental &amp; Vacancy Dynamics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Singapore’s </a:t>
            </a:r>
            <a:r>
              <a:rPr lang="en-US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Rental</a:t>
            </a: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Sector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4829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/>
          <p:nvPr/>
        </p:nvSpPr>
        <p:spPr>
          <a:xfrm>
            <a:off x="647700" y="479107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86508" y="4829175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5F5F7">
              <a:alpha val="3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1824633" y="48291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/>
          <p:nvPr/>
        </p:nvSpPr>
        <p:spPr>
          <a:xfrm>
            <a:off x="2109621" y="4736211"/>
            <a:ext cx="556755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FEFEF"/>
                </a:solidFill>
                <a:latin typeface="Liter"/>
                <a:ea typeface="Liter" pitchFamily="34" charset="-122"/>
                <a:cs typeface="Liter" pitchFamily="34" charset="-120"/>
              </a:rPr>
              <a:t>Low </a:t>
            </a:r>
            <a:r>
              <a:rPr lang="en-US" sz="1200" b="1" err="1">
                <a:solidFill>
                  <a:srgbClr val="EFEFEF"/>
                </a:solidFill>
                <a:latin typeface="Liter"/>
                <a:ea typeface="Liter" pitchFamily="34" charset="-122"/>
                <a:cs typeface="Liter" pitchFamily="34" charset="-120"/>
              </a:rPr>
              <a:t>Ruenn</a:t>
            </a:r>
            <a:r>
              <a:rPr lang="en-US" sz="1200" b="1">
                <a:solidFill>
                  <a:srgbClr val="EFEFEF"/>
                </a:solidFill>
                <a:latin typeface="Liter"/>
                <a:ea typeface="Liter" pitchFamily="34" charset="-122"/>
                <a:cs typeface="Liter" pitchFamily="34" charset="-120"/>
              </a:rPr>
              <a:t> Rong Rayna  (A0311396E) Noviana </a:t>
            </a:r>
            <a:r>
              <a:rPr lang="en-US" sz="1200" b="1" err="1">
                <a:solidFill>
                  <a:srgbClr val="EFEFEF"/>
                </a:solidFill>
                <a:latin typeface="Liter"/>
                <a:ea typeface="Liter" pitchFamily="34" charset="-122"/>
                <a:cs typeface="Liter" pitchFamily="34" charset="-120"/>
              </a:rPr>
              <a:t>Ghovin</a:t>
            </a:r>
            <a:r>
              <a:rPr lang="en-US" sz="1200" b="1">
                <a:solidFill>
                  <a:srgbClr val="EFEFEF"/>
                </a:solidFill>
                <a:latin typeface="Liter"/>
                <a:ea typeface="Liter" pitchFamily="34" charset="-122"/>
                <a:cs typeface="Liter" pitchFamily="34" charset="-120"/>
              </a:rPr>
              <a:t> (A0265428X)</a:t>
            </a:r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85763" y="5472113"/>
            <a:ext cx="2676525" cy="1000125"/>
          </a:xfrm>
          <a:custGeom>
            <a:avLst/>
            <a:gdLst/>
            <a:ahLst/>
            <a:cxnLst/>
            <a:rect l="l" t="t" r="r" b="b"/>
            <a:pathLst>
              <a:path w="2676525" h="1000125">
                <a:moveTo>
                  <a:pt x="152399" y="0"/>
                </a:moveTo>
                <a:lnTo>
                  <a:pt x="2524126" y="0"/>
                </a:lnTo>
                <a:cubicBezTo>
                  <a:pt x="2608294" y="0"/>
                  <a:pt x="2676525" y="68231"/>
                  <a:pt x="2676525" y="152399"/>
                </a:cubicBezTo>
                <a:lnTo>
                  <a:pt x="2676525" y="847726"/>
                </a:lnTo>
                <a:cubicBezTo>
                  <a:pt x="2676525" y="931894"/>
                  <a:pt x="2608294" y="1000125"/>
                  <a:pt x="2524126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5F5F7">
              <a:alpha val="10196"/>
            </a:srgbClr>
          </a:solidFill>
          <a:ln w="12700">
            <a:solidFill>
              <a:srgbClr val="F5F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581025" y="5667375"/>
            <a:ext cx="245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5,027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1025" y="608647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Listings Analyzed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00413" y="5472113"/>
            <a:ext cx="2676525" cy="1000125"/>
          </a:xfrm>
          <a:custGeom>
            <a:avLst/>
            <a:gdLst/>
            <a:ahLst/>
            <a:cxnLst/>
            <a:rect l="l" t="t" r="r" b="b"/>
            <a:pathLst>
              <a:path w="2676525" h="1000125">
                <a:moveTo>
                  <a:pt x="152399" y="0"/>
                </a:moveTo>
                <a:lnTo>
                  <a:pt x="2524126" y="0"/>
                </a:lnTo>
                <a:cubicBezTo>
                  <a:pt x="2608294" y="0"/>
                  <a:pt x="2676525" y="68231"/>
                  <a:pt x="2676525" y="152399"/>
                </a:cubicBezTo>
                <a:lnTo>
                  <a:pt x="2676525" y="847726"/>
                </a:lnTo>
                <a:cubicBezTo>
                  <a:pt x="2676525" y="931894"/>
                  <a:pt x="2608294" y="1000125"/>
                  <a:pt x="2524126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5F5F7">
              <a:alpha val="10196"/>
            </a:srgbClr>
          </a:solidFill>
          <a:ln w="12700">
            <a:solidFill>
              <a:srgbClr val="F5F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4"/>
          <p:cNvSpPr/>
          <p:nvPr/>
        </p:nvSpPr>
        <p:spPr>
          <a:xfrm>
            <a:off x="3495675" y="5667375"/>
            <a:ext cx="245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 mo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95675" y="608647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Period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5063" y="5472113"/>
            <a:ext cx="2676525" cy="1000125"/>
          </a:xfrm>
          <a:custGeom>
            <a:avLst/>
            <a:gdLst/>
            <a:ahLst/>
            <a:cxnLst/>
            <a:rect l="l" t="t" r="r" b="b"/>
            <a:pathLst>
              <a:path w="2676525" h="1000125">
                <a:moveTo>
                  <a:pt x="152399" y="0"/>
                </a:moveTo>
                <a:lnTo>
                  <a:pt x="2524126" y="0"/>
                </a:lnTo>
                <a:cubicBezTo>
                  <a:pt x="2608294" y="0"/>
                  <a:pt x="2676525" y="68231"/>
                  <a:pt x="2676525" y="152399"/>
                </a:cubicBezTo>
                <a:lnTo>
                  <a:pt x="2676525" y="847726"/>
                </a:lnTo>
                <a:cubicBezTo>
                  <a:pt x="2676525" y="931894"/>
                  <a:pt x="2608294" y="1000125"/>
                  <a:pt x="2524126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5F5F7">
              <a:alpha val="10196"/>
            </a:srgbClr>
          </a:solidFill>
          <a:ln w="12700">
            <a:solidFill>
              <a:srgbClr val="F5F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6410325" y="5667375"/>
            <a:ext cx="245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R²=0.813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10325" y="608647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Regression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129713" y="5472113"/>
            <a:ext cx="2676525" cy="1000125"/>
          </a:xfrm>
          <a:custGeom>
            <a:avLst/>
            <a:gdLst/>
            <a:ahLst/>
            <a:cxnLst/>
            <a:rect l="l" t="t" r="r" b="b"/>
            <a:pathLst>
              <a:path w="2676525" h="1000125">
                <a:moveTo>
                  <a:pt x="152399" y="0"/>
                </a:moveTo>
                <a:lnTo>
                  <a:pt x="2524126" y="0"/>
                </a:lnTo>
                <a:cubicBezTo>
                  <a:pt x="2608294" y="0"/>
                  <a:pt x="2676525" y="68231"/>
                  <a:pt x="2676525" y="152399"/>
                </a:cubicBezTo>
                <a:lnTo>
                  <a:pt x="2676525" y="847726"/>
                </a:lnTo>
                <a:cubicBezTo>
                  <a:pt x="2676525" y="931894"/>
                  <a:pt x="2608294" y="1000125"/>
                  <a:pt x="2524126" y="1000125"/>
                </a:cubicBezTo>
                <a:lnTo>
                  <a:pt x="152399" y="1000125"/>
                </a:lnTo>
                <a:cubicBezTo>
                  <a:pt x="68231" y="1000125"/>
                  <a:pt x="0" y="931894"/>
                  <a:pt x="0" y="8477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5F5F7">
              <a:alpha val="10196"/>
            </a:srgbClr>
          </a:solidFill>
          <a:ln w="12700">
            <a:solidFill>
              <a:srgbClr val="F5F5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9324975" y="5667375"/>
            <a:ext cx="245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AUC=0.812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324975" y="6086475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Classification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92987" y="459729"/>
            <a:ext cx="285032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9457" y="367783"/>
            <a:ext cx="5801774" cy="441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Context &amp;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919457"/>
            <a:ext cx="882679" cy="36778"/>
          </a:xfrm>
          <a:custGeom>
            <a:avLst/>
            <a:gdLst/>
            <a:ahLst/>
            <a:cxnLst/>
            <a:rect l="l" t="t" r="r" b="b"/>
            <a:pathLst>
              <a:path w="882679" h="36778">
                <a:moveTo>
                  <a:pt x="18389" y="0"/>
                </a:moveTo>
                <a:lnTo>
                  <a:pt x="864290" y="0"/>
                </a:lnTo>
                <a:cubicBezTo>
                  <a:pt x="874446" y="0"/>
                  <a:pt x="882679" y="8233"/>
                  <a:pt x="882679" y="18389"/>
                </a:cubicBezTo>
                <a:lnTo>
                  <a:pt x="882679" y="18389"/>
                </a:lnTo>
                <a:cubicBezTo>
                  <a:pt x="882679" y="28545"/>
                  <a:pt x="874446" y="36778"/>
                  <a:pt x="864290" y="36778"/>
                </a:cubicBezTo>
                <a:lnTo>
                  <a:pt x="18389" y="36778"/>
                </a:lnTo>
                <a:cubicBezTo>
                  <a:pt x="8240" y="36778"/>
                  <a:pt x="0" y="28538"/>
                  <a:pt x="0" y="18389"/>
                </a:cubicBezTo>
                <a:lnTo>
                  <a:pt x="0" y="18389"/>
                </a:lnTo>
                <a:cubicBezTo>
                  <a:pt x="0" y="8240"/>
                  <a:pt x="8240" y="0"/>
                  <a:pt x="18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72380" y="1181502"/>
            <a:ext cx="5608688" cy="1645828"/>
          </a:xfrm>
          <a:custGeom>
            <a:avLst/>
            <a:gdLst/>
            <a:ahLst/>
            <a:cxnLst/>
            <a:rect l="l" t="t" r="r" b="b"/>
            <a:pathLst>
              <a:path w="5608688" h="1645828">
                <a:moveTo>
                  <a:pt x="147121" y="0"/>
                </a:moveTo>
                <a:lnTo>
                  <a:pt x="5461567" y="0"/>
                </a:lnTo>
                <a:cubicBezTo>
                  <a:pt x="5542765" y="0"/>
                  <a:pt x="5608688" y="65923"/>
                  <a:pt x="5608688" y="147121"/>
                </a:cubicBezTo>
                <a:lnTo>
                  <a:pt x="5608688" y="1498707"/>
                </a:lnTo>
                <a:cubicBezTo>
                  <a:pt x="5608688" y="1579906"/>
                  <a:pt x="5542765" y="1645828"/>
                  <a:pt x="5461567" y="1645828"/>
                </a:cubicBezTo>
                <a:lnTo>
                  <a:pt x="147121" y="1645828"/>
                </a:lnTo>
                <a:cubicBezTo>
                  <a:pt x="65923" y="1645828"/>
                  <a:pt x="0" y="1579906"/>
                  <a:pt x="0" y="1498707"/>
                </a:cubicBezTo>
                <a:lnTo>
                  <a:pt x="0" y="147121"/>
                </a:lnTo>
                <a:cubicBezTo>
                  <a:pt x="0" y="65923"/>
                  <a:pt x="65923" y="0"/>
                  <a:pt x="14712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584" dist="91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597647" y="1406769"/>
            <a:ext cx="514896" cy="514896"/>
          </a:xfrm>
          <a:custGeom>
            <a:avLst/>
            <a:gdLst/>
            <a:ahLst/>
            <a:cxnLst/>
            <a:rect l="l" t="t" r="r" b="b"/>
            <a:pathLst>
              <a:path w="514896" h="514896">
                <a:moveTo>
                  <a:pt x="110337" y="0"/>
                </a:moveTo>
                <a:lnTo>
                  <a:pt x="404559" y="0"/>
                </a:lnTo>
                <a:cubicBezTo>
                  <a:pt x="465456" y="0"/>
                  <a:pt x="514896" y="49440"/>
                  <a:pt x="514896" y="110337"/>
                </a:cubicBezTo>
                <a:lnTo>
                  <a:pt x="514896" y="404559"/>
                </a:lnTo>
                <a:cubicBezTo>
                  <a:pt x="514896" y="465456"/>
                  <a:pt x="465456" y="514896"/>
                  <a:pt x="404559" y="514896"/>
                </a:cubicBezTo>
                <a:lnTo>
                  <a:pt x="110337" y="514896"/>
                </a:lnTo>
                <a:cubicBezTo>
                  <a:pt x="49440" y="514896"/>
                  <a:pt x="0" y="465456"/>
                  <a:pt x="0" y="404559"/>
                </a:cubicBezTo>
                <a:lnTo>
                  <a:pt x="0" y="110337"/>
                </a:lnTo>
                <a:cubicBezTo>
                  <a:pt x="0" y="49440"/>
                  <a:pt x="49440" y="0"/>
                  <a:pt x="110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744760" y="155388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10335" y="220670"/>
                </a:moveTo>
                <a:cubicBezTo>
                  <a:pt x="171230" y="220670"/>
                  <a:pt x="220670" y="171230"/>
                  <a:pt x="220670" y="110335"/>
                </a:cubicBezTo>
                <a:cubicBezTo>
                  <a:pt x="220670" y="49439"/>
                  <a:pt x="171230" y="0"/>
                  <a:pt x="110335" y="0"/>
                </a:cubicBezTo>
                <a:cubicBezTo>
                  <a:pt x="49439" y="0"/>
                  <a:pt x="0" y="49439"/>
                  <a:pt x="0" y="110335"/>
                </a:cubicBezTo>
                <a:cubicBezTo>
                  <a:pt x="0" y="171230"/>
                  <a:pt x="49439" y="220670"/>
                  <a:pt x="110335" y="220670"/>
                </a:cubicBezTo>
                <a:close/>
                <a:moveTo>
                  <a:pt x="110335" y="75855"/>
                </a:moveTo>
                <a:cubicBezTo>
                  <a:pt x="102706" y="75855"/>
                  <a:pt x="96543" y="82018"/>
                  <a:pt x="96543" y="89647"/>
                </a:cubicBezTo>
                <a:cubicBezTo>
                  <a:pt x="96543" y="95379"/>
                  <a:pt x="91931" y="99991"/>
                  <a:pt x="86199" y="99991"/>
                </a:cubicBezTo>
                <a:cubicBezTo>
                  <a:pt x="80467" y="99991"/>
                  <a:pt x="75855" y="95379"/>
                  <a:pt x="75855" y="89647"/>
                </a:cubicBezTo>
                <a:cubicBezTo>
                  <a:pt x="75855" y="70597"/>
                  <a:pt x="91285" y="55167"/>
                  <a:pt x="110335" y="55167"/>
                </a:cubicBezTo>
                <a:cubicBezTo>
                  <a:pt x="129385" y="55167"/>
                  <a:pt x="144814" y="70597"/>
                  <a:pt x="144814" y="89647"/>
                </a:cubicBezTo>
                <a:cubicBezTo>
                  <a:pt x="144814" y="109990"/>
                  <a:pt x="129299" y="118610"/>
                  <a:pt x="120679" y="121756"/>
                </a:cubicBezTo>
                <a:lnTo>
                  <a:pt x="120679" y="123394"/>
                </a:lnTo>
                <a:cubicBezTo>
                  <a:pt x="120679" y="129126"/>
                  <a:pt x="116067" y="133738"/>
                  <a:pt x="110335" y="133738"/>
                </a:cubicBezTo>
                <a:cubicBezTo>
                  <a:pt x="104603" y="133738"/>
                  <a:pt x="99991" y="129126"/>
                  <a:pt x="99991" y="123394"/>
                </a:cubicBezTo>
                <a:lnTo>
                  <a:pt x="99991" y="119903"/>
                </a:lnTo>
                <a:cubicBezTo>
                  <a:pt x="99991" y="111068"/>
                  <a:pt x="106370" y="104732"/>
                  <a:pt x="112964" y="102577"/>
                </a:cubicBezTo>
                <a:cubicBezTo>
                  <a:pt x="115722" y="101672"/>
                  <a:pt x="118653" y="100206"/>
                  <a:pt x="120808" y="98138"/>
                </a:cubicBezTo>
                <a:cubicBezTo>
                  <a:pt x="122661" y="96327"/>
                  <a:pt x="124127" y="93828"/>
                  <a:pt x="124127" y="89690"/>
                </a:cubicBezTo>
                <a:cubicBezTo>
                  <a:pt x="124127" y="82062"/>
                  <a:pt x="117963" y="75898"/>
                  <a:pt x="110335" y="75898"/>
                </a:cubicBezTo>
                <a:close/>
                <a:moveTo>
                  <a:pt x="96543" y="158606"/>
                </a:moveTo>
                <a:cubicBezTo>
                  <a:pt x="96543" y="150994"/>
                  <a:pt x="102723" y="144814"/>
                  <a:pt x="110335" y="144814"/>
                </a:cubicBezTo>
                <a:cubicBezTo>
                  <a:pt x="117947" y="144814"/>
                  <a:pt x="124127" y="150994"/>
                  <a:pt x="124127" y="158606"/>
                </a:cubicBezTo>
                <a:cubicBezTo>
                  <a:pt x="124127" y="166218"/>
                  <a:pt x="117947" y="172398"/>
                  <a:pt x="110335" y="172398"/>
                </a:cubicBezTo>
                <a:cubicBezTo>
                  <a:pt x="102723" y="172398"/>
                  <a:pt x="96543" y="166218"/>
                  <a:pt x="96543" y="1586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1259656" y="1406769"/>
            <a:ext cx="4588090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9656" y="1737774"/>
            <a:ext cx="4569701" cy="717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flexible rental options expand rapidly in Singapore, can predictive analytics deliver actionable insights for understanding vacancy and rental dynamics?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2380" y="3020416"/>
            <a:ext cx="5608688" cy="2822733"/>
          </a:xfrm>
          <a:custGeom>
            <a:avLst/>
            <a:gdLst/>
            <a:ahLst/>
            <a:cxnLst/>
            <a:rect l="l" t="t" r="r" b="b"/>
            <a:pathLst>
              <a:path w="5608688" h="2822733">
                <a:moveTo>
                  <a:pt x="147121" y="0"/>
                </a:moveTo>
                <a:lnTo>
                  <a:pt x="5461567" y="0"/>
                </a:lnTo>
                <a:cubicBezTo>
                  <a:pt x="5542820" y="0"/>
                  <a:pt x="5608688" y="65868"/>
                  <a:pt x="5608688" y="147121"/>
                </a:cubicBezTo>
                <a:lnTo>
                  <a:pt x="5608688" y="2675612"/>
                </a:lnTo>
                <a:cubicBezTo>
                  <a:pt x="5608688" y="2756865"/>
                  <a:pt x="5542820" y="2822733"/>
                  <a:pt x="5461567" y="2822733"/>
                </a:cubicBezTo>
                <a:lnTo>
                  <a:pt x="147121" y="2822733"/>
                </a:lnTo>
                <a:cubicBezTo>
                  <a:pt x="65868" y="2822733"/>
                  <a:pt x="0" y="2756865"/>
                  <a:pt x="0" y="2675612"/>
                </a:cubicBezTo>
                <a:lnTo>
                  <a:pt x="0" y="147121"/>
                </a:lnTo>
                <a:cubicBezTo>
                  <a:pt x="0" y="65923"/>
                  <a:pt x="65923" y="0"/>
                  <a:pt x="14712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584" dist="91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620633" y="3282462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99775" y="3089"/>
                </a:moveTo>
                <a:cubicBezTo>
                  <a:pt x="95358" y="-1006"/>
                  <a:pt x="88534" y="-1006"/>
                  <a:pt x="84152" y="3089"/>
                </a:cubicBezTo>
                <a:lnTo>
                  <a:pt x="3699" y="77795"/>
                </a:lnTo>
                <a:cubicBezTo>
                  <a:pt x="251" y="81027"/>
                  <a:pt x="-898" y="86020"/>
                  <a:pt x="826" y="90401"/>
                </a:cubicBezTo>
                <a:cubicBezTo>
                  <a:pt x="2550" y="94783"/>
                  <a:pt x="6752" y="97692"/>
                  <a:pt x="11493" y="97692"/>
                </a:cubicBezTo>
                <a:lnTo>
                  <a:pt x="17240" y="97692"/>
                </a:lnTo>
                <a:lnTo>
                  <a:pt x="17240" y="160905"/>
                </a:lnTo>
                <a:cubicBezTo>
                  <a:pt x="17240" y="173583"/>
                  <a:pt x="27548" y="183891"/>
                  <a:pt x="40226" y="183891"/>
                </a:cubicBezTo>
                <a:lnTo>
                  <a:pt x="143665" y="183891"/>
                </a:lnTo>
                <a:cubicBezTo>
                  <a:pt x="156344" y="183891"/>
                  <a:pt x="166652" y="173583"/>
                  <a:pt x="166652" y="160905"/>
                </a:cubicBezTo>
                <a:lnTo>
                  <a:pt x="166652" y="97692"/>
                </a:lnTo>
                <a:lnTo>
                  <a:pt x="172398" y="97692"/>
                </a:lnTo>
                <a:cubicBezTo>
                  <a:pt x="177139" y="97692"/>
                  <a:pt x="181377" y="94783"/>
                  <a:pt x="183101" y="90401"/>
                </a:cubicBezTo>
                <a:cubicBezTo>
                  <a:pt x="184825" y="86020"/>
                  <a:pt x="183676" y="80991"/>
                  <a:pt x="180228" y="77795"/>
                </a:cubicBezTo>
                <a:lnTo>
                  <a:pt x="99775" y="3089"/>
                </a:lnTo>
                <a:close/>
                <a:moveTo>
                  <a:pt x="86199" y="114932"/>
                </a:moveTo>
                <a:lnTo>
                  <a:pt x="97692" y="114932"/>
                </a:lnTo>
                <a:cubicBezTo>
                  <a:pt x="107210" y="114932"/>
                  <a:pt x="114932" y="122654"/>
                  <a:pt x="114932" y="132172"/>
                </a:cubicBezTo>
                <a:lnTo>
                  <a:pt x="114932" y="166652"/>
                </a:lnTo>
                <a:lnTo>
                  <a:pt x="68959" y="166652"/>
                </a:lnTo>
                <a:lnTo>
                  <a:pt x="68959" y="132172"/>
                </a:lnTo>
                <a:cubicBezTo>
                  <a:pt x="68959" y="122654"/>
                  <a:pt x="76681" y="114932"/>
                  <a:pt x="86199" y="114932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827511" y="3245683"/>
            <a:ext cx="5020235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Rental Sector?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7647" y="3723801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81538" y="3650244"/>
            <a:ext cx="412836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property prices driving demand for affordable alternatives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7647" y="4054805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81538" y="3981249"/>
            <a:ext cx="3999638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Young professionals, expats &amp; students key tenant segments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7647" y="4385810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781538" y="4312253"/>
            <a:ext cx="3760579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Rents shaped by economic cycles and government policy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7647" y="4716814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781538" y="4643258"/>
            <a:ext cx="3346824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quantitative predictive models exist in literature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7340" y="1176905"/>
            <a:ext cx="5617882" cy="2243475"/>
          </a:xfrm>
          <a:custGeom>
            <a:avLst/>
            <a:gdLst/>
            <a:ahLst/>
            <a:cxnLst/>
            <a:rect l="l" t="t" r="r" b="b"/>
            <a:pathLst>
              <a:path w="5617882" h="2243475">
                <a:moveTo>
                  <a:pt x="147105" y="0"/>
                </a:moveTo>
                <a:lnTo>
                  <a:pt x="5470778" y="0"/>
                </a:lnTo>
                <a:cubicBezTo>
                  <a:pt x="5552021" y="0"/>
                  <a:pt x="5617882" y="65861"/>
                  <a:pt x="5617882" y="147105"/>
                </a:cubicBezTo>
                <a:lnTo>
                  <a:pt x="5617882" y="2096370"/>
                </a:lnTo>
                <a:cubicBezTo>
                  <a:pt x="5617882" y="2177614"/>
                  <a:pt x="5552021" y="2243475"/>
                  <a:pt x="5470778" y="2243475"/>
                </a:cubicBezTo>
                <a:lnTo>
                  <a:pt x="147105" y="2243475"/>
                </a:lnTo>
                <a:cubicBezTo>
                  <a:pt x="65861" y="2243475"/>
                  <a:pt x="0" y="2177614"/>
                  <a:pt x="0" y="2096370"/>
                </a:cubicBezTo>
                <a:lnTo>
                  <a:pt x="0" y="147105"/>
                </a:lnTo>
                <a:cubicBezTo>
                  <a:pt x="0" y="65861"/>
                  <a:pt x="65861" y="0"/>
                  <a:pt x="1471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6428010" y="1397575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6556734" y="1526299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22986" y="22986"/>
                </a:moveTo>
                <a:cubicBezTo>
                  <a:pt x="22986" y="16629"/>
                  <a:pt x="17850" y="11493"/>
                  <a:pt x="11493" y="11493"/>
                </a:cubicBezTo>
                <a:cubicBezTo>
                  <a:pt x="5136" y="11493"/>
                  <a:pt x="0" y="16629"/>
                  <a:pt x="0" y="22986"/>
                </a:cubicBezTo>
                <a:lnTo>
                  <a:pt x="0" y="143665"/>
                </a:lnTo>
                <a:cubicBezTo>
                  <a:pt x="0" y="159540"/>
                  <a:pt x="12858" y="172398"/>
                  <a:pt x="28733" y="172398"/>
                </a:cubicBezTo>
                <a:lnTo>
                  <a:pt x="172398" y="172398"/>
                </a:lnTo>
                <a:cubicBezTo>
                  <a:pt x="178755" y="172398"/>
                  <a:pt x="183891" y="167262"/>
                  <a:pt x="183891" y="160905"/>
                </a:cubicBezTo>
                <a:cubicBezTo>
                  <a:pt x="183891" y="154548"/>
                  <a:pt x="178755" y="149412"/>
                  <a:pt x="172398" y="149412"/>
                </a:cubicBezTo>
                <a:lnTo>
                  <a:pt x="28733" y="149412"/>
                </a:lnTo>
                <a:cubicBezTo>
                  <a:pt x="25572" y="149412"/>
                  <a:pt x="22986" y="146826"/>
                  <a:pt x="22986" y="143665"/>
                </a:cubicBezTo>
                <a:lnTo>
                  <a:pt x="22986" y="22986"/>
                </a:lnTo>
                <a:close/>
                <a:moveTo>
                  <a:pt x="169022" y="54090"/>
                </a:moveTo>
                <a:cubicBezTo>
                  <a:pt x="173512" y="49600"/>
                  <a:pt x="173512" y="42309"/>
                  <a:pt x="169022" y="37820"/>
                </a:cubicBezTo>
                <a:cubicBezTo>
                  <a:pt x="164533" y="33330"/>
                  <a:pt x="157242" y="33330"/>
                  <a:pt x="152752" y="37820"/>
                </a:cubicBezTo>
                <a:lnTo>
                  <a:pt x="114932" y="75676"/>
                </a:lnTo>
                <a:lnTo>
                  <a:pt x="94316" y="55096"/>
                </a:lnTo>
                <a:cubicBezTo>
                  <a:pt x="89827" y="50606"/>
                  <a:pt x="82536" y="50606"/>
                  <a:pt x="78046" y="55096"/>
                </a:cubicBezTo>
                <a:lnTo>
                  <a:pt x="43566" y="89575"/>
                </a:lnTo>
                <a:cubicBezTo>
                  <a:pt x="39077" y="94065"/>
                  <a:pt x="39077" y="101356"/>
                  <a:pt x="43566" y="105845"/>
                </a:cubicBezTo>
                <a:cubicBezTo>
                  <a:pt x="48056" y="110335"/>
                  <a:pt x="55347" y="110335"/>
                  <a:pt x="59837" y="105845"/>
                </a:cubicBezTo>
                <a:lnTo>
                  <a:pt x="86199" y="79483"/>
                </a:lnTo>
                <a:lnTo>
                  <a:pt x="106815" y="100099"/>
                </a:lnTo>
                <a:cubicBezTo>
                  <a:pt x="111305" y="104588"/>
                  <a:pt x="118596" y="104588"/>
                  <a:pt x="123085" y="100099"/>
                </a:cubicBezTo>
                <a:lnTo>
                  <a:pt x="169058" y="5412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979684" y="1471131"/>
            <a:ext cx="2307837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Price Prediction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8010" y="1986027"/>
            <a:ext cx="5176543" cy="882679"/>
          </a:xfrm>
          <a:custGeom>
            <a:avLst/>
            <a:gdLst/>
            <a:ahLst/>
            <a:cxnLst/>
            <a:rect l="l" t="t" r="r" b="b"/>
            <a:pathLst>
              <a:path w="5176543" h="882679">
                <a:moveTo>
                  <a:pt x="110335" y="0"/>
                </a:moveTo>
                <a:lnTo>
                  <a:pt x="5066208" y="0"/>
                </a:lnTo>
                <a:cubicBezTo>
                  <a:pt x="5127144" y="0"/>
                  <a:pt x="5176543" y="49399"/>
                  <a:pt x="5176543" y="110335"/>
                </a:cubicBezTo>
                <a:lnTo>
                  <a:pt x="5176543" y="772344"/>
                </a:lnTo>
                <a:cubicBezTo>
                  <a:pt x="5176543" y="833280"/>
                  <a:pt x="5127144" y="882679"/>
                  <a:pt x="5066208" y="882679"/>
                </a:cubicBezTo>
                <a:lnTo>
                  <a:pt x="110335" y="882679"/>
                </a:lnTo>
                <a:cubicBezTo>
                  <a:pt x="49399" y="882679"/>
                  <a:pt x="0" y="833280"/>
                  <a:pt x="0" y="772344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6575123" y="2133140"/>
            <a:ext cx="5047819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&gt; 0.70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5123" y="2537701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Performance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399" y="3043403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128724"/>
                </a:moveTo>
                <a:cubicBezTo>
                  <a:pt x="99884" y="128724"/>
                  <a:pt x="128724" y="99884"/>
                  <a:pt x="128724" y="64362"/>
                </a:cubicBezTo>
                <a:cubicBezTo>
                  <a:pt x="128724" y="28840"/>
                  <a:pt x="99884" y="0"/>
                  <a:pt x="64362" y="0"/>
                </a:cubicBezTo>
                <a:cubicBezTo>
                  <a:pt x="28840" y="0"/>
                  <a:pt x="0" y="28840"/>
                  <a:pt x="0" y="64362"/>
                </a:cubicBezTo>
                <a:cubicBezTo>
                  <a:pt x="0" y="99884"/>
                  <a:pt x="28840" y="128724"/>
                  <a:pt x="64362" y="128724"/>
                </a:cubicBezTo>
                <a:close/>
                <a:moveTo>
                  <a:pt x="85581" y="53476"/>
                </a:moveTo>
                <a:lnTo>
                  <a:pt x="65468" y="85657"/>
                </a:lnTo>
                <a:cubicBezTo>
                  <a:pt x="64412" y="87341"/>
                  <a:pt x="62602" y="88397"/>
                  <a:pt x="60616" y="88498"/>
                </a:cubicBezTo>
                <a:cubicBezTo>
                  <a:pt x="58630" y="88598"/>
                  <a:pt x="56719" y="87693"/>
                  <a:pt x="55537" y="86084"/>
                </a:cubicBezTo>
                <a:lnTo>
                  <a:pt x="43469" y="69994"/>
                </a:lnTo>
                <a:cubicBezTo>
                  <a:pt x="41458" y="67329"/>
                  <a:pt x="42011" y="63557"/>
                  <a:pt x="44676" y="61546"/>
                </a:cubicBezTo>
                <a:cubicBezTo>
                  <a:pt x="47341" y="59535"/>
                  <a:pt x="51112" y="60088"/>
                  <a:pt x="53124" y="62753"/>
                </a:cubicBezTo>
                <a:lnTo>
                  <a:pt x="59912" y="71804"/>
                </a:lnTo>
                <a:lnTo>
                  <a:pt x="75349" y="47090"/>
                </a:lnTo>
                <a:cubicBezTo>
                  <a:pt x="77109" y="44274"/>
                  <a:pt x="80830" y="43394"/>
                  <a:pt x="83671" y="45179"/>
                </a:cubicBezTo>
                <a:cubicBezTo>
                  <a:pt x="86512" y="46964"/>
                  <a:pt x="87366" y="50660"/>
                  <a:pt x="85581" y="53501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6662472" y="3015819"/>
            <a:ext cx="141596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Metrics: RMSE, MAE, R²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7340" y="3604271"/>
            <a:ext cx="5617882" cy="2243475"/>
          </a:xfrm>
          <a:custGeom>
            <a:avLst/>
            <a:gdLst/>
            <a:ahLst/>
            <a:cxnLst/>
            <a:rect l="l" t="t" r="r" b="b"/>
            <a:pathLst>
              <a:path w="5617882" h="2243475">
                <a:moveTo>
                  <a:pt x="147105" y="0"/>
                </a:moveTo>
                <a:lnTo>
                  <a:pt x="5470778" y="0"/>
                </a:lnTo>
                <a:cubicBezTo>
                  <a:pt x="5552021" y="0"/>
                  <a:pt x="5617882" y="65861"/>
                  <a:pt x="5617882" y="147105"/>
                </a:cubicBezTo>
                <a:lnTo>
                  <a:pt x="5617882" y="2096370"/>
                </a:lnTo>
                <a:cubicBezTo>
                  <a:pt x="5617882" y="2177614"/>
                  <a:pt x="5552021" y="2243475"/>
                  <a:pt x="5470778" y="2243475"/>
                </a:cubicBezTo>
                <a:lnTo>
                  <a:pt x="147105" y="2243475"/>
                </a:lnTo>
                <a:cubicBezTo>
                  <a:pt x="65861" y="2243475"/>
                  <a:pt x="0" y="2177614"/>
                  <a:pt x="0" y="2096370"/>
                </a:cubicBezTo>
                <a:lnTo>
                  <a:pt x="0" y="147105"/>
                </a:lnTo>
                <a:cubicBezTo>
                  <a:pt x="0" y="65861"/>
                  <a:pt x="65861" y="0"/>
                  <a:pt x="1471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6428010" y="382494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6568227" y="3953665"/>
            <a:ext cx="160905" cy="183891"/>
          </a:xfrm>
          <a:custGeom>
            <a:avLst/>
            <a:gdLst/>
            <a:ahLst/>
            <a:cxnLst/>
            <a:rect l="l" t="t" r="r" b="b"/>
            <a:pathLst>
              <a:path w="160905" h="183891">
                <a:moveTo>
                  <a:pt x="103439" y="22986"/>
                </a:moveTo>
                <a:lnTo>
                  <a:pt x="126425" y="22986"/>
                </a:lnTo>
                <a:lnTo>
                  <a:pt x="126425" y="172398"/>
                </a:lnTo>
                <a:cubicBezTo>
                  <a:pt x="126425" y="178755"/>
                  <a:pt x="131561" y="183891"/>
                  <a:pt x="137919" y="183891"/>
                </a:cubicBezTo>
                <a:lnTo>
                  <a:pt x="149412" y="183891"/>
                </a:lnTo>
                <a:cubicBezTo>
                  <a:pt x="155769" y="183891"/>
                  <a:pt x="160905" y="178755"/>
                  <a:pt x="160905" y="172398"/>
                </a:cubicBezTo>
                <a:cubicBezTo>
                  <a:pt x="160905" y="166041"/>
                  <a:pt x="155769" y="160905"/>
                  <a:pt x="149412" y="160905"/>
                </a:cubicBezTo>
                <a:lnTo>
                  <a:pt x="149412" y="22986"/>
                </a:lnTo>
                <a:cubicBezTo>
                  <a:pt x="149412" y="10308"/>
                  <a:pt x="139104" y="0"/>
                  <a:pt x="126425" y="0"/>
                </a:cubicBezTo>
                <a:lnTo>
                  <a:pt x="91946" y="0"/>
                </a:lnTo>
                <a:lnTo>
                  <a:pt x="91946" y="0"/>
                </a:lnTo>
                <a:lnTo>
                  <a:pt x="34480" y="0"/>
                </a:lnTo>
                <a:cubicBezTo>
                  <a:pt x="21801" y="0"/>
                  <a:pt x="11493" y="10308"/>
                  <a:pt x="11493" y="22986"/>
                </a:cubicBezTo>
                <a:lnTo>
                  <a:pt x="11493" y="160905"/>
                </a:lnTo>
                <a:cubicBezTo>
                  <a:pt x="5136" y="160905"/>
                  <a:pt x="0" y="166041"/>
                  <a:pt x="0" y="172398"/>
                </a:cubicBezTo>
                <a:cubicBezTo>
                  <a:pt x="0" y="178755"/>
                  <a:pt x="5136" y="183891"/>
                  <a:pt x="11493" y="183891"/>
                </a:cubicBezTo>
                <a:lnTo>
                  <a:pt x="91946" y="183891"/>
                </a:lnTo>
                <a:cubicBezTo>
                  <a:pt x="98303" y="183891"/>
                  <a:pt x="103439" y="178755"/>
                  <a:pt x="103439" y="172398"/>
                </a:cubicBezTo>
                <a:lnTo>
                  <a:pt x="103439" y="22986"/>
                </a:lnTo>
                <a:close/>
                <a:moveTo>
                  <a:pt x="57466" y="91946"/>
                </a:moveTo>
                <a:cubicBezTo>
                  <a:pt x="57466" y="85602"/>
                  <a:pt x="62616" y="80452"/>
                  <a:pt x="68959" y="80452"/>
                </a:cubicBezTo>
                <a:cubicBezTo>
                  <a:pt x="75303" y="80452"/>
                  <a:pt x="80452" y="85602"/>
                  <a:pt x="80452" y="91946"/>
                </a:cubicBezTo>
                <a:cubicBezTo>
                  <a:pt x="80452" y="98289"/>
                  <a:pt x="75303" y="103439"/>
                  <a:pt x="68959" y="103439"/>
                </a:cubicBezTo>
                <a:cubicBezTo>
                  <a:pt x="62616" y="103439"/>
                  <a:pt x="57466" y="98289"/>
                  <a:pt x="57466" y="919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6979684" y="3898498"/>
            <a:ext cx="1995222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Vacancy Prediction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8010" y="4413394"/>
            <a:ext cx="5176543" cy="882679"/>
          </a:xfrm>
          <a:custGeom>
            <a:avLst/>
            <a:gdLst/>
            <a:ahLst/>
            <a:cxnLst/>
            <a:rect l="l" t="t" r="r" b="b"/>
            <a:pathLst>
              <a:path w="5176543" h="882679">
                <a:moveTo>
                  <a:pt x="110335" y="0"/>
                </a:moveTo>
                <a:lnTo>
                  <a:pt x="5066208" y="0"/>
                </a:lnTo>
                <a:cubicBezTo>
                  <a:pt x="5127144" y="0"/>
                  <a:pt x="5176543" y="49399"/>
                  <a:pt x="5176543" y="110335"/>
                </a:cubicBezTo>
                <a:lnTo>
                  <a:pt x="5176543" y="772344"/>
                </a:lnTo>
                <a:cubicBezTo>
                  <a:pt x="5176543" y="833280"/>
                  <a:pt x="5127144" y="882679"/>
                  <a:pt x="5066208" y="882679"/>
                </a:cubicBezTo>
                <a:lnTo>
                  <a:pt x="110335" y="882679"/>
                </a:lnTo>
                <a:cubicBezTo>
                  <a:pt x="49399" y="882679"/>
                  <a:pt x="0" y="833280"/>
                  <a:pt x="0" y="772344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6575123" y="4560507"/>
            <a:ext cx="5047819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 &gt; 0.70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75123" y="4965068"/>
            <a:ext cx="4946679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Performance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6399" y="5470769"/>
            <a:ext cx="128724" cy="128724"/>
          </a:xfrm>
          <a:custGeom>
            <a:avLst/>
            <a:gdLst/>
            <a:ahLst/>
            <a:cxnLst/>
            <a:rect l="l" t="t" r="r" b="b"/>
            <a:pathLst>
              <a:path w="128724" h="128724">
                <a:moveTo>
                  <a:pt x="64362" y="128724"/>
                </a:moveTo>
                <a:cubicBezTo>
                  <a:pt x="99884" y="128724"/>
                  <a:pt x="128724" y="99884"/>
                  <a:pt x="128724" y="64362"/>
                </a:cubicBezTo>
                <a:cubicBezTo>
                  <a:pt x="128724" y="28840"/>
                  <a:pt x="99884" y="0"/>
                  <a:pt x="64362" y="0"/>
                </a:cubicBezTo>
                <a:cubicBezTo>
                  <a:pt x="28840" y="0"/>
                  <a:pt x="0" y="28840"/>
                  <a:pt x="0" y="64362"/>
                </a:cubicBezTo>
                <a:cubicBezTo>
                  <a:pt x="0" y="99884"/>
                  <a:pt x="28840" y="128724"/>
                  <a:pt x="64362" y="128724"/>
                </a:cubicBezTo>
                <a:close/>
                <a:moveTo>
                  <a:pt x="85581" y="53476"/>
                </a:moveTo>
                <a:lnTo>
                  <a:pt x="65468" y="85657"/>
                </a:lnTo>
                <a:cubicBezTo>
                  <a:pt x="64412" y="87341"/>
                  <a:pt x="62602" y="88397"/>
                  <a:pt x="60616" y="88498"/>
                </a:cubicBezTo>
                <a:cubicBezTo>
                  <a:pt x="58630" y="88598"/>
                  <a:pt x="56719" y="87693"/>
                  <a:pt x="55537" y="86084"/>
                </a:cubicBezTo>
                <a:lnTo>
                  <a:pt x="43469" y="69994"/>
                </a:lnTo>
                <a:cubicBezTo>
                  <a:pt x="41458" y="67329"/>
                  <a:pt x="42011" y="63557"/>
                  <a:pt x="44676" y="61546"/>
                </a:cubicBezTo>
                <a:cubicBezTo>
                  <a:pt x="47341" y="59535"/>
                  <a:pt x="51112" y="60088"/>
                  <a:pt x="53124" y="62753"/>
                </a:cubicBezTo>
                <a:lnTo>
                  <a:pt x="59912" y="71804"/>
                </a:lnTo>
                <a:lnTo>
                  <a:pt x="75349" y="47090"/>
                </a:lnTo>
                <a:cubicBezTo>
                  <a:pt x="77109" y="44274"/>
                  <a:pt x="80830" y="43394"/>
                  <a:pt x="83671" y="45179"/>
                </a:cubicBezTo>
                <a:cubicBezTo>
                  <a:pt x="86512" y="46964"/>
                  <a:pt x="87366" y="50660"/>
                  <a:pt x="85581" y="53501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6662472" y="5443186"/>
            <a:ext cx="1415964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Metrics: AUC, Accuracy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2380" y="6036235"/>
            <a:ext cx="11447240" cy="818317"/>
          </a:xfrm>
          <a:custGeom>
            <a:avLst/>
            <a:gdLst/>
            <a:ahLst/>
            <a:cxnLst/>
            <a:rect l="l" t="t" r="r" b="b"/>
            <a:pathLst>
              <a:path w="11447240" h="818317">
                <a:moveTo>
                  <a:pt x="147117" y="0"/>
                </a:moveTo>
                <a:lnTo>
                  <a:pt x="11300123" y="0"/>
                </a:lnTo>
                <a:cubicBezTo>
                  <a:pt x="11381373" y="0"/>
                  <a:pt x="11447240" y="65867"/>
                  <a:pt x="11447240" y="147117"/>
                </a:cubicBezTo>
                <a:lnTo>
                  <a:pt x="11447240" y="671200"/>
                </a:lnTo>
                <a:cubicBezTo>
                  <a:pt x="11447240" y="752450"/>
                  <a:pt x="11381373" y="818317"/>
                  <a:pt x="11300123" y="818317"/>
                </a:cubicBezTo>
                <a:lnTo>
                  <a:pt x="147117" y="818317"/>
                </a:lnTo>
                <a:cubicBezTo>
                  <a:pt x="65921" y="818317"/>
                  <a:pt x="0" y="752396"/>
                  <a:pt x="0" y="671200"/>
                </a:cubicBezTo>
                <a:lnTo>
                  <a:pt x="0" y="147117"/>
                </a:lnTo>
                <a:cubicBezTo>
                  <a:pt x="0" y="65921"/>
                  <a:pt x="65921" y="0"/>
                  <a:pt x="147117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0" scaled="1"/>
          </a:gra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524090" y="6224724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110335" y="0"/>
                </a:moveTo>
                <a:lnTo>
                  <a:pt x="331005" y="0"/>
                </a:lnTo>
                <a:cubicBezTo>
                  <a:pt x="391900" y="0"/>
                  <a:pt x="441339" y="49439"/>
                  <a:pt x="441339" y="110335"/>
                </a:cubicBezTo>
                <a:lnTo>
                  <a:pt x="441339" y="331005"/>
                </a:lnTo>
                <a:cubicBezTo>
                  <a:pt x="441339" y="391941"/>
                  <a:pt x="391941" y="441339"/>
                  <a:pt x="331005" y="441339"/>
                </a:cubicBezTo>
                <a:lnTo>
                  <a:pt x="110335" y="441339"/>
                </a:lnTo>
                <a:cubicBezTo>
                  <a:pt x="49399" y="441339"/>
                  <a:pt x="0" y="391941"/>
                  <a:pt x="0" y="331005"/>
                </a:cubicBezTo>
                <a:lnTo>
                  <a:pt x="0" y="110335"/>
                </a:lnTo>
                <a:cubicBezTo>
                  <a:pt x="0" y="49439"/>
                  <a:pt x="49439" y="0"/>
                  <a:pt x="110335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2" name="Shape 40"/>
          <p:cNvSpPr/>
          <p:nvPr/>
        </p:nvSpPr>
        <p:spPr>
          <a:xfrm>
            <a:off x="652814" y="6353448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51827" y="0"/>
                </a:moveTo>
                <a:lnTo>
                  <a:pt x="132280" y="0"/>
                </a:lnTo>
                <a:cubicBezTo>
                  <a:pt x="141798" y="0"/>
                  <a:pt x="149555" y="7830"/>
                  <a:pt x="149196" y="17312"/>
                </a:cubicBezTo>
                <a:cubicBezTo>
                  <a:pt x="149124" y="19215"/>
                  <a:pt x="149053" y="21119"/>
                  <a:pt x="148945" y="22986"/>
                </a:cubicBezTo>
                <a:lnTo>
                  <a:pt x="166759" y="22986"/>
                </a:lnTo>
                <a:cubicBezTo>
                  <a:pt x="176133" y="22986"/>
                  <a:pt x="184394" y="30744"/>
                  <a:pt x="183676" y="40873"/>
                </a:cubicBezTo>
                <a:cubicBezTo>
                  <a:pt x="180982" y="78118"/>
                  <a:pt x="161947" y="98590"/>
                  <a:pt x="141295" y="109293"/>
                </a:cubicBezTo>
                <a:cubicBezTo>
                  <a:pt x="135620" y="112238"/>
                  <a:pt x="129837" y="114429"/>
                  <a:pt x="124342" y="116046"/>
                </a:cubicBezTo>
                <a:cubicBezTo>
                  <a:pt x="117087" y="126318"/>
                  <a:pt x="109545" y="131741"/>
                  <a:pt x="103547" y="134650"/>
                </a:cubicBezTo>
                <a:lnTo>
                  <a:pt x="103547" y="160905"/>
                </a:lnTo>
                <a:lnTo>
                  <a:pt x="126533" y="160905"/>
                </a:lnTo>
                <a:cubicBezTo>
                  <a:pt x="132890" y="160905"/>
                  <a:pt x="138026" y="166041"/>
                  <a:pt x="138026" y="172398"/>
                </a:cubicBezTo>
                <a:cubicBezTo>
                  <a:pt x="138026" y="178755"/>
                  <a:pt x="132890" y="183891"/>
                  <a:pt x="126533" y="183891"/>
                </a:cubicBezTo>
                <a:lnTo>
                  <a:pt x="57574" y="183891"/>
                </a:lnTo>
                <a:cubicBezTo>
                  <a:pt x="51217" y="183891"/>
                  <a:pt x="46081" y="178755"/>
                  <a:pt x="46081" y="172398"/>
                </a:cubicBezTo>
                <a:cubicBezTo>
                  <a:pt x="46081" y="166041"/>
                  <a:pt x="51217" y="160905"/>
                  <a:pt x="57574" y="160905"/>
                </a:cubicBezTo>
                <a:lnTo>
                  <a:pt x="80560" y="160905"/>
                </a:lnTo>
                <a:lnTo>
                  <a:pt x="80560" y="134650"/>
                </a:lnTo>
                <a:cubicBezTo>
                  <a:pt x="74814" y="131885"/>
                  <a:pt x="67666" y="126749"/>
                  <a:pt x="60699" y="117303"/>
                </a:cubicBezTo>
                <a:cubicBezTo>
                  <a:pt x="54090" y="115579"/>
                  <a:pt x="46907" y="112957"/>
                  <a:pt x="39903" y="109006"/>
                </a:cubicBezTo>
                <a:cubicBezTo>
                  <a:pt x="20472" y="98123"/>
                  <a:pt x="2945" y="77615"/>
                  <a:pt x="431" y="40801"/>
                </a:cubicBezTo>
                <a:cubicBezTo>
                  <a:pt x="-251" y="30708"/>
                  <a:pt x="7973" y="22951"/>
                  <a:pt x="17348" y="22951"/>
                </a:cubicBezTo>
                <a:lnTo>
                  <a:pt x="35162" y="22951"/>
                </a:lnTo>
                <a:cubicBezTo>
                  <a:pt x="35054" y="21083"/>
                  <a:pt x="34982" y="19215"/>
                  <a:pt x="34911" y="17276"/>
                </a:cubicBezTo>
                <a:cubicBezTo>
                  <a:pt x="34551" y="7758"/>
                  <a:pt x="42309" y="-36"/>
                  <a:pt x="51827" y="-36"/>
                </a:cubicBezTo>
                <a:close/>
                <a:moveTo>
                  <a:pt x="36455" y="40226"/>
                </a:moveTo>
                <a:lnTo>
                  <a:pt x="17635" y="40226"/>
                </a:lnTo>
                <a:cubicBezTo>
                  <a:pt x="19862" y="70647"/>
                  <a:pt x="33833" y="85876"/>
                  <a:pt x="48236" y="93957"/>
                </a:cubicBezTo>
                <a:cubicBezTo>
                  <a:pt x="43064" y="80560"/>
                  <a:pt x="38790" y="63069"/>
                  <a:pt x="36455" y="40226"/>
                </a:cubicBezTo>
                <a:close/>
                <a:moveTo>
                  <a:pt x="136482" y="92233"/>
                </a:moveTo>
                <a:cubicBezTo>
                  <a:pt x="151028" y="83685"/>
                  <a:pt x="164173" y="68492"/>
                  <a:pt x="166400" y="40226"/>
                </a:cubicBezTo>
                <a:lnTo>
                  <a:pt x="147616" y="40226"/>
                </a:lnTo>
                <a:cubicBezTo>
                  <a:pt x="145389" y="62099"/>
                  <a:pt x="141367" y="79088"/>
                  <a:pt x="136482" y="922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1112543" y="6187946"/>
            <a:ext cx="10638118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3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Success Criteria Met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2543" y="6482172"/>
            <a:ext cx="1062892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R² = 0.813 | Logistic Regression AUC = 0.812 | Held-out 2024 test set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66948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&amp;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85763" y="1033462"/>
            <a:ext cx="11420475" cy="695325"/>
          </a:xfrm>
          <a:custGeom>
            <a:avLst/>
            <a:gdLst/>
            <a:ahLst/>
            <a:cxnLst/>
            <a:rect l="l" t="t" r="r" b="b"/>
            <a:pathLst>
              <a:path w="11420475" h="695325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581027"/>
                </a:lnTo>
                <a:cubicBezTo>
                  <a:pt x="11420475" y="644152"/>
                  <a:pt x="11369302" y="695325"/>
                  <a:pt x="113061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BEB"/>
          </a:solidFill>
          <a:ln w="12700">
            <a:solidFill>
              <a:srgbClr val="FEE68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526256" y="11715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171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793849" y="1054989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73C00"/>
                </a:solidFill>
                <a:latin typeface="Liter"/>
                <a:ea typeface="Liter" pitchFamily="34" charset="-122"/>
                <a:cs typeface="Liter" pitchFamily="34" charset="-120"/>
              </a:rPr>
              <a:t>Pivoted to web scraping + open government data; </a:t>
            </a:r>
            <a:r>
              <a:rPr lang="en-US" sz="1200" dirty="0" err="1">
                <a:solidFill>
                  <a:srgbClr val="973C00"/>
                </a:solidFill>
                <a:latin typeface="Liter"/>
                <a:ea typeface="Liter" pitchFamily="34" charset="-122"/>
                <a:cs typeface="Liter" pitchFamily="34" charset="-120"/>
              </a:rPr>
              <a:t>neighbourhood</a:t>
            </a:r>
            <a:r>
              <a:rPr lang="en-US" sz="1200" dirty="0">
                <a:solidFill>
                  <a:srgbClr val="973C00"/>
                </a:solidFill>
                <a:latin typeface="Liter"/>
                <a:ea typeface="Liter" pitchFamily="34" charset="-122"/>
                <a:cs typeface="Liter" pitchFamily="34" charset="-120"/>
              </a:rPr>
              <a:t> demand </a:t>
            </a:r>
            <a:r>
              <a:rPr lang="en-US" sz="1200" dirty="0" err="1">
                <a:solidFill>
                  <a:srgbClr val="973C00"/>
                </a:solidFill>
                <a:latin typeface="Liter"/>
                <a:ea typeface="Liter" pitchFamily="34" charset="-122"/>
                <a:cs typeface="Liter" pitchFamily="34" charset="-120"/>
              </a:rPr>
              <a:t>operationalised</a:t>
            </a:r>
            <a:r>
              <a:rPr lang="en-US" sz="1200" dirty="0">
                <a:solidFill>
                  <a:srgbClr val="973C00"/>
                </a:solidFill>
                <a:latin typeface="Liter"/>
                <a:ea typeface="Liter" pitchFamily="34" charset="-122"/>
                <a:cs typeface="Liter" pitchFamily="34" charset="-120"/>
              </a:rPr>
              <a:t>, policy dummies anchored to exact circular dates.</a:t>
            </a:r>
            <a:endParaRPr lang="en-US" sz="1600" dirty="0">
              <a:latin typeface="Lite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5763" y="189071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52402" y="0"/>
                </a:moveTo>
                <a:lnTo>
                  <a:pt x="3543298" y="0"/>
                </a:lnTo>
                <a:cubicBezTo>
                  <a:pt x="3627467" y="0"/>
                  <a:pt x="3695700" y="68233"/>
                  <a:pt x="3695700" y="152402"/>
                </a:cubicBezTo>
                <a:lnTo>
                  <a:pt x="3695700" y="2581273"/>
                </a:lnTo>
                <a:cubicBezTo>
                  <a:pt x="3695700" y="2665442"/>
                  <a:pt x="3627467" y="2733675"/>
                  <a:pt x="3543298" y="2733675"/>
                </a:cubicBezTo>
                <a:lnTo>
                  <a:pt x="152402" y="2733675"/>
                </a:lnTo>
                <a:cubicBezTo>
                  <a:pt x="68233" y="2733675"/>
                  <a:pt x="0" y="2665442"/>
                  <a:pt x="0" y="25812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581025" y="2085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714375" y="2219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81025" y="26574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99.co / PropertyGuru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076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714375" y="3000375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scraping (HTML parsing)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381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714375" y="3305175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 key deduplication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3686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714375" y="36099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Fuzzy address matching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6513" y="189071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52402" y="0"/>
                </a:moveTo>
                <a:lnTo>
                  <a:pt x="3543298" y="0"/>
                </a:lnTo>
                <a:cubicBezTo>
                  <a:pt x="3627467" y="0"/>
                  <a:pt x="3695700" y="68233"/>
                  <a:pt x="3695700" y="152402"/>
                </a:cubicBezTo>
                <a:lnTo>
                  <a:pt x="3695700" y="2581273"/>
                </a:lnTo>
                <a:cubicBezTo>
                  <a:pt x="3695700" y="2665442"/>
                  <a:pt x="3627467" y="2733675"/>
                  <a:pt x="3543298" y="2733675"/>
                </a:cubicBezTo>
                <a:lnTo>
                  <a:pt x="152402" y="2733675"/>
                </a:lnTo>
                <a:cubicBezTo>
                  <a:pt x="68233" y="2733675"/>
                  <a:pt x="0" y="2665442"/>
                  <a:pt x="0" y="25812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4441775" y="2085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598938" y="2219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35719"/>
                </a:moveTo>
                <a:cubicBezTo>
                  <a:pt x="0" y="15999"/>
                  <a:pt x="15999" y="0"/>
                  <a:pt x="35719" y="0"/>
                </a:cubicBezTo>
                <a:lnTo>
                  <a:pt x="107156" y="0"/>
                </a:lnTo>
                <a:cubicBezTo>
                  <a:pt x="126876" y="0"/>
                  <a:pt x="142875" y="15999"/>
                  <a:pt x="142875" y="35719"/>
                </a:cubicBezTo>
                <a:lnTo>
                  <a:pt x="142875" y="130969"/>
                </a:lnTo>
                <a:cubicBezTo>
                  <a:pt x="142875" y="145889"/>
                  <a:pt x="133722" y="158688"/>
                  <a:pt x="120737" y="164009"/>
                </a:cubicBezTo>
                <a:lnTo>
                  <a:pt x="140791" y="187709"/>
                </a:lnTo>
                <a:cubicBezTo>
                  <a:pt x="143991" y="191467"/>
                  <a:pt x="143508" y="197123"/>
                  <a:pt x="139750" y="200285"/>
                </a:cubicBezTo>
                <a:cubicBezTo>
                  <a:pt x="135992" y="203448"/>
                  <a:pt x="130336" y="203002"/>
                  <a:pt x="127174" y="199244"/>
                </a:cubicBezTo>
                <a:lnTo>
                  <a:pt x="99640" y="166688"/>
                </a:lnTo>
                <a:lnTo>
                  <a:pt x="43346" y="166688"/>
                </a:lnTo>
                <a:lnTo>
                  <a:pt x="15813" y="199244"/>
                </a:lnTo>
                <a:cubicBezTo>
                  <a:pt x="12613" y="203002"/>
                  <a:pt x="6995" y="203485"/>
                  <a:pt x="3237" y="200285"/>
                </a:cubicBezTo>
                <a:cubicBezTo>
                  <a:pt x="-521" y="197086"/>
                  <a:pt x="-1005" y="191467"/>
                  <a:pt x="2195" y="187709"/>
                </a:cubicBezTo>
                <a:lnTo>
                  <a:pt x="22250" y="164009"/>
                </a:lnTo>
                <a:cubicBezTo>
                  <a:pt x="9153" y="158688"/>
                  <a:pt x="0" y="145889"/>
                  <a:pt x="0" y="130969"/>
                </a:cubicBezTo>
                <a:lnTo>
                  <a:pt x="0" y="35719"/>
                </a:lnTo>
                <a:close/>
                <a:moveTo>
                  <a:pt x="23812" y="47625"/>
                </a:moveTo>
                <a:lnTo>
                  <a:pt x="23812" y="83344"/>
                </a:lnTo>
                <a:cubicBezTo>
                  <a:pt x="23812" y="89929"/>
                  <a:pt x="29133" y="95250"/>
                  <a:pt x="35719" y="95250"/>
                </a:cubicBezTo>
                <a:lnTo>
                  <a:pt x="62508" y="95250"/>
                </a:lnTo>
                <a:lnTo>
                  <a:pt x="62508" y="35719"/>
                </a:lnTo>
                <a:lnTo>
                  <a:pt x="35719" y="35719"/>
                </a:lnTo>
                <a:cubicBezTo>
                  <a:pt x="29133" y="35719"/>
                  <a:pt x="23812" y="41039"/>
                  <a:pt x="23812" y="47625"/>
                </a:cubicBezTo>
                <a:close/>
                <a:moveTo>
                  <a:pt x="80367" y="95250"/>
                </a:moveTo>
                <a:lnTo>
                  <a:pt x="107156" y="95250"/>
                </a:lnTo>
                <a:cubicBezTo>
                  <a:pt x="113742" y="95250"/>
                  <a:pt x="119063" y="89929"/>
                  <a:pt x="119063" y="83344"/>
                </a:cubicBezTo>
                <a:lnTo>
                  <a:pt x="119063" y="47625"/>
                </a:lnTo>
                <a:cubicBezTo>
                  <a:pt x="119063" y="41039"/>
                  <a:pt x="113742" y="35719"/>
                  <a:pt x="107156" y="35719"/>
                </a:cubicBezTo>
                <a:lnTo>
                  <a:pt x="80367" y="35719"/>
                </a:lnTo>
                <a:lnTo>
                  <a:pt x="80367" y="95250"/>
                </a:lnTo>
                <a:close/>
                <a:moveTo>
                  <a:pt x="35719" y="142875"/>
                </a:moveTo>
                <a:cubicBezTo>
                  <a:pt x="42290" y="142875"/>
                  <a:pt x="47625" y="137540"/>
                  <a:pt x="47625" y="130969"/>
                </a:cubicBez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lose/>
                <a:moveTo>
                  <a:pt x="119063" y="130969"/>
                </a:moveTo>
                <a:cubicBezTo>
                  <a:pt x="119063" y="124398"/>
                  <a:pt x="113727" y="119063"/>
                  <a:pt x="107156" y="119063"/>
                </a:cubicBezTo>
                <a:cubicBezTo>
                  <a:pt x="100585" y="119063"/>
                  <a:pt x="95250" y="124398"/>
                  <a:pt x="95250" y="130969"/>
                </a:cubicBezTo>
                <a:cubicBezTo>
                  <a:pt x="95250" y="137540"/>
                  <a:pt x="100585" y="142875"/>
                  <a:pt x="107156" y="142875"/>
                </a:cubicBezTo>
                <a:cubicBezTo>
                  <a:pt x="113727" y="142875"/>
                  <a:pt x="119063" y="137540"/>
                  <a:pt x="119063" y="130969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441775" y="26574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LTA DataMall API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1775" y="3076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4575125" y="300037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 station coordinates (free)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1775" y="3381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4575125" y="330517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Haversine → mrt_dist_km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1775" y="3686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575125" y="3609975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API, no auth required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7338" y="1890713"/>
            <a:ext cx="3695700" cy="2733675"/>
          </a:xfrm>
          <a:custGeom>
            <a:avLst/>
            <a:gdLst/>
            <a:ahLst/>
            <a:cxnLst/>
            <a:rect l="l" t="t" r="r" b="b"/>
            <a:pathLst>
              <a:path w="3695700" h="2733675">
                <a:moveTo>
                  <a:pt x="152402" y="0"/>
                </a:moveTo>
                <a:lnTo>
                  <a:pt x="3543298" y="0"/>
                </a:lnTo>
                <a:cubicBezTo>
                  <a:pt x="3627467" y="0"/>
                  <a:pt x="3695700" y="68233"/>
                  <a:pt x="3695700" y="152402"/>
                </a:cubicBezTo>
                <a:lnTo>
                  <a:pt x="3695700" y="2581273"/>
                </a:lnTo>
                <a:cubicBezTo>
                  <a:pt x="3695700" y="2665442"/>
                  <a:pt x="3627467" y="2733675"/>
                  <a:pt x="3543298" y="2733675"/>
                </a:cubicBezTo>
                <a:lnTo>
                  <a:pt x="152402" y="2733675"/>
                </a:lnTo>
                <a:cubicBezTo>
                  <a:pt x="68233" y="2733675"/>
                  <a:pt x="0" y="2665442"/>
                  <a:pt x="0" y="25812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8302600" y="2085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8435950" y="2219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8302600" y="26574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/ SingStat / MND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2600" y="3076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8435950" y="3000375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transactions (demand proxy)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2600" y="3381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8435950" y="330517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Population density by area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02600" y="3686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8435950" y="36099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circular dates (manual)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4786313"/>
            <a:ext cx="11420475" cy="1685925"/>
          </a:xfrm>
          <a:custGeom>
            <a:avLst/>
            <a:gdLst/>
            <a:ahLst/>
            <a:cxnLst/>
            <a:rect l="l" t="t" r="r" b="b"/>
            <a:pathLst>
              <a:path w="11420475" h="1685925">
                <a:moveTo>
                  <a:pt x="152408" y="0"/>
                </a:moveTo>
                <a:lnTo>
                  <a:pt x="11268067" y="0"/>
                </a:lnTo>
                <a:cubicBezTo>
                  <a:pt x="11352240" y="0"/>
                  <a:pt x="11420475" y="68235"/>
                  <a:pt x="11420475" y="152408"/>
                </a:cubicBezTo>
                <a:lnTo>
                  <a:pt x="11420475" y="1533517"/>
                </a:lnTo>
                <a:cubicBezTo>
                  <a:pt x="11420475" y="1617690"/>
                  <a:pt x="11352240" y="1685925"/>
                  <a:pt x="11268067" y="1685925"/>
                </a:cubicBezTo>
                <a:lnTo>
                  <a:pt x="152408" y="1685925"/>
                </a:lnTo>
                <a:cubicBezTo>
                  <a:pt x="68235" y="1685925"/>
                  <a:pt x="0" y="1617690"/>
                  <a:pt x="0" y="1533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0" name="Shape 38"/>
          <p:cNvSpPr/>
          <p:nvPr/>
        </p:nvSpPr>
        <p:spPr>
          <a:xfrm>
            <a:off x="577453" y="4991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103272" y="76583"/>
                </a:moveTo>
                <a:cubicBezTo>
                  <a:pt x="105616" y="72833"/>
                  <a:pt x="104477" y="67877"/>
                  <a:pt x="100727" y="65499"/>
                </a:cubicBezTo>
                <a:cubicBezTo>
                  <a:pt x="96976" y="63122"/>
                  <a:pt x="92020" y="64294"/>
                  <a:pt x="89643" y="68044"/>
                </a:cubicBezTo>
                <a:lnTo>
                  <a:pt x="69082" y="100961"/>
                </a:lnTo>
                <a:lnTo>
                  <a:pt x="60041" y="88906"/>
                </a:lnTo>
                <a:cubicBezTo>
                  <a:pt x="57362" y="85357"/>
                  <a:pt x="52339" y="84620"/>
                  <a:pt x="48790" y="87299"/>
                </a:cubicBezTo>
                <a:cubicBezTo>
                  <a:pt x="45240" y="89978"/>
                  <a:pt x="44503" y="95001"/>
                  <a:pt x="47182" y="98550"/>
                </a:cubicBezTo>
                <a:lnTo>
                  <a:pt x="63256" y="119982"/>
                </a:lnTo>
                <a:cubicBezTo>
                  <a:pt x="64830" y="122091"/>
                  <a:pt x="67374" y="123297"/>
                  <a:pt x="70020" y="123196"/>
                </a:cubicBezTo>
                <a:cubicBezTo>
                  <a:pt x="72665" y="123096"/>
                  <a:pt x="75076" y="121689"/>
                  <a:pt x="76483" y="119412"/>
                </a:cubicBezTo>
                <a:lnTo>
                  <a:pt x="103272" y="76550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762000" y="4943475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Policy-Period Dummies — Exact Date Windows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2925" y="5324475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114295" y="0"/>
                </a:moveTo>
                <a:lnTo>
                  <a:pt x="2019305" y="0"/>
                </a:lnTo>
                <a:cubicBezTo>
                  <a:pt x="2082386" y="0"/>
                  <a:pt x="2133600" y="51214"/>
                  <a:pt x="2133600" y="114295"/>
                </a:cubicBezTo>
                <a:lnTo>
                  <a:pt x="2133600" y="876305"/>
                </a:lnTo>
                <a:cubicBezTo>
                  <a:pt x="2133600" y="939386"/>
                  <a:pt x="2082386" y="990600"/>
                  <a:pt x="2019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657225" y="54387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d_covid_phase2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7225" y="5667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COVID Phase 2 HA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7225" y="58578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2021-05-16 → 2021-08-09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7225" y="6048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Demand, ↓ Price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86955" y="5324475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114295" y="0"/>
                </a:moveTo>
                <a:lnTo>
                  <a:pt x="2019305" y="0"/>
                </a:lnTo>
                <a:cubicBezTo>
                  <a:pt x="2082386" y="0"/>
                  <a:pt x="2133600" y="51214"/>
                  <a:pt x="2133600" y="114295"/>
                </a:cubicBezTo>
                <a:lnTo>
                  <a:pt x="2133600" y="876305"/>
                </a:lnTo>
                <a:cubicBezTo>
                  <a:pt x="2133600" y="939386"/>
                  <a:pt x="2082386" y="990600"/>
                  <a:pt x="2019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2901255" y="54387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d_absd_hike_2021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901255" y="5667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ABSD Increase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901255" y="58578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2021-12-16 → 2022-06-30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901255" y="6048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Co-living demand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31060" y="5324475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114295" y="0"/>
                </a:moveTo>
                <a:lnTo>
                  <a:pt x="2019305" y="0"/>
                </a:lnTo>
                <a:cubicBezTo>
                  <a:pt x="2082386" y="0"/>
                  <a:pt x="2133600" y="51214"/>
                  <a:pt x="2133600" y="114295"/>
                </a:cubicBezTo>
                <a:lnTo>
                  <a:pt x="2133600" y="876305"/>
                </a:lnTo>
                <a:cubicBezTo>
                  <a:pt x="2133600" y="939386"/>
                  <a:pt x="2082386" y="990600"/>
                  <a:pt x="2019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5145360" y="54387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d_rental_surge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145360" y="5667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Post-COVID Rental Surge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145360" y="58578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2022-01-01 → 2022-12-31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45360" y="6048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Price +SGD 371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275165" y="5324475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114295" y="0"/>
                </a:moveTo>
                <a:lnTo>
                  <a:pt x="2019305" y="0"/>
                </a:lnTo>
                <a:cubicBezTo>
                  <a:pt x="2082386" y="0"/>
                  <a:pt x="2133600" y="51214"/>
                  <a:pt x="2133600" y="114295"/>
                </a:cubicBezTo>
                <a:lnTo>
                  <a:pt x="2133600" y="876305"/>
                </a:lnTo>
                <a:cubicBezTo>
                  <a:pt x="2133600" y="939386"/>
                  <a:pt x="2082386" y="990600"/>
                  <a:pt x="2019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8" name="Text 56"/>
          <p:cNvSpPr/>
          <p:nvPr/>
        </p:nvSpPr>
        <p:spPr>
          <a:xfrm>
            <a:off x="7389465" y="54387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d_ahd_tightening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389465" y="5667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AHD Tightening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89465" y="58578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2022-09-01 → 2023-03-31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389465" y="6048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Supply, ↑ Price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519270" y="5324475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114295" y="0"/>
                </a:moveTo>
                <a:lnTo>
                  <a:pt x="2019305" y="0"/>
                </a:lnTo>
                <a:cubicBezTo>
                  <a:pt x="2082386" y="0"/>
                  <a:pt x="2133600" y="51214"/>
                  <a:pt x="2133600" y="114295"/>
                </a:cubicBezTo>
                <a:lnTo>
                  <a:pt x="2133600" y="876305"/>
                </a:lnTo>
                <a:cubicBezTo>
                  <a:pt x="2133600" y="939386"/>
                  <a:pt x="2082386" y="990600"/>
                  <a:pt x="2019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3" name="Text 61"/>
          <p:cNvSpPr/>
          <p:nvPr/>
        </p:nvSpPr>
        <p:spPr>
          <a:xfrm>
            <a:off x="9633570" y="54387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d_ura_guidelines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33570" y="5667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Co-living Framework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633570" y="58578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D1D1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2023-01-01 → 2023-12-31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633570" y="6048375"/>
            <a:ext cx="1962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→ ↑ Price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92621" y="476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74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Methodological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85763" y="1223963"/>
            <a:ext cx="11420475" cy="2219325"/>
          </a:xfrm>
          <a:custGeom>
            <a:avLst/>
            <a:gdLst/>
            <a:ahLst/>
            <a:cxnLst/>
            <a:rect l="l" t="t" r="r" b="b"/>
            <a:pathLst>
              <a:path w="11420475" h="2219325">
                <a:moveTo>
                  <a:pt x="152401" y="0"/>
                </a:moveTo>
                <a:lnTo>
                  <a:pt x="11268074" y="0"/>
                </a:lnTo>
                <a:cubicBezTo>
                  <a:pt x="11352243" y="0"/>
                  <a:pt x="11420475" y="68232"/>
                  <a:pt x="11420475" y="152401"/>
                </a:cubicBezTo>
                <a:lnTo>
                  <a:pt x="11420475" y="2066924"/>
                </a:lnTo>
                <a:cubicBezTo>
                  <a:pt x="11420475" y="2151093"/>
                  <a:pt x="11352243" y="2219325"/>
                  <a:pt x="1126807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61912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878160" y="1609725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1514475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1125" y="1781175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objectives and success criteria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14614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5156374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5394722" y="16097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18374" y="1514475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18374" y="178117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EDA, quality checks, insights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50821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9092505" y="1457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9329812" y="16097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54505" y="15144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4505" y="1781175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Clean, encode, scale, split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10275" y="22193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3052688" y="2600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290143" y="27527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14688" y="2657475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4688" y="2924175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regression + 4 classification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8965" y="2790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1D1D1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6690940" y="26003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6929884" y="27527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2940" y="2657475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52940" y="2924175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5-fold CV + temporal test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3643313"/>
            <a:ext cx="5610225" cy="2828925"/>
          </a:xfrm>
          <a:custGeom>
            <a:avLst/>
            <a:gdLst/>
            <a:ahLst/>
            <a:cxnLst/>
            <a:rect l="l" t="t" r="r" b="b"/>
            <a:pathLst>
              <a:path w="5610225" h="2828925">
                <a:moveTo>
                  <a:pt x="152394" y="0"/>
                </a:moveTo>
                <a:lnTo>
                  <a:pt x="5457831" y="0"/>
                </a:lnTo>
                <a:cubicBezTo>
                  <a:pt x="5541996" y="0"/>
                  <a:pt x="5610225" y="68229"/>
                  <a:pt x="5610225" y="152394"/>
                </a:cubicBezTo>
                <a:lnTo>
                  <a:pt x="5610225" y="2676531"/>
                </a:lnTo>
                <a:cubicBezTo>
                  <a:pt x="5610225" y="2760696"/>
                  <a:pt x="5541996" y="2828925"/>
                  <a:pt x="5457831" y="2828925"/>
                </a:cubicBezTo>
                <a:lnTo>
                  <a:pt x="152394" y="2828925"/>
                </a:lnTo>
                <a:cubicBezTo>
                  <a:pt x="68229" y="2828925"/>
                  <a:pt x="0" y="2760696"/>
                  <a:pt x="0" y="267653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581025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771525" y="393382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2525" y="3933825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 1 — Data Pivot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1025" y="444817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records proved inaccessible → </a:t>
            </a:r>
            <a:r>
              <a:rPr lang="en-US" sz="1200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redesign</a:t>
            </a:r>
            <a:r>
              <a:rPr lang="en-US" sz="1200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Business Understanding and Data Understanding phases.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1025" y="505777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Shape 35"/>
          <p:cNvSpPr/>
          <p:nvPr/>
        </p:nvSpPr>
        <p:spPr>
          <a:xfrm>
            <a:off x="714375" y="5205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942975" y="5172075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Pivoted to 99.co scraping + open government APIs (LTA, URA, SingStat)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3643313"/>
            <a:ext cx="5610225" cy="2828925"/>
          </a:xfrm>
          <a:custGeom>
            <a:avLst/>
            <a:gdLst/>
            <a:ahLst/>
            <a:cxnLst/>
            <a:rect l="l" t="t" r="r" b="b"/>
            <a:pathLst>
              <a:path w="5610225" h="2828925">
                <a:moveTo>
                  <a:pt x="152394" y="0"/>
                </a:moveTo>
                <a:lnTo>
                  <a:pt x="5457831" y="0"/>
                </a:lnTo>
                <a:cubicBezTo>
                  <a:pt x="5541996" y="0"/>
                  <a:pt x="5610225" y="68229"/>
                  <a:pt x="5610225" y="152394"/>
                </a:cubicBezTo>
                <a:lnTo>
                  <a:pt x="5610225" y="2676531"/>
                </a:lnTo>
                <a:cubicBezTo>
                  <a:pt x="5610225" y="2760696"/>
                  <a:pt x="5541996" y="2828925"/>
                  <a:pt x="5457831" y="2828925"/>
                </a:cubicBezTo>
                <a:lnTo>
                  <a:pt x="152394" y="2828925"/>
                </a:lnTo>
                <a:cubicBezTo>
                  <a:pt x="68229" y="2828925"/>
                  <a:pt x="0" y="2760696"/>
                  <a:pt x="0" y="267653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>
                  <a:alpha val="5000"/>
                </a:srgbClr>
              </a:gs>
              <a:gs pos="100000">
                <a:srgbClr val="1D1D1F">
                  <a:alpha val="10000"/>
                </a:srgbClr>
              </a:gs>
            </a:gsLst>
            <a:lin ang="2700000" scaled="1"/>
          </a:gradFill>
          <a:ln w="12700">
            <a:solidFill>
              <a:srgbClr val="1D1D1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Shape 38"/>
          <p:cNvSpPr/>
          <p:nvPr/>
        </p:nvSpPr>
        <p:spPr>
          <a:xfrm>
            <a:off x="6391275" y="3838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D1D1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6564511" y="39338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2775" y="3933825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 2 — Model Upgrade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91275" y="444817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linear models degraded on the held-out 2024 test despite strong CV scores → </a:t>
            </a:r>
            <a:r>
              <a:rPr lang="en-US" sz="1200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methods added</a:t>
            </a:r>
            <a:r>
              <a:rPr lang="en-US" sz="1200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1275" y="5057775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5" name="Shape 43"/>
          <p:cNvSpPr/>
          <p:nvPr/>
        </p:nvSpPr>
        <p:spPr>
          <a:xfrm>
            <a:off x="6524625" y="52054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D1D1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6" name="Text 44"/>
          <p:cNvSpPr/>
          <p:nvPr/>
        </p:nvSpPr>
        <p:spPr>
          <a:xfrm>
            <a:off x="6753225" y="5172075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Forest, Gradient Boosting to capture non-linear temporal dynamics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F9C21-CE56-D568-F6C7-5B446477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50491D6F-E5A4-0AC6-B501-E7CDE387537F}"/>
              </a:ext>
            </a:extLst>
          </p:cNvPr>
          <p:cNvSpPr/>
          <p:nvPr/>
        </p:nvSpPr>
        <p:spPr>
          <a:xfrm>
            <a:off x="445399" y="908920"/>
            <a:ext cx="11378112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C78ACDE-F79B-A306-CFBA-BCF713F917EB}"/>
              </a:ext>
            </a:extLst>
          </p:cNvPr>
          <p:cNvSpPr/>
          <p:nvPr/>
        </p:nvSpPr>
        <p:spPr>
          <a:xfrm>
            <a:off x="363940" y="36394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109182" y="0"/>
                </a:moveTo>
                <a:lnTo>
                  <a:pt x="254758" y="0"/>
                </a:lnTo>
                <a:cubicBezTo>
                  <a:pt x="315017" y="0"/>
                  <a:pt x="363940" y="48923"/>
                  <a:pt x="363940" y="109182"/>
                </a:cubicBezTo>
                <a:lnTo>
                  <a:pt x="363940" y="254758"/>
                </a:lnTo>
                <a:cubicBezTo>
                  <a:pt x="363940" y="315017"/>
                  <a:pt x="315017" y="363940"/>
                  <a:pt x="254758" y="363940"/>
                </a:cubicBezTo>
                <a:lnTo>
                  <a:pt x="109182" y="363940"/>
                </a:lnTo>
                <a:cubicBezTo>
                  <a:pt x="48923" y="363940"/>
                  <a:pt x="0" y="315017"/>
                  <a:pt x="0" y="254758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5C766B-3722-9BCB-F7FB-5962A0DE4DF1}"/>
              </a:ext>
            </a:extLst>
          </p:cNvPr>
          <p:cNvSpPr/>
          <p:nvPr/>
        </p:nvSpPr>
        <p:spPr>
          <a:xfrm>
            <a:off x="445400" y="418531"/>
            <a:ext cx="28205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E06775-C4D8-2FC0-7E57-ADD64784F2E0}"/>
              </a:ext>
            </a:extLst>
          </p:cNvPr>
          <p:cNvSpPr/>
          <p:nvPr/>
        </p:nvSpPr>
        <p:spPr>
          <a:xfrm>
            <a:off x="837063" y="363940"/>
            <a:ext cx="504057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Exploration — Visual Insights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9CC35D-3C8F-3C54-69A6-006C22CDF8D5}"/>
              </a:ext>
            </a:extLst>
          </p:cNvPr>
          <p:cNvSpPr/>
          <p:nvPr/>
        </p:nvSpPr>
        <p:spPr>
          <a:xfrm>
            <a:off x="363940" y="800669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>
                <a:moveTo>
                  <a:pt x="18197" y="0"/>
                </a:moveTo>
                <a:lnTo>
                  <a:pt x="855260" y="0"/>
                </a:lnTo>
                <a:cubicBezTo>
                  <a:pt x="865310" y="0"/>
                  <a:pt x="873457" y="8147"/>
                  <a:pt x="873457" y="18197"/>
                </a:cubicBezTo>
                <a:lnTo>
                  <a:pt x="873457" y="18197"/>
                </a:lnTo>
                <a:cubicBezTo>
                  <a:pt x="873457" y="28247"/>
                  <a:pt x="865310" y="36394"/>
                  <a:pt x="855260" y="36394"/>
                </a:cubicBezTo>
                <a:lnTo>
                  <a:pt x="18197" y="36394"/>
                </a:lnTo>
                <a:cubicBezTo>
                  <a:pt x="8154" y="36394"/>
                  <a:pt x="0" y="28240"/>
                  <a:pt x="0" y="18197"/>
                </a:cubicBezTo>
                <a:lnTo>
                  <a:pt x="0" y="18197"/>
                </a:lnTo>
                <a:cubicBezTo>
                  <a:pt x="0" y="8154"/>
                  <a:pt x="8154" y="0"/>
                  <a:pt x="18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47BE06A-3D15-2EE7-9D51-4AAC3D6B08A9}"/>
              </a:ext>
            </a:extLst>
          </p:cNvPr>
          <p:cNvSpPr/>
          <p:nvPr/>
        </p:nvSpPr>
        <p:spPr>
          <a:xfrm>
            <a:off x="368490" y="3407391"/>
            <a:ext cx="11455021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CA86E62-6006-6810-FF32-CF6D9236D4E7}"/>
              </a:ext>
            </a:extLst>
          </p:cNvPr>
          <p:cNvSpPr/>
          <p:nvPr/>
        </p:nvSpPr>
        <p:spPr>
          <a:xfrm>
            <a:off x="368490" y="5827594"/>
            <a:ext cx="11455021" cy="809767"/>
          </a:xfrm>
          <a:custGeom>
            <a:avLst/>
            <a:gdLst/>
            <a:ahLst/>
            <a:cxnLst/>
            <a:rect l="l" t="t" r="r" b="b"/>
            <a:pathLst>
              <a:path w="11455021" h="809767">
                <a:moveTo>
                  <a:pt x="145580" y="0"/>
                </a:moveTo>
                <a:lnTo>
                  <a:pt x="11309441" y="0"/>
                </a:lnTo>
                <a:cubicBezTo>
                  <a:pt x="11389843" y="0"/>
                  <a:pt x="11455021" y="65178"/>
                  <a:pt x="11455021" y="145580"/>
                </a:cubicBezTo>
                <a:lnTo>
                  <a:pt x="11455021" y="664187"/>
                </a:lnTo>
                <a:cubicBezTo>
                  <a:pt x="11455021" y="744589"/>
                  <a:pt x="11389843" y="809767"/>
                  <a:pt x="11309441" y="809767"/>
                </a:cubicBezTo>
                <a:lnTo>
                  <a:pt x="145580" y="809767"/>
                </a:lnTo>
                <a:cubicBezTo>
                  <a:pt x="65178" y="809767"/>
                  <a:pt x="0" y="744589"/>
                  <a:pt x="0" y="664187"/>
                </a:cubicBezTo>
                <a:lnTo>
                  <a:pt x="0" y="145580"/>
                </a:lnTo>
                <a:cubicBezTo>
                  <a:pt x="0" y="65232"/>
                  <a:pt x="65232" y="0"/>
                  <a:pt x="1455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6B43D34-73B2-FF62-9224-D5AF659BFD63}"/>
              </a:ext>
            </a:extLst>
          </p:cNvPr>
          <p:cNvSpPr/>
          <p:nvPr/>
        </p:nvSpPr>
        <p:spPr>
          <a:xfrm>
            <a:off x="518615" y="6014113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50E221F-13EA-1AE2-757A-317FB44EE89D}"/>
              </a:ext>
            </a:extLst>
          </p:cNvPr>
          <p:cNvSpPr/>
          <p:nvPr/>
        </p:nvSpPr>
        <p:spPr>
          <a:xfrm>
            <a:off x="634621" y="6141493"/>
            <a:ext cx="204716" cy="181970"/>
          </a:xfrm>
          <a:custGeom>
            <a:avLst/>
            <a:gdLst/>
            <a:ahLst/>
            <a:cxnLst/>
            <a:rect l="l" t="t" r="r" b="b"/>
            <a:pathLst>
              <a:path w="204716" h="181970">
                <a:moveTo>
                  <a:pt x="102358" y="11373"/>
                </a:moveTo>
                <a:cubicBezTo>
                  <a:pt x="73641" y="11373"/>
                  <a:pt x="50646" y="24452"/>
                  <a:pt x="33906" y="40019"/>
                </a:cubicBezTo>
                <a:cubicBezTo>
                  <a:pt x="17273" y="55480"/>
                  <a:pt x="6149" y="73925"/>
                  <a:pt x="853" y="86614"/>
                </a:cubicBezTo>
                <a:cubicBezTo>
                  <a:pt x="-320" y="89421"/>
                  <a:pt x="-320" y="92549"/>
                  <a:pt x="853" y="95357"/>
                </a:cubicBezTo>
                <a:cubicBezTo>
                  <a:pt x="6149" y="108045"/>
                  <a:pt x="17273" y="126526"/>
                  <a:pt x="33906" y="141951"/>
                </a:cubicBezTo>
                <a:cubicBezTo>
                  <a:pt x="50646" y="157482"/>
                  <a:pt x="73641" y="170597"/>
                  <a:pt x="102358" y="170597"/>
                </a:cubicBezTo>
                <a:cubicBezTo>
                  <a:pt x="131075" y="170597"/>
                  <a:pt x="154070" y="157518"/>
                  <a:pt x="170810" y="141951"/>
                </a:cubicBezTo>
                <a:cubicBezTo>
                  <a:pt x="187443" y="126491"/>
                  <a:pt x="198568" y="108045"/>
                  <a:pt x="203863" y="95357"/>
                </a:cubicBezTo>
                <a:cubicBezTo>
                  <a:pt x="205036" y="92549"/>
                  <a:pt x="205036" y="89421"/>
                  <a:pt x="203863" y="86614"/>
                </a:cubicBezTo>
                <a:cubicBezTo>
                  <a:pt x="198568" y="73925"/>
                  <a:pt x="187443" y="55444"/>
                  <a:pt x="170810" y="40019"/>
                </a:cubicBezTo>
                <a:cubicBezTo>
                  <a:pt x="154070" y="24488"/>
                  <a:pt x="131075" y="11373"/>
                  <a:pt x="102358" y="11373"/>
                </a:cubicBezTo>
                <a:close/>
                <a:moveTo>
                  <a:pt x="51179" y="90985"/>
                </a:moveTo>
                <a:cubicBezTo>
                  <a:pt x="51179" y="62739"/>
                  <a:pt x="74112" y="39806"/>
                  <a:pt x="102358" y="39806"/>
                </a:cubicBezTo>
                <a:cubicBezTo>
                  <a:pt x="130605" y="39806"/>
                  <a:pt x="153537" y="62739"/>
                  <a:pt x="153537" y="90985"/>
                </a:cubicBezTo>
                <a:cubicBezTo>
                  <a:pt x="153537" y="119232"/>
                  <a:pt x="130605" y="142164"/>
                  <a:pt x="102358" y="142164"/>
                </a:cubicBezTo>
                <a:cubicBezTo>
                  <a:pt x="74112" y="142164"/>
                  <a:pt x="51179" y="119232"/>
                  <a:pt x="51179" y="90985"/>
                </a:cubicBezTo>
                <a:close/>
                <a:moveTo>
                  <a:pt x="102358" y="68239"/>
                </a:moveTo>
                <a:cubicBezTo>
                  <a:pt x="102358" y="80785"/>
                  <a:pt x="92158" y="90985"/>
                  <a:pt x="79612" y="90985"/>
                </a:cubicBezTo>
                <a:cubicBezTo>
                  <a:pt x="75525" y="90985"/>
                  <a:pt x="71686" y="89919"/>
                  <a:pt x="68345" y="88000"/>
                </a:cubicBezTo>
                <a:cubicBezTo>
                  <a:pt x="67990" y="91874"/>
                  <a:pt x="68310" y="95854"/>
                  <a:pt x="69376" y="99799"/>
                </a:cubicBezTo>
                <a:cubicBezTo>
                  <a:pt x="74245" y="117996"/>
                  <a:pt x="92975" y="128801"/>
                  <a:pt x="111172" y="123932"/>
                </a:cubicBezTo>
                <a:cubicBezTo>
                  <a:pt x="129369" y="119063"/>
                  <a:pt x="140174" y="100332"/>
                  <a:pt x="135305" y="82135"/>
                </a:cubicBezTo>
                <a:cubicBezTo>
                  <a:pt x="130969" y="65893"/>
                  <a:pt x="115579" y="55551"/>
                  <a:pt x="99373" y="56972"/>
                </a:cubicBezTo>
                <a:cubicBezTo>
                  <a:pt x="101256" y="60278"/>
                  <a:pt x="102358" y="64116"/>
                  <a:pt x="102358" y="6823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673E53D-C7B2-55F9-7AA7-4BC8BFE5C036}"/>
              </a:ext>
            </a:extLst>
          </p:cNvPr>
          <p:cNvSpPr/>
          <p:nvPr/>
        </p:nvSpPr>
        <p:spPr>
          <a:xfrm>
            <a:off x="1100919" y="5930914"/>
            <a:ext cx="103450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Insight Summary</a:t>
            </a:r>
            <a:endParaRPr lang="en-US" sz="16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92EC48B-AEDD-BECE-E706-97F19F4C03E7}"/>
              </a:ext>
            </a:extLst>
          </p:cNvPr>
          <p:cNvSpPr/>
          <p:nvPr/>
        </p:nvSpPr>
        <p:spPr>
          <a:xfrm>
            <a:off x="1100919" y="6258356"/>
            <a:ext cx="10335904" cy="286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visualizations confirm </a:t>
            </a:r>
            <a:r>
              <a:rPr lang="en-US" sz="1146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type</a:t>
            </a:r>
            <a:r>
              <a:rPr lang="en-US" sz="1146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primary driver of price variance. These distinct shifts validate all five policy dummies as essential binary features, encoding regime information that continuous time variables cannot capture.</a:t>
            </a:r>
            <a:endParaRPr lang="en-US" sz="1600" dirty="0"/>
          </a:p>
        </p:txBody>
      </p:sp>
      <p:pic>
        <p:nvPicPr>
          <p:cNvPr id="21" name="data/fig1_price_dist.png" title="data/fig1_price_dist.png">
            <a:extLst>
              <a:ext uri="{FF2B5EF4-FFF2-40B4-BE49-F238E27FC236}">
                <a16:creationId xmlns:a16="http://schemas.microsoft.com/office/drawing/2014/main" id="{58EB155E-037F-5097-D30E-8F4544B8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4620" y="987188"/>
            <a:ext cx="6978209" cy="2157525"/>
          </a:xfrm>
          <a:prstGeom prst="rect">
            <a:avLst/>
          </a:prstGeom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F678EB3-8F2C-684F-4A79-DD6AD34F5D16}"/>
              </a:ext>
            </a:extLst>
          </p:cNvPr>
          <p:cNvGrpSpPr/>
          <p:nvPr/>
        </p:nvGrpSpPr>
        <p:grpSpPr>
          <a:xfrm>
            <a:off x="8239314" y="987188"/>
            <a:ext cx="2800492" cy="866220"/>
            <a:chOff x="7654290" y="963097"/>
            <a:chExt cx="2800492" cy="86622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3C474095-7543-8647-B54A-38BDDBF0E26C}"/>
                </a:ext>
              </a:extLst>
            </p:cNvPr>
            <p:cNvSpPr/>
            <p:nvPr/>
          </p:nvSpPr>
          <p:spPr>
            <a:xfrm>
              <a:off x="7843511" y="1232434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8E0BE0B2-F43A-354C-9791-C5831285838B}"/>
                </a:ext>
              </a:extLst>
            </p:cNvPr>
            <p:cNvSpPr/>
            <p:nvPr/>
          </p:nvSpPr>
          <p:spPr>
            <a:xfrm>
              <a:off x="8080072" y="1196040"/>
              <a:ext cx="2329218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SGD 1,769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per month</a:t>
              </a:r>
              <a:endParaRPr lang="en-US" sz="16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81F22C4D-40CC-0433-9B95-E26FFAC22E3F}"/>
                </a:ext>
              </a:extLst>
            </p:cNvPr>
            <p:cNvSpPr/>
            <p:nvPr/>
          </p:nvSpPr>
          <p:spPr>
            <a:xfrm>
              <a:off x="7843511" y="1434925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BF1DF7DA-53E0-414A-ECA3-EB0413B7350E}"/>
                </a:ext>
              </a:extLst>
            </p:cNvPr>
            <p:cNvSpPr/>
            <p:nvPr/>
          </p:nvSpPr>
          <p:spPr>
            <a:xfrm>
              <a:off x="8080072" y="1398531"/>
              <a:ext cx="2374710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SGD 608 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standard deviation</a:t>
              </a: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</a:t>
              </a:r>
              <a:endParaRPr lang="en-US" sz="1600" dirty="0"/>
            </a:p>
          </p:txBody>
        </p:sp>
        <p:sp>
          <p:nvSpPr>
            <p:cNvPr id="1027" name="Shape 30">
              <a:extLst>
                <a:ext uri="{FF2B5EF4-FFF2-40B4-BE49-F238E27FC236}">
                  <a16:creationId xmlns:a16="http://schemas.microsoft.com/office/drawing/2014/main" id="{2B0CD639-B94F-6653-1FC7-3BE673DB4728}"/>
                </a:ext>
              </a:extLst>
            </p:cNvPr>
            <p:cNvSpPr/>
            <p:nvPr/>
          </p:nvSpPr>
          <p:spPr>
            <a:xfrm>
              <a:off x="7843511" y="1647347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29" name="Text 31">
              <a:extLst>
                <a:ext uri="{FF2B5EF4-FFF2-40B4-BE49-F238E27FC236}">
                  <a16:creationId xmlns:a16="http://schemas.microsoft.com/office/drawing/2014/main" id="{DE3A5BA7-D903-70F7-95DD-EB841D961748}"/>
                </a:ext>
              </a:extLst>
            </p:cNvPr>
            <p:cNvSpPr/>
            <p:nvPr/>
          </p:nvSpPr>
          <p:spPr>
            <a:xfrm>
              <a:off x="8080072" y="1610953"/>
              <a:ext cx="2374710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0.25 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right skew</a:t>
              </a: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</a:t>
              </a:r>
              <a:endParaRPr lang="en-US" sz="1600" dirty="0"/>
            </a:p>
          </p:txBody>
        </p:sp>
        <p:sp>
          <p:nvSpPr>
            <p:cNvPr id="1031" name="Text 7">
              <a:extLst>
                <a:ext uri="{FF2B5EF4-FFF2-40B4-BE49-F238E27FC236}">
                  <a16:creationId xmlns:a16="http://schemas.microsoft.com/office/drawing/2014/main" id="{36C1B4CC-6CE8-7FDE-570B-FF6FF350CE05}"/>
                </a:ext>
              </a:extLst>
            </p:cNvPr>
            <p:cNvSpPr/>
            <p:nvPr/>
          </p:nvSpPr>
          <p:spPr>
            <a:xfrm>
              <a:off x="7654290" y="963097"/>
              <a:ext cx="2165445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6" b="1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Distribution of Rental Prices</a:t>
              </a:r>
              <a:endParaRPr lang="en-US" sz="1600" dirty="0"/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F207508A-483C-1DAB-47EF-FDF7C16CF3E5}"/>
              </a:ext>
            </a:extLst>
          </p:cNvPr>
          <p:cNvGrpSpPr/>
          <p:nvPr/>
        </p:nvGrpSpPr>
        <p:grpSpPr>
          <a:xfrm>
            <a:off x="7886697" y="2342518"/>
            <a:ext cx="3866076" cy="653798"/>
            <a:chOff x="7396822" y="963097"/>
            <a:chExt cx="3057960" cy="653798"/>
          </a:xfrm>
        </p:grpSpPr>
        <p:sp>
          <p:nvSpPr>
            <p:cNvPr id="1035" name="Shape 23">
              <a:extLst>
                <a:ext uri="{FF2B5EF4-FFF2-40B4-BE49-F238E27FC236}">
                  <a16:creationId xmlns:a16="http://schemas.microsoft.com/office/drawing/2014/main" id="{12188419-8CF2-2638-FB12-AD218044B1FD}"/>
                </a:ext>
              </a:extLst>
            </p:cNvPr>
            <p:cNvSpPr/>
            <p:nvPr/>
          </p:nvSpPr>
          <p:spPr>
            <a:xfrm>
              <a:off x="7843511" y="1232434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36" name="Text 24">
              <a:extLst>
                <a:ext uri="{FF2B5EF4-FFF2-40B4-BE49-F238E27FC236}">
                  <a16:creationId xmlns:a16="http://schemas.microsoft.com/office/drawing/2014/main" id="{1C7EED51-5285-8A13-75A3-318548D0B251}"/>
                </a:ext>
              </a:extLst>
            </p:cNvPr>
            <p:cNvSpPr/>
            <p:nvPr/>
          </p:nvSpPr>
          <p:spPr>
            <a:xfrm>
              <a:off x="8080072" y="1196040"/>
              <a:ext cx="2329218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SGD 700-900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| Twin Share lowest-tier</a:t>
              </a:r>
              <a:endParaRPr lang="en-US" sz="1600" dirty="0"/>
            </a:p>
          </p:txBody>
        </p:sp>
        <p:sp>
          <p:nvSpPr>
            <p:cNvPr id="1037" name="Shape 30">
              <a:extLst>
                <a:ext uri="{FF2B5EF4-FFF2-40B4-BE49-F238E27FC236}">
                  <a16:creationId xmlns:a16="http://schemas.microsoft.com/office/drawing/2014/main" id="{8820ED20-3962-B8AF-C765-14D1A958D321}"/>
                </a:ext>
              </a:extLst>
            </p:cNvPr>
            <p:cNvSpPr/>
            <p:nvPr/>
          </p:nvSpPr>
          <p:spPr>
            <a:xfrm>
              <a:off x="7843511" y="1434925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38" name="Text 31">
              <a:extLst>
                <a:ext uri="{FF2B5EF4-FFF2-40B4-BE49-F238E27FC236}">
                  <a16:creationId xmlns:a16="http://schemas.microsoft.com/office/drawing/2014/main" id="{FE86B371-2FA4-4F54-6D0F-9A47658F149E}"/>
                </a:ext>
              </a:extLst>
            </p:cNvPr>
            <p:cNvSpPr/>
            <p:nvPr/>
          </p:nvSpPr>
          <p:spPr>
            <a:xfrm>
              <a:off x="8080072" y="1398531"/>
              <a:ext cx="2374710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SGD 1,600-2,000 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| Deluxe &amp; Suites highest tier</a:t>
              </a: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</a:t>
              </a:r>
              <a:endParaRPr lang="en-US" sz="1600" dirty="0"/>
            </a:p>
          </p:txBody>
        </p:sp>
        <p:sp>
          <p:nvSpPr>
            <p:cNvPr id="1041" name="Text 7">
              <a:extLst>
                <a:ext uri="{FF2B5EF4-FFF2-40B4-BE49-F238E27FC236}">
                  <a16:creationId xmlns:a16="http://schemas.microsoft.com/office/drawing/2014/main" id="{6C471CF4-2F59-DF73-A77E-B1249FE4E4F8}"/>
                </a:ext>
              </a:extLst>
            </p:cNvPr>
            <p:cNvSpPr/>
            <p:nvPr/>
          </p:nvSpPr>
          <p:spPr>
            <a:xfrm>
              <a:off x="7396822" y="963097"/>
              <a:ext cx="2165445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6" b="1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Rental Price by Room Type</a:t>
              </a:r>
              <a:endParaRPr lang="en-US" sz="1600" dirty="0"/>
            </a:p>
          </p:txBody>
        </p:sp>
      </p:grpSp>
      <p:sp>
        <p:nvSpPr>
          <p:cNvPr id="1044" name="Shape 21">
            <a:extLst>
              <a:ext uri="{FF2B5EF4-FFF2-40B4-BE49-F238E27FC236}">
                <a16:creationId xmlns:a16="http://schemas.microsoft.com/office/drawing/2014/main" id="{53A36D2A-2949-2072-60A4-DB325713A5DF}"/>
              </a:ext>
            </a:extLst>
          </p:cNvPr>
          <p:cNvSpPr/>
          <p:nvPr/>
        </p:nvSpPr>
        <p:spPr>
          <a:xfrm>
            <a:off x="7791863" y="1149144"/>
            <a:ext cx="562410" cy="60964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045" name="Picture 2" descr="Download Bed, Icon, Sleep. Royalty-Free Vector Graphic - Pixabay">
            <a:extLst>
              <a:ext uri="{FF2B5EF4-FFF2-40B4-BE49-F238E27FC236}">
                <a16:creationId xmlns:a16="http://schemas.microsoft.com/office/drawing/2014/main" id="{432B9433-F0D7-29EC-9DF8-5E1146C4B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1640" y="2021005"/>
            <a:ext cx="788166" cy="50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A030B041-4031-6D51-4503-0D309F848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21" y="3521785"/>
            <a:ext cx="5914390" cy="2051050"/>
          </a:xfrm>
          <a:prstGeom prst="rect">
            <a:avLst/>
          </a:prstGeom>
        </p:spPr>
      </p:pic>
      <p:sp>
        <p:nvSpPr>
          <p:cNvPr id="1047" name="Shape 42">
            <a:extLst>
              <a:ext uri="{FF2B5EF4-FFF2-40B4-BE49-F238E27FC236}">
                <a16:creationId xmlns:a16="http://schemas.microsoft.com/office/drawing/2014/main" id="{7D1DCE4B-BC8D-4714-393A-3F9E6172562F}"/>
              </a:ext>
            </a:extLst>
          </p:cNvPr>
          <p:cNvSpPr/>
          <p:nvPr/>
        </p:nvSpPr>
        <p:spPr>
          <a:xfrm>
            <a:off x="6970309" y="4092912"/>
            <a:ext cx="469900" cy="466725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CDEC7CFF-16AF-6362-61C0-9AC2645DB20E}"/>
              </a:ext>
            </a:extLst>
          </p:cNvPr>
          <p:cNvGrpSpPr/>
          <p:nvPr/>
        </p:nvGrpSpPr>
        <p:grpSpPr>
          <a:xfrm>
            <a:off x="7360426" y="4048736"/>
            <a:ext cx="3475957" cy="662365"/>
            <a:chOff x="7705395" y="954530"/>
            <a:chExt cx="2749387" cy="662365"/>
          </a:xfrm>
        </p:grpSpPr>
        <p:sp>
          <p:nvSpPr>
            <p:cNvPr id="1049" name="Shape 23">
              <a:extLst>
                <a:ext uri="{FF2B5EF4-FFF2-40B4-BE49-F238E27FC236}">
                  <a16:creationId xmlns:a16="http://schemas.microsoft.com/office/drawing/2014/main" id="{B02F9D8D-6567-A7B9-2B57-45472B1316D0}"/>
                </a:ext>
              </a:extLst>
            </p:cNvPr>
            <p:cNvSpPr/>
            <p:nvPr/>
          </p:nvSpPr>
          <p:spPr>
            <a:xfrm>
              <a:off x="7843511" y="1232434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50" name="Text 24">
              <a:extLst>
                <a:ext uri="{FF2B5EF4-FFF2-40B4-BE49-F238E27FC236}">
                  <a16:creationId xmlns:a16="http://schemas.microsoft.com/office/drawing/2014/main" id="{11FA603A-A846-E278-FF33-B85DE04435C7}"/>
                </a:ext>
              </a:extLst>
            </p:cNvPr>
            <p:cNvSpPr/>
            <p:nvPr/>
          </p:nvSpPr>
          <p:spPr>
            <a:xfrm>
              <a:off x="8080072" y="1196040"/>
              <a:ext cx="2329218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2022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| Dominant rental surge</a:t>
              </a:r>
              <a:endParaRPr lang="en-US" sz="1600" dirty="0"/>
            </a:p>
          </p:txBody>
        </p:sp>
        <p:sp>
          <p:nvSpPr>
            <p:cNvPr id="1051" name="Shape 30">
              <a:extLst>
                <a:ext uri="{FF2B5EF4-FFF2-40B4-BE49-F238E27FC236}">
                  <a16:creationId xmlns:a16="http://schemas.microsoft.com/office/drawing/2014/main" id="{55E6C818-C71D-31D4-76B3-B3FE8B443D31}"/>
                </a:ext>
              </a:extLst>
            </p:cNvPr>
            <p:cNvSpPr/>
            <p:nvPr/>
          </p:nvSpPr>
          <p:spPr>
            <a:xfrm>
              <a:off x="7843511" y="1434925"/>
              <a:ext cx="145576" cy="145576"/>
            </a:xfrm>
            <a:custGeom>
              <a:avLst/>
              <a:gdLst/>
              <a:ahLst/>
              <a:cxnLst/>
              <a:rect l="l" t="t" r="r" b="b"/>
              <a:pathLst>
                <a:path w="145576" h="145576">
                  <a:moveTo>
                    <a:pt x="142903" y="79214"/>
                  </a:moveTo>
                  <a:cubicBezTo>
                    <a:pt x="146458" y="75660"/>
                    <a:pt x="146458" y="69888"/>
                    <a:pt x="142903" y="66334"/>
                  </a:cubicBezTo>
                  <a:lnTo>
                    <a:pt x="97411" y="20841"/>
                  </a:lnTo>
                  <a:cubicBezTo>
                    <a:pt x="93857" y="17287"/>
                    <a:pt x="88085" y="17287"/>
                    <a:pt x="84531" y="20841"/>
                  </a:cubicBezTo>
                  <a:cubicBezTo>
                    <a:pt x="80977" y="24395"/>
                    <a:pt x="80977" y="30167"/>
                    <a:pt x="84531" y="33721"/>
                  </a:cubicBezTo>
                  <a:lnTo>
                    <a:pt x="114499" y="63690"/>
                  </a:lnTo>
                  <a:lnTo>
                    <a:pt x="9099" y="63690"/>
                  </a:lnTo>
                  <a:cubicBezTo>
                    <a:pt x="4066" y="63690"/>
                    <a:pt x="0" y="67755"/>
                    <a:pt x="0" y="72788"/>
                  </a:cubicBezTo>
                  <a:cubicBezTo>
                    <a:pt x="0" y="77821"/>
                    <a:pt x="4066" y="81887"/>
                    <a:pt x="9099" y="81887"/>
                  </a:cubicBezTo>
                  <a:lnTo>
                    <a:pt x="114499" y="81887"/>
                  </a:lnTo>
                  <a:lnTo>
                    <a:pt x="84531" y="111855"/>
                  </a:lnTo>
                  <a:cubicBezTo>
                    <a:pt x="80977" y="115409"/>
                    <a:pt x="80977" y="121181"/>
                    <a:pt x="84531" y="124735"/>
                  </a:cubicBezTo>
                  <a:cubicBezTo>
                    <a:pt x="88085" y="128289"/>
                    <a:pt x="93857" y="128289"/>
                    <a:pt x="97411" y="124735"/>
                  </a:cubicBezTo>
                  <a:lnTo>
                    <a:pt x="142903" y="7924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SG"/>
            </a:p>
          </p:txBody>
        </p:sp>
        <p:sp>
          <p:nvSpPr>
            <p:cNvPr id="1052" name="Text 31">
              <a:extLst>
                <a:ext uri="{FF2B5EF4-FFF2-40B4-BE49-F238E27FC236}">
                  <a16:creationId xmlns:a16="http://schemas.microsoft.com/office/drawing/2014/main" id="{D3B0EA18-3FA7-833C-162C-C896F2627DE1}"/>
                </a:ext>
              </a:extLst>
            </p:cNvPr>
            <p:cNvSpPr/>
            <p:nvPr/>
          </p:nvSpPr>
          <p:spPr>
            <a:xfrm>
              <a:off x="8080072" y="1398531"/>
              <a:ext cx="2374710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SGD 200-400 </a:t>
              </a:r>
              <a:r>
                <a:rPr lang="en-US" sz="1146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| above 2022 baseline</a:t>
              </a:r>
              <a:r>
                <a:rPr lang="en-US" sz="1146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</a:t>
              </a:r>
              <a:endParaRPr lang="en-US" sz="1600" dirty="0"/>
            </a:p>
          </p:txBody>
        </p:sp>
        <p:sp>
          <p:nvSpPr>
            <p:cNvPr id="1053" name="Text 7">
              <a:extLst>
                <a:ext uri="{FF2B5EF4-FFF2-40B4-BE49-F238E27FC236}">
                  <a16:creationId xmlns:a16="http://schemas.microsoft.com/office/drawing/2014/main" id="{6D877956-72F7-75A7-8F4C-93F563C08642}"/>
                </a:ext>
              </a:extLst>
            </p:cNvPr>
            <p:cNvSpPr/>
            <p:nvPr/>
          </p:nvSpPr>
          <p:spPr>
            <a:xfrm>
              <a:off x="7705395" y="954530"/>
              <a:ext cx="2165445" cy="218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46" b="1" dirty="0">
                  <a:solidFill>
                    <a:srgbClr val="86868B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Rental Price with Policy Event Overlays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41655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5"/>
          <p:cNvSpPr/>
          <p:nvPr/>
        </p:nvSpPr>
        <p:spPr>
          <a:xfrm>
            <a:off x="6175328" y="3407391"/>
            <a:ext cx="5650173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5D4D6B8-9DEE-D7BC-CFAD-A8B967FE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082" y="3513541"/>
            <a:ext cx="3270518" cy="204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hape 11"/>
          <p:cNvSpPr/>
          <p:nvPr/>
        </p:nvSpPr>
        <p:spPr>
          <a:xfrm>
            <a:off x="6175328" y="987188"/>
            <a:ext cx="5650173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34170E-B29B-679D-1C81-5B05BA697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956" y="1017407"/>
            <a:ext cx="2685117" cy="221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363940" y="36394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109182" y="0"/>
                </a:moveTo>
                <a:lnTo>
                  <a:pt x="254758" y="0"/>
                </a:lnTo>
                <a:cubicBezTo>
                  <a:pt x="315017" y="0"/>
                  <a:pt x="363940" y="48923"/>
                  <a:pt x="363940" y="109182"/>
                </a:cubicBezTo>
                <a:lnTo>
                  <a:pt x="363940" y="254758"/>
                </a:lnTo>
                <a:cubicBezTo>
                  <a:pt x="363940" y="315017"/>
                  <a:pt x="315017" y="363940"/>
                  <a:pt x="254758" y="363940"/>
                </a:cubicBezTo>
                <a:lnTo>
                  <a:pt x="109182" y="363940"/>
                </a:lnTo>
                <a:cubicBezTo>
                  <a:pt x="48923" y="363940"/>
                  <a:pt x="0" y="315017"/>
                  <a:pt x="0" y="254758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45400" y="418531"/>
            <a:ext cx="28205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063" y="363940"/>
            <a:ext cx="5040573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Exploration — Visual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940" y="800669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>
                <a:moveTo>
                  <a:pt x="18197" y="0"/>
                </a:moveTo>
                <a:lnTo>
                  <a:pt x="855260" y="0"/>
                </a:lnTo>
                <a:cubicBezTo>
                  <a:pt x="865310" y="0"/>
                  <a:pt x="873457" y="8147"/>
                  <a:pt x="873457" y="18197"/>
                </a:cubicBezTo>
                <a:lnTo>
                  <a:pt x="873457" y="18197"/>
                </a:lnTo>
                <a:cubicBezTo>
                  <a:pt x="873457" y="28247"/>
                  <a:pt x="865310" y="36394"/>
                  <a:pt x="855260" y="36394"/>
                </a:cubicBezTo>
                <a:lnTo>
                  <a:pt x="18197" y="36394"/>
                </a:lnTo>
                <a:cubicBezTo>
                  <a:pt x="8154" y="36394"/>
                  <a:pt x="0" y="28240"/>
                  <a:pt x="0" y="18197"/>
                </a:cubicBezTo>
                <a:lnTo>
                  <a:pt x="0" y="18197"/>
                </a:lnTo>
                <a:cubicBezTo>
                  <a:pt x="0" y="8154"/>
                  <a:pt x="8154" y="0"/>
                  <a:pt x="18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68490" y="987188"/>
            <a:ext cx="5650173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1519665" y="1313354"/>
            <a:ext cx="1844337" cy="564593"/>
          </a:xfrm>
          <a:custGeom>
            <a:avLst/>
            <a:gdLst/>
            <a:ahLst/>
            <a:cxnLst/>
            <a:rect l="l" t="t" r="r" b="b"/>
            <a:pathLst>
              <a:path w="5349922" h="1637731">
                <a:moveTo>
                  <a:pt x="109188" y="0"/>
                </a:moveTo>
                <a:lnTo>
                  <a:pt x="5240735" y="0"/>
                </a:lnTo>
                <a:cubicBezTo>
                  <a:pt x="5300997" y="0"/>
                  <a:pt x="5349922" y="48925"/>
                  <a:pt x="5349922" y="109188"/>
                </a:cubicBezTo>
                <a:lnTo>
                  <a:pt x="5349922" y="1528544"/>
                </a:lnTo>
                <a:cubicBezTo>
                  <a:pt x="5349922" y="1588806"/>
                  <a:pt x="5300997" y="1637731"/>
                  <a:pt x="5240735" y="1637731"/>
                </a:cubicBezTo>
                <a:lnTo>
                  <a:pt x="109188" y="1637731"/>
                </a:lnTo>
                <a:cubicBezTo>
                  <a:pt x="48925" y="1637731"/>
                  <a:pt x="0" y="1588806"/>
                  <a:pt x="0" y="1528544"/>
                </a:cubicBezTo>
                <a:lnTo>
                  <a:pt x="0" y="109188"/>
                </a:lnTo>
                <a:cubicBezTo>
                  <a:pt x="0" y="48925"/>
                  <a:pt x="48925" y="0"/>
                  <a:pt x="109188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3923636" y="274320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27296" y="27296"/>
                </a:moveTo>
                <a:cubicBezTo>
                  <a:pt x="42393" y="27296"/>
                  <a:pt x="54591" y="39493"/>
                  <a:pt x="54591" y="54591"/>
                </a:cubicBezTo>
                <a:lnTo>
                  <a:pt x="54591" y="341194"/>
                </a:lnTo>
                <a:cubicBezTo>
                  <a:pt x="54591" y="348700"/>
                  <a:pt x="60733" y="354842"/>
                  <a:pt x="68239" y="354842"/>
                </a:cubicBezTo>
                <a:lnTo>
                  <a:pt x="409433" y="354842"/>
                </a:lnTo>
                <a:cubicBezTo>
                  <a:pt x="424531" y="354842"/>
                  <a:pt x="436728" y="367039"/>
                  <a:pt x="436728" y="382137"/>
                </a:cubicBezTo>
                <a:cubicBezTo>
                  <a:pt x="436728" y="397235"/>
                  <a:pt x="424531" y="409433"/>
                  <a:pt x="409433" y="409433"/>
                </a:cubicBezTo>
                <a:lnTo>
                  <a:pt x="68239" y="409433"/>
                </a:lnTo>
                <a:cubicBezTo>
                  <a:pt x="30537" y="409433"/>
                  <a:pt x="0" y="378896"/>
                  <a:pt x="0" y="341194"/>
                </a:cubicBezTo>
                <a:lnTo>
                  <a:pt x="0" y="54591"/>
                </a:lnTo>
                <a:cubicBezTo>
                  <a:pt x="0" y="39493"/>
                  <a:pt x="12198" y="27296"/>
                  <a:pt x="27296" y="27296"/>
                </a:cubicBezTo>
                <a:close/>
                <a:moveTo>
                  <a:pt x="109182" y="81887"/>
                </a:moveTo>
                <a:cubicBezTo>
                  <a:pt x="109182" y="66789"/>
                  <a:pt x="121380" y="54591"/>
                  <a:pt x="136478" y="54591"/>
                </a:cubicBezTo>
                <a:lnTo>
                  <a:pt x="300251" y="54591"/>
                </a:lnTo>
                <a:cubicBezTo>
                  <a:pt x="315349" y="54591"/>
                  <a:pt x="327546" y="66789"/>
                  <a:pt x="327546" y="81887"/>
                </a:cubicBezTo>
                <a:cubicBezTo>
                  <a:pt x="327546" y="96984"/>
                  <a:pt x="315349" y="109182"/>
                  <a:pt x="300251" y="109182"/>
                </a:cubicBezTo>
                <a:lnTo>
                  <a:pt x="136478" y="109182"/>
                </a:lnTo>
                <a:cubicBezTo>
                  <a:pt x="121380" y="109182"/>
                  <a:pt x="109182" y="96984"/>
                  <a:pt x="109182" y="81887"/>
                </a:cubicBezTo>
                <a:close/>
                <a:moveTo>
                  <a:pt x="136478" y="150125"/>
                </a:moveTo>
                <a:lnTo>
                  <a:pt x="245660" y="150125"/>
                </a:lnTo>
                <a:cubicBezTo>
                  <a:pt x="260758" y="150125"/>
                  <a:pt x="272955" y="162323"/>
                  <a:pt x="272955" y="177421"/>
                </a:cubicBezTo>
                <a:cubicBezTo>
                  <a:pt x="272955" y="192519"/>
                  <a:pt x="260758" y="204716"/>
                  <a:pt x="245660" y="204716"/>
                </a:cubicBezTo>
                <a:lnTo>
                  <a:pt x="136478" y="204716"/>
                </a:lnTo>
                <a:cubicBezTo>
                  <a:pt x="121380" y="204716"/>
                  <a:pt x="109182" y="192519"/>
                  <a:pt x="109182" y="177421"/>
                </a:cubicBezTo>
                <a:cubicBezTo>
                  <a:pt x="109182" y="162323"/>
                  <a:pt x="121380" y="150125"/>
                  <a:pt x="136478" y="150125"/>
                </a:cubicBezTo>
                <a:close/>
                <a:moveTo>
                  <a:pt x="136478" y="245660"/>
                </a:moveTo>
                <a:lnTo>
                  <a:pt x="354842" y="245660"/>
                </a:lnTo>
                <a:cubicBezTo>
                  <a:pt x="369940" y="245660"/>
                  <a:pt x="382137" y="257857"/>
                  <a:pt x="382137" y="272955"/>
                </a:cubicBezTo>
                <a:cubicBezTo>
                  <a:pt x="382137" y="288053"/>
                  <a:pt x="369940" y="300251"/>
                  <a:pt x="354842" y="300251"/>
                </a:cubicBezTo>
                <a:lnTo>
                  <a:pt x="136478" y="300251"/>
                </a:lnTo>
                <a:cubicBezTo>
                  <a:pt x="121380" y="300251"/>
                  <a:pt x="109182" y="288053"/>
                  <a:pt x="109182" y="272955"/>
                </a:cubicBezTo>
                <a:cubicBezTo>
                  <a:pt x="109182" y="257857"/>
                  <a:pt x="121380" y="245660"/>
                  <a:pt x="136478" y="24566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049175" y="2700354"/>
            <a:ext cx="216544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by Planning Area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7748" y="2741297"/>
            <a:ext cx="2156346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86868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across Singapore regions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6812" y="2920621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42903" y="79214"/>
                </a:moveTo>
                <a:cubicBezTo>
                  <a:pt x="146458" y="75660"/>
                  <a:pt x="146458" y="69888"/>
                  <a:pt x="142903" y="66334"/>
                </a:cubicBezTo>
                <a:lnTo>
                  <a:pt x="97411" y="20841"/>
                </a:lnTo>
                <a:cubicBezTo>
                  <a:pt x="93857" y="17287"/>
                  <a:pt x="88085" y="17287"/>
                  <a:pt x="84531" y="20841"/>
                </a:cubicBezTo>
                <a:cubicBezTo>
                  <a:pt x="80977" y="24395"/>
                  <a:pt x="80977" y="30167"/>
                  <a:pt x="84531" y="33721"/>
                </a:cubicBezTo>
                <a:lnTo>
                  <a:pt x="114499" y="63690"/>
                </a:lnTo>
                <a:lnTo>
                  <a:pt x="9099" y="63690"/>
                </a:lnTo>
                <a:cubicBezTo>
                  <a:pt x="4066" y="63690"/>
                  <a:pt x="0" y="67755"/>
                  <a:pt x="0" y="72788"/>
                </a:cubicBezTo>
                <a:cubicBezTo>
                  <a:pt x="0" y="77821"/>
                  <a:pt x="4066" y="81887"/>
                  <a:pt x="9099" y="81887"/>
                </a:cubicBezTo>
                <a:lnTo>
                  <a:pt x="114499" y="81887"/>
                </a:lnTo>
                <a:lnTo>
                  <a:pt x="84531" y="111855"/>
                </a:lnTo>
                <a:cubicBezTo>
                  <a:pt x="80977" y="115409"/>
                  <a:pt x="80977" y="121181"/>
                  <a:pt x="84531" y="124735"/>
                </a:cubicBezTo>
                <a:cubicBezTo>
                  <a:pt x="88085" y="128289"/>
                  <a:pt x="93857" y="128289"/>
                  <a:pt x="97411" y="124735"/>
                </a:cubicBezTo>
                <a:lnTo>
                  <a:pt x="142903" y="7924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773373" y="2884227"/>
            <a:ext cx="304800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zone SGD 300–500</a:t>
            </a:r>
            <a:r>
              <a:rPr lang="en-US" sz="1146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above North/West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7238" y="1153236"/>
            <a:ext cx="382137" cy="436728"/>
          </a:xfrm>
          <a:custGeom>
            <a:avLst/>
            <a:gdLst/>
            <a:ahLst/>
            <a:cxnLst/>
            <a:rect l="l" t="t" r="r" b="b"/>
            <a:pathLst>
              <a:path w="382137" h="436728">
                <a:moveTo>
                  <a:pt x="327546" y="81887"/>
                </a:moveTo>
                <a:lnTo>
                  <a:pt x="327546" y="136478"/>
                </a:lnTo>
                <a:lnTo>
                  <a:pt x="272955" y="136478"/>
                </a:lnTo>
                <a:lnTo>
                  <a:pt x="272955" y="81887"/>
                </a:lnTo>
                <a:lnTo>
                  <a:pt x="327546" y="81887"/>
                </a:lnTo>
                <a:close/>
                <a:moveTo>
                  <a:pt x="327546" y="191069"/>
                </a:moveTo>
                <a:lnTo>
                  <a:pt x="327546" y="245660"/>
                </a:lnTo>
                <a:lnTo>
                  <a:pt x="272955" y="245660"/>
                </a:lnTo>
                <a:lnTo>
                  <a:pt x="272955" y="191069"/>
                </a:lnTo>
                <a:lnTo>
                  <a:pt x="327546" y="191069"/>
                </a:lnTo>
                <a:close/>
                <a:moveTo>
                  <a:pt x="327546" y="300251"/>
                </a:moveTo>
                <a:lnTo>
                  <a:pt x="327546" y="354842"/>
                </a:lnTo>
                <a:lnTo>
                  <a:pt x="272955" y="354842"/>
                </a:lnTo>
                <a:lnTo>
                  <a:pt x="272955" y="300251"/>
                </a:lnTo>
                <a:lnTo>
                  <a:pt x="327546" y="300251"/>
                </a:lnTo>
                <a:close/>
                <a:moveTo>
                  <a:pt x="218364" y="245660"/>
                </a:moveTo>
                <a:lnTo>
                  <a:pt x="163773" y="245660"/>
                </a:lnTo>
                <a:lnTo>
                  <a:pt x="163773" y="191069"/>
                </a:lnTo>
                <a:lnTo>
                  <a:pt x="218364" y="191069"/>
                </a:lnTo>
                <a:lnTo>
                  <a:pt x="218364" y="245660"/>
                </a:lnTo>
                <a:close/>
                <a:moveTo>
                  <a:pt x="163773" y="300251"/>
                </a:moveTo>
                <a:lnTo>
                  <a:pt x="218364" y="300251"/>
                </a:lnTo>
                <a:lnTo>
                  <a:pt x="218364" y="354842"/>
                </a:lnTo>
                <a:lnTo>
                  <a:pt x="163773" y="354842"/>
                </a:lnTo>
                <a:lnTo>
                  <a:pt x="163773" y="300251"/>
                </a:lnTo>
                <a:close/>
                <a:moveTo>
                  <a:pt x="109182" y="245660"/>
                </a:moveTo>
                <a:lnTo>
                  <a:pt x="54591" y="245660"/>
                </a:lnTo>
                <a:lnTo>
                  <a:pt x="54591" y="191069"/>
                </a:lnTo>
                <a:lnTo>
                  <a:pt x="109182" y="191069"/>
                </a:lnTo>
                <a:lnTo>
                  <a:pt x="109182" y="245660"/>
                </a:lnTo>
                <a:close/>
                <a:moveTo>
                  <a:pt x="54591" y="300251"/>
                </a:moveTo>
                <a:lnTo>
                  <a:pt x="109182" y="300251"/>
                </a:lnTo>
                <a:lnTo>
                  <a:pt x="109182" y="354842"/>
                </a:lnTo>
                <a:lnTo>
                  <a:pt x="54591" y="354842"/>
                </a:lnTo>
                <a:lnTo>
                  <a:pt x="54591" y="300251"/>
                </a:lnTo>
                <a:close/>
                <a:moveTo>
                  <a:pt x="54591" y="136478"/>
                </a:moveTo>
                <a:lnTo>
                  <a:pt x="54591" y="81887"/>
                </a:lnTo>
                <a:lnTo>
                  <a:pt x="109182" y="81887"/>
                </a:lnTo>
                <a:lnTo>
                  <a:pt x="109182" y="136478"/>
                </a:lnTo>
                <a:lnTo>
                  <a:pt x="54591" y="136478"/>
                </a:lnTo>
                <a:close/>
                <a:moveTo>
                  <a:pt x="163773" y="136478"/>
                </a:moveTo>
                <a:lnTo>
                  <a:pt x="163773" y="81887"/>
                </a:lnTo>
                <a:lnTo>
                  <a:pt x="218364" y="81887"/>
                </a:lnTo>
                <a:lnTo>
                  <a:pt x="218364" y="136478"/>
                </a:lnTo>
                <a:lnTo>
                  <a:pt x="163773" y="136478"/>
                </a:lnTo>
                <a:close/>
                <a:moveTo>
                  <a:pt x="54591" y="27296"/>
                </a:moveTo>
                <a:cubicBezTo>
                  <a:pt x="24481" y="27296"/>
                  <a:pt x="0" y="51776"/>
                  <a:pt x="0" y="81887"/>
                </a:cubicBezTo>
                <a:lnTo>
                  <a:pt x="0" y="354842"/>
                </a:lnTo>
                <a:cubicBezTo>
                  <a:pt x="0" y="384952"/>
                  <a:pt x="24481" y="409433"/>
                  <a:pt x="54591" y="409433"/>
                </a:cubicBezTo>
                <a:lnTo>
                  <a:pt x="327546" y="409433"/>
                </a:lnTo>
                <a:cubicBezTo>
                  <a:pt x="357657" y="409433"/>
                  <a:pt x="382137" y="384952"/>
                  <a:pt x="382137" y="354842"/>
                </a:cubicBezTo>
                <a:lnTo>
                  <a:pt x="382137" y="81887"/>
                </a:lnTo>
                <a:cubicBezTo>
                  <a:pt x="382137" y="51776"/>
                  <a:pt x="357657" y="27296"/>
                  <a:pt x="327546" y="27296"/>
                </a:cubicBezTo>
                <a:lnTo>
                  <a:pt x="54591" y="27296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6839375" y="1116842"/>
            <a:ext cx="177420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Pearson Correlation Matrix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47972" y="1321889"/>
            <a:ext cx="176511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86868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interrelationships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43650" y="2920621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42903" y="79214"/>
                </a:moveTo>
                <a:cubicBezTo>
                  <a:pt x="146458" y="75660"/>
                  <a:pt x="146458" y="69888"/>
                  <a:pt x="142903" y="66334"/>
                </a:cubicBezTo>
                <a:lnTo>
                  <a:pt x="97411" y="20841"/>
                </a:lnTo>
                <a:cubicBezTo>
                  <a:pt x="93857" y="17287"/>
                  <a:pt x="88085" y="17287"/>
                  <a:pt x="84531" y="20841"/>
                </a:cubicBezTo>
                <a:cubicBezTo>
                  <a:pt x="80977" y="24395"/>
                  <a:pt x="80977" y="30167"/>
                  <a:pt x="84531" y="33721"/>
                </a:cubicBezTo>
                <a:lnTo>
                  <a:pt x="114499" y="63690"/>
                </a:lnTo>
                <a:lnTo>
                  <a:pt x="9099" y="63690"/>
                </a:lnTo>
                <a:cubicBezTo>
                  <a:pt x="4066" y="63690"/>
                  <a:pt x="0" y="67755"/>
                  <a:pt x="0" y="72788"/>
                </a:cubicBezTo>
                <a:cubicBezTo>
                  <a:pt x="0" y="77821"/>
                  <a:pt x="4066" y="81887"/>
                  <a:pt x="9099" y="81887"/>
                </a:cubicBezTo>
                <a:lnTo>
                  <a:pt x="114499" y="81887"/>
                </a:lnTo>
                <a:lnTo>
                  <a:pt x="84531" y="111855"/>
                </a:lnTo>
                <a:cubicBezTo>
                  <a:pt x="80977" y="115409"/>
                  <a:pt x="80977" y="121181"/>
                  <a:pt x="84531" y="124735"/>
                </a:cubicBezTo>
                <a:cubicBezTo>
                  <a:pt x="88085" y="128289"/>
                  <a:pt x="93857" y="128289"/>
                  <a:pt x="97411" y="124735"/>
                </a:cubicBezTo>
                <a:lnTo>
                  <a:pt x="142903" y="7924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580211" y="2884227"/>
            <a:ext cx="295701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Surge dummy strongest</a:t>
            </a:r>
            <a:r>
              <a:rPr lang="en-US" sz="1146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correlation (r ≈ 0.35)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490" y="3407391"/>
            <a:ext cx="5650173" cy="2265528"/>
          </a:xfrm>
          <a:custGeom>
            <a:avLst/>
            <a:gdLst/>
            <a:ahLst/>
            <a:cxnLst/>
            <a:rect l="l" t="t" r="r" b="b"/>
            <a:pathLst>
              <a:path w="5650173" h="2265528">
                <a:moveTo>
                  <a:pt x="145583" y="0"/>
                </a:moveTo>
                <a:lnTo>
                  <a:pt x="5504590" y="0"/>
                </a:lnTo>
                <a:cubicBezTo>
                  <a:pt x="5584993" y="0"/>
                  <a:pt x="5650173" y="65180"/>
                  <a:pt x="5650173" y="145583"/>
                </a:cubicBezTo>
                <a:lnTo>
                  <a:pt x="5650173" y="2119946"/>
                </a:lnTo>
                <a:cubicBezTo>
                  <a:pt x="5650173" y="2200349"/>
                  <a:pt x="5584993" y="2265528"/>
                  <a:pt x="5504590" y="2265528"/>
                </a:cubicBezTo>
                <a:lnTo>
                  <a:pt x="145583" y="2265528"/>
                </a:lnTo>
                <a:cubicBezTo>
                  <a:pt x="65180" y="2265528"/>
                  <a:pt x="0" y="2200349"/>
                  <a:pt x="0" y="2119946"/>
                </a:cubicBezTo>
                <a:lnTo>
                  <a:pt x="0" y="145583"/>
                </a:lnTo>
                <a:cubicBezTo>
                  <a:pt x="0" y="65180"/>
                  <a:pt x="65180" y="0"/>
                  <a:pt x="14558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7296" dist="909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3193577" y="5231642"/>
            <a:ext cx="313898" cy="358741"/>
          </a:xfrm>
          <a:custGeom>
            <a:avLst/>
            <a:gdLst/>
            <a:ahLst/>
            <a:cxnLst/>
            <a:rect l="l" t="t" r="r" b="b"/>
            <a:pathLst>
              <a:path w="382137" h="436728">
                <a:moveTo>
                  <a:pt x="163773" y="109182"/>
                </a:moveTo>
                <a:cubicBezTo>
                  <a:pt x="163773" y="63988"/>
                  <a:pt x="127081" y="27296"/>
                  <a:pt x="81887" y="27296"/>
                </a:cubicBezTo>
                <a:cubicBezTo>
                  <a:pt x="36692" y="27296"/>
                  <a:pt x="0" y="63988"/>
                  <a:pt x="0" y="109182"/>
                </a:cubicBezTo>
                <a:cubicBezTo>
                  <a:pt x="0" y="154377"/>
                  <a:pt x="36692" y="191069"/>
                  <a:pt x="81887" y="191069"/>
                </a:cubicBezTo>
                <a:cubicBezTo>
                  <a:pt x="127081" y="191069"/>
                  <a:pt x="163773" y="154377"/>
                  <a:pt x="163773" y="109182"/>
                </a:cubicBezTo>
                <a:close/>
                <a:moveTo>
                  <a:pt x="382137" y="327546"/>
                </a:moveTo>
                <a:cubicBezTo>
                  <a:pt x="382137" y="282352"/>
                  <a:pt x="345445" y="245660"/>
                  <a:pt x="300251" y="245660"/>
                </a:cubicBezTo>
                <a:cubicBezTo>
                  <a:pt x="255056" y="245660"/>
                  <a:pt x="218364" y="282352"/>
                  <a:pt x="218364" y="327546"/>
                </a:cubicBezTo>
                <a:cubicBezTo>
                  <a:pt x="218364" y="372741"/>
                  <a:pt x="255056" y="409433"/>
                  <a:pt x="300251" y="409433"/>
                </a:cubicBezTo>
                <a:cubicBezTo>
                  <a:pt x="345445" y="409433"/>
                  <a:pt x="382137" y="372741"/>
                  <a:pt x="382137" y="327546"/>
                </a:cubicBezTo>
                <a:close/>
                <a:moveTo>
                  <a:pt x="374119" y="73869"/>
                </a:moveTo>
                <a:cubicBezTo>
                  <a:pt x="384782" y="63206"/>
                  <a:pt x="384782" y="45891"/>
                  <a:pt x="374119" y="35228"/>
                </a:cubicBezTo>
                <a:cubicBezTo>
                  <a:pt x="363457" y="24566"/>
                  <a:pt x="346141" y="24566"/>
                  <a:pt x="335479" y="35228"/>
                </a:cubicBezTo>
                <a:lnTo>
                  <a:pt x="7933" y="362775"/>
                </a:lnTo>
                <a:cubicBezTo>
                  <a:pt x="-2730" y="373437"/>
                  <a:pt x="-2730" y="390752"/>
                  <a:pt x="7933" y="401415"/>
                </a:cubicBezTo>
                <a:cubicBezTo>
                  <a:pt x="18595" y="412077"/>
                  <a:pt x="35911" y="412077"/>
                  <a:pt x="46573" y="401415"/>
                </a:cubicBezTo>
                <a:lnTo>
                  <a:pt x="374119" y="73869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473070" y="5240740"/>
            <a:ext cx="251118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Vacancy by Zone, Room Type &amp; Trend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27829" y="5431809"/>
            <a:ext cx="250209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86868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vacancy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6812" y="5340824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42903" y="79214"/>
                </a:moveTo>
                <a:cubicBezTo>
                  <a:pt x="146458" y="75660"/>
                  <a:pt x="146458" y="69888"/>
                  <a:pt x="142903" y="66334"/>
                </a:cubicBezTo>
                <a:lnTo>
                  <a:pt x="97411" y="20841"/>
                </a:lnTo>
                <a:cubicBezTo>
                  <a:pt x="93857" y="17287"/>
                  <a:pt x="88085" y="17287"/>
                  <a:pt x="84531" y="20841"/>
                </a:cubicBezTo>
                <a:cubicBezTo>
                  <a:pt x="80977" y="24395"/>
                  <a:pt x="80977" y="30167"/>
                  <a:pt x="84531" y="33721"/>
                </a:cubicBezTo>
                <a:lnTo>
                  <a:pt x="114499" y="63690"/>
                </a:lnTo>
                <a:lnTo>
                  <a:pt x="9099" y="63690"/>
                </a:lnTo>
                <a:cubicBezTo>
                  <a:pt x="4066" y="63690"/>
                  <a:pt x="0" y="67755"/>
                  <a:pt x="0" y="72788"/>
                </a:cubicBezTo>
                <a:cubicBezTo>
                  <a:pt x="0" y="77821"/>
                  <a:pt x="4066" y="81887"/>
                  <a:pt x="9099" y="81887"/>
                </a:cubicBezTo>
                <a:lnTo>
                  <a:pt x="114499" y="81887"/>
                </a:lnTo>
                <a:lnTo>
                  <a:pt x="84531" y="111855"/>
                </a:lnTo>
                <a:cubicBezTo>
                  <a:pt x="80977" y="115409"/>
                  <a:pt x="80977" y="121181"/>
                  <a:pt x="84531" y="124735"/>
                </a:cubicBezTo>
                <a:cubicBezTo>
                  <a:pt x="88085" y="128289"/>
                  <a:pt x="93857" y="128289"/>
                  <a:pt x="97411" y="124735"/>
                </a:cubicBezTo>
                <a:lnTo>
                  <a:pt x="142903" y="7924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773373" y="5304430"/>
            <a:ext cx="232921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 vacancy ~28%</a:t>
            </a:r>
            <a:r>
              <a:rPr lang="en-US" sz="1146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Central ~19%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2537" y="3513541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436728" y="81887"/>
                </a:moveTo>
                <a:cubicBezTo>
                  <a:pt x="436728" y="124706"/>
                  <a:pt x="386317" y="188595"/>
                  <a:pt x="364566" y="214099"/>
                </a:cubicBezTo>
                <a:cubicBezTo>
                  <a:pt x="361324" y="217852"/>
                  <a:pt x="356548" y="219302"/>
                  <a:pt x="352198" y="218364"/>
                </a:cubicBezTo>
                <a:lnTo>
                  <a:pt x="272955" y="218364"/>
                </a:lnTo>
                <a:cubicBezTo>
                  <a:pt x="257857" y="218364"/>
                  <a:pt x="245660" y="230562"/>
                  <a:pt x="245660" y="245660"/>
                </a:cubicBezTo>
                <a:cubicBezTo>
                  <a:pt x="245660" y="260758"/>
                  <a:pt x="257857" y="272955"/>
                  <a:pt x="272955" y="272955"/>
                </a:cubicBezTo>
                <a:lnTo>
                  <a:pt x="354842" y="272955"/>
                </a:lnTo>
                <a:cubicBezTo>
                  <a:pt x="400050" y="272955"/>
                  <a:pt x="436728" y="309634"/>
                  <a:pt x="436728" y="354842"/>
                </a:cubicBezTo>
                <a:cubicBezTo>
                  <a:pt x="436728" y="400050"/>
                  <a:pt x="400050" y="436728"/>
                  <a:pt x="354842" y="436728"/>
                </a:cubicBezTo>
                <a:lnTo>
                  <a:pt x="119077" y="436728"/>
                </a:lnTo>
                <a:cubicBezTo>
                  <a:pt x="126498" y="428284"/>
                  <a:pt x="135539" y="417451"/>
                  <a:pt x="144666" y="405339"/>
                </a:cubicBezTo>
                <a:cubicBezTo>
                  <a:pt x="150040" y="398173"/>
                  <a:pt x="155584" y="390326"/>
                  <a:pt x="160873" y="382137"/>
                </a:cubicBezTo>
                <a:lnTo>
                  <a:pt x="354842" y="382137"/>
                </a:lnTo>
                <a:cubicBezTo>
                  <a:pt x="369940" y="382137"/>
                  <a:pt x="382137" y="369940"/>
                  <a:pt x="382137" y="354842"/>
                </a:cubicBezTo>
                <a:cubicBezTo>
                  <a:pt x="382137" y="339744"/>
                  <a:pt x="369940" y="327546"/>
                  <a:pt x="354842" y="327546"/>
                </a:cubicBezTo>
                <a:lnTo>
                  <a:pt x="272955" y="327546"/>
                </a:lnTo>
                <a:cubicBezTo>
                  <a:pt x="227747" y="327546"/>
                  <a:pt x="191069" y="290868"/>
                  <a:pt x="191069" y="245660"/>
                </a:cubicBezTo>
                <a:cubicBezTo>
                  <a:pt x="191069" y="200451"/>
                  <a:pt x="227747" y="163773"/>
                  <a:pt x="272955" y="163773"/>
                </a:cubicBezTo>
                <a:lnTo>
                  <a:pt x="306904" y="163773"/>
                </a:lnTo>
                <a:cubicBezTo>
                  <a:pt x="288991" y="136904"/>
                  <a:pt x="272955" y="106026"/>
                  <a:pt x="272955" y="81887"/>
                </a:cubicBezTo>
                <a:cubicBezTo>
                  <a:pt x="272955" y="36678"/>
                  <a:pt x="309634" y="0"/>
                  <a:pt x="354842" y="0"/>
                </a:cubicBezTo>
                <a:cubicBezTo>
                  <a:pt x="400050" y="0"/>
                  <a:pt x="436728" y="36678"/>
                  <a:pt x="436728" y="81887"/>
                </a:cubicBezTo>
                <a:close/>
                <a:moveTo>
                  <a:pt x="99885" y="417195"/>
                </a:moveTo>
                <a:cubicBezTo>
                  <a:pt x="96643" y="420863"/>
                  <a:pt x="93743" y="424104"/>
                  <a:pt x="91269" y="426834"/>
                </a:cubicBezTo>
                <a:lnTo>
                  <a:pt x="89734" y="428540"/>
                </a:lnTo>
                <a:lnTo>
                  <a:pt x="89563" y="428369"/>
                </a:lnTo>
                <a:cubicBezTo>
                  <a:pt x="84446" y="432293"/>
                  <a:pt x="77110" y="431781"/>
                  <a:pt x="72504" y="426834"/>
                </a:cubicBezTo>
                <a:cubicBezTo>
                  <a:pt x="51009" y="403462"/>
                  <a:pt x="0" y="343326"/>
                  <a:pt x="0" y="300251"/>
                </a:cubicBezTo>
                <a:cubicBezTo>
                  <a:pt x="0" y="255043"/>
                  <a:pt x="36678" y="218364"/>
                  <a:pt x="81887" y="218364"/>
                </a:cubicBezTo>
                <a:cubicBezTo>
                  <a:pt x="127095" y="218364"/>
                  <a:pt x="163773" y="255043"/>
                  <a:pt x="163773" y="300251"/>
                </a:cubicBezTo>
                <a:cubicBezTo>
                  <a:pt x="163773" y="325840"/>
                  <a:pt x="145775" y="357401"/>
                  <a:pt x="126668" y="383758"/>
                </a:cubicBezTo>
                <a:cubicBezTo>
                  <a:pt x="117541" y="396297"/>
                  <a:pt x="108159" y="407642"/>
                  <a:pt x="100396" y="416598"/>
                </a:cubicBezTo>
                <a:lnTo>
                  <a:pt x="99885" y="417195"/>
                </a:lnTo>
                <a:close/>
                <a:moveTo>
                  <a:pt x="109182" y="300251"/>
                </a:moveTo>
                <a:cubicBezTo>
                  <a:pt x="109182" y="285186"/>
                  <a:pt x="96951" y="272955"/>
                  <a:pt x="81887" y="272955"/>
                </a:cubicBezTo>
                <a:cubicBezTo>
                  <a:pt x="66822" y="272955"/>
                  <a:pt x="54591" y="285186"/>
                  <a:pt x="54591" y="300251"/>
                </a:cubicBezTo>
                <a:cubicBezTo>
                  <a:pt x="54591" y="315316"/>
                  <a:pt x="66822" y="327546"/>
                  <a:pt x="81887" y="327546"/>
                </a:cubicBezTo>
                <a:cubicBezTo>
                  <a:pt x="96951" y="327546"/>
                  <a:pt x="109182" y="315316"/>
                  <a:pt x="109182" y="300251"/>
                </a:cubicBezTo>
                <a:close/>
                <a:moveTo>
                  <a:pt x="354842" y="109182"/>
                </a:moveTo>
                <a:cubicBezTo>
                  <a:pt x="369907" y="109182"/>
                  <a:pt x="382137" y="96951"/>
                  <a:pt x="382137" y="81887"/>
                </a:cubicBezTo>
                <a:cubicBezTo>
                  <a:pt x="382137" y="66822"/>
                  <a:pt x="369907" y="54591"/>
                  <a:pt x="354842" y="54591"/>
                </a:cubicBezTo>
                <a:cubicBezTo>
                  <a:pt x="339777" y="54591"/>
                  <a:pt x="327546" y="66822"/>
                  <a:pt x="327546" y="81887"/>
                </a:cubicBezTo>
                <a:cubicBezTo>
                  <a:pt x="327546" y="96951"/>
                  <a:pt x="339777" y="109182"/>
                  <a:pt x="354842" y="109182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6648306" y="3500651"/>
            <a:ext cx="1937982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 Distance vs Rental Price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3144" y="3713328"/>
            <a:ext cx="1928884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86868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 premium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3650" y="5340824"/>
            <a:ext cx="145576" cy="145576"/>
          </a:xfrm>
          <a:custGeom>
            <a:avLst/>
            <a:gdLst/>
            <a:ahLst/>
            <a:cxnLst/>
            <a:rect l="l" t="t" r="r" b="b"/>
            <a:pathLst>
              <a:path w="145576" h="145576">
                <a:moveTo>
                  <a:pt x="142903" y="79214"/>
                </a:moveTo>
                <a:cubicBezTo>
                  <a:pt x="146458" y="75660"/>
                  <a:pt x="146458" y="69888"/>
                  <a:pt x="142903" y="66334"/>
                </a:cubicBezTo>
                <a:lnTo>
                  <a:pt x="97411" y="20841"/>
                </a:lnTo>
                <a:cubicBezTo>
                  <a:pt x="93857" y="17287"/>
                  <a:pt x="88085" y="17287"/>
                  <a:pt x="84531" y="20841"/>
                </a:cubicBezTo>
                <a:cubicBezTo>
                  <a:pt x="80977" y="24395"/>
                  <a:pt x="80977" y="30167"/>
                  <a:pt x="84531" y="33721"/>
                </a:cubicBezTo>
                <a:lnTo>
                  <a:pt x="114499" y="63690"/>
                </a:lnTo>
                <a:lnTo>
                  <a:pt x="9099" y="63690"/>
                </a:lnTo>
                <a:cubicBezTo>
                  <a:pt x="4066" y="63690"/>
                  <a:pt x="0" y="67755"/>
                  <a:pt x="0" y="72788"/>
                </a:cubicBezTo>
                <a:cubicBezTo>
                  <a:pt x="0" y="77821"/>
                  <a:pt x="4066" y="81887"/>
                  <a:pt x="9099" y="81887"/>
                </a:cubicBezTo>
                <a:lnTo>
                  <a:pt x="114499" y="81887"/>
                </a:lnTo>
                <a:lnTo>
                  <a:pt x="84531" y="111855"/>
                </a:lnTo>
                <a:cubicBezTo>
                  <a:pt x="80977" y="115409"/>
                  <a:pt x="80977" y="121181"/>
                  <a:pt x="84531" y="124735"/>
                </a:cubicBezTo>
                <a:cubicBezTo>
                  <a:pt x="88085" y="128289"/>
                  <a:pt x="93857" y="128289"/>
                  <a:pt x="97411" y="124735"/>
                </a:cubicBezTo>
                <a:lnTo>
                  <a:pt x="142903" y="7924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6580211" y="5304430"/>
            <a:ext cx="237471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~SGD 80 discount</a:t>
            </a:r>
            <a:r>
              <a:rPr lang="en-US" sz="1146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 km from MRT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8490" y="5827594"/>
            <a:ext cx="11455021" cy="809767"/>
          </a:xfrm>
          <a:custGeom>
            <a:avLst/>
            <a:gdLst/>
            <a:ahLst/>
            <a:cxnLst/>
            <a:rect l="l" t="t" r="r" b="b"/>
            <a:pathLst>
              <a:path w="11455021" h="809767">
                <a:moveTo>
                  <a:pt x="145580" y="0"/>
                </a:moveTo>
                <a:lnTo>
                  <a:pt x="11309441" y="0"/>
                </a:lnTo>
                <a:cubicBezTo>
                  <a:pt x="11389843" y="0"/>
                  <a:pt x="11455021" y="65178"/>
                  <a:pt x="11455021" y="145580"/>
                </a:cubicBezTo>
                <a:lnTo>
                  <a:pt x="11455021" y="664187"/>
                </a:lnTo>
                <a:cubicBezTo>
                  <a:pt x="11455021" y="744589"/>
                  <a:pt x="11389843" y="809767"/>
                  <a:pt x="11309441" y="809767"/>
                </a:cubicBezTo>
                <a:lnTo>
                  <a:pt x="145580" y="809767"/>
                </a:lnTo>
                <a:cubicBezTo>
                  <a:pt x="65178" y="809767"/>
                  <a:pt x="0" y="744589"/>
                  <a:pt x="0" y="664187"/>
                </a:cubicBezTo>
                <a:lnTo>
                  <a:pt x="0" y="145580"/>
                </a:lnTo>
                <a:cubicBezTo>
                  <a:pt x="0" y="65232"/>
                  <a:pt x="65232" y="0"/>
                  <a:pt x="1455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33"/>
          <p:cNvSpPr/>
          <p:nvPr/>
        </p:nvSpPr>
        <p:spPr>
          <a:xfrm>
            <a:off x="518615" y="6014113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109182" y="0"/>
                </a:moveTo>
                <a:lnTo>
                  <a:pt x="327546" y="0"/>
                </a:lnTo>
                <a:cubicBezTo>
                  <a:pt x="387806" y="0"/>
                  <a:pt x="436728" y="48923"/>
                  <a:pt x="436728" y="109182"/>
                </a:cubicBezTo>
                <a:lnTo>
                  <a:pt x="436728" y="327546"/>
                </a:lnTo>
                <a:cubicBezTo>
                  <a:pt x="436728" y="387806"/>
                  <a:pt x="387806" y="436728"/>
                  <a:pt x="327546" y="436728"/>
                </a:cubicBezTo>
                <a:lnTo>
                  <a:pt x="109182" y="436728"/>
                </a:lnTo>
                <a:cubicBezTo>
                  <a:pt x="48923" y="436728"/>
                  <a:pt x="0" y="387806"/>
                  <a:pt x="0" y="327546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Shape 34"/>
          <p:cNvSpPr/>
          <p:nvPr/>
        </p:nvSpPr>
        <p:spPr>
          <a:xfrm>
            <a:off x="634621" y="6141493"/>
            <a:ext cx="204716" cy="181970"/>
          </a:xfrm>
          <a:custGeom>
            <a:avLst/>
            <a:gdLst/>
            <a:ahLst/>
            <a:cxnLst/>
            <a:rect l="l" t="t" r="r" b="b"/>
            <a:pathLst>
              <a:path w="204716" h="181970">
                <a:moveTo>
                  <a:pt x="102358" y="11373"/>
                </a:moveTo>
                <a:cubicBezTo>
                  <a:pt x="73641" y="11373"/>
                  <a:pt x="50646" y="24452"/>
                  <a:pt x="33906" y="40019"/>
                </a:cubicBezTo>
                <a:cubicBezTo>
                  <a:pt x="17273" y="55480"/>
                  <a:pt x="6149" y="73925"/>
                  <a:pt x="853" y="86614"/>
                </a:cubicBezTo>
                <a:cubicBezTo>
                  <a:pt x="-320" y="89421"/>
                  <a:pt x="-320" y="92549"/>
                  <a:pt x="853" y="95357"/>
                </a:cubicBezTo>
                <a:cubicBezTo>
                  <a:pt x="6149" y="108045"/>
                  <a:pt x="17273" y="126526"/>
                  <a:pt x="33906" y="141951"/>
                </a:cubicBezTo>
                <a:cubicBezTo>
                  <a:pt x="50646" y="157482"/>
                  <a:pt x="73641" y="170597"/>
                  <a:pt x="102358" y="170597"/>
                </a:cubicBezTo>
                <a:cubicBezTo>
                  <a:pt x="131075" y="170597"/>
                  <a:pt x="154070" y="157518"/>
                  <a:pt x="170810" y="141951"/>
                </a:cubicBezTo>
                <a:cubicBezTo>
                  <a:pt x="187443" y="126491"/>
                  <a:pt x="198568" y="108045"/>
                  <a:pt x="203863" y="95357"/>
                </a:cubicBezTo>
                <a:cubicBezTo>
                  <a:pt x="205036" y="92549"/>
                  <a:pt x="205036" y="89421"/>
                  <a:pt x="203863" y="86614"/>
                </a:cubicBezTo>
                <a:cubicBezTo>
                  <a:pt x="198568" y="73925"/>
                  <a:pt x="187443" y="55444"/>
                  <a:pt x="170810" y="40019"/>
                </a:cubicBezTo>
                <a:cubicBezTo>
                  <a:pt x="154070" y="24488"/>
                  <a:pt x="131075" y="11373"/>
                  <a:pt x="102358" y="11373"/>
                </a:cubicBezTo>
                <a:close/>
                <a:moveTo>
                  <a:pt x="51179" y="90985"/>
                </a:moveTo>
                <a:cubicBezTo>
                  <a:pt x="51179" y="62739"/>
                  <a:pt x="74112" y="39806"/>
                  <a:pt x="102358" y="39806"/>
                </a:cubicBezTo>
                <a:cubicBezTo>
                  <a:pt x="130605" y="39806"/>
                  <a:pt x="153537" y="62739"/>
                  <a:pt x="153537" y="90985"/>
                </a:cubicBezTo>
                <a:cubicBezTo>
                  <a:pt x="153537" y="119232"/>
                  <a:pt x="130605" y="142164"/>
                  <a:pt x="102358" y="142164"/>
                </a:cubicBezTo>
                <a:cubicBezTo>
                  <a:pt x="74112" y="142164"/>
                  <a:pt x="51179" y="119232"/>
                  <a:pt x="51179" y="90985"/>
                </a:cubicBezTo>
                <a:close/>
                <a:moveTo>
                  <a:pt x="102358" y="68239"/>
                </a:moveTo>
                <a:cubicBezTo>
                  <a:pt x="102358" y="80785"/>
                  <a:pt x="92158" y="90985"/>
                  <a:pt x="79612" y="90985"/>
                </a:cubicBezTo>
                <a:cubicBezTo>
                  <a:pt x="75525" y="90985"/>
                  <a:pt x="71686" y="89919"/>
                  <a:pt x="68345" y="88000"/>
                </a:cubicBezTo>
                <a:cubicBezTo>
                  <a:pt x="67990" y="91874"/>
                  <a:pt x="68310" y="95854"/>
                  <a:pt x="69376" y="99799"/>
                </a:cubicBezTo>
                <a:cubicBezTo>
                  <a:pt x="74245" y="117996"/>
                  <a:pt x="92975" y="128801"/>
                  <a:pt x="111172" y="123932"/>
                </a:cubicBezTo>
                <a:cubicBezTo>
                  <a:pt x="129369" y="119063"/>
                  <a:pt x="140174" y="100332"/>
                  <a:pt x="135305" y="82135"/>
                </a:cubicBezTo>
                <a:cubicBezTo>
                  <a:pt x="130969" y="65893"/>
                  <a:pt x="115579" y="55551"/>
                  <a:pt x="99373" y="56972"/>
                </a:cubicBezTo>
                <a:cubicBezTo>
                  <a:pt x="101256" y="60278"/>
                  <a:pt x="102358" y="64116"/>
                  <a:pt x="102358" y="6823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1100919" y="5977719"/>
            <a:ext cx="103450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Insight Summary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0919" y="6268872"/>
            <a:ext cx="10335904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visualizations confirm </a:t>
            </a:r>
            <a:r>
              <a:rPr lang="en-US" sz="1146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stratification</a:t>
            </a:r>
            <a:r>
              <a:rPr lang="en-US" sz="1146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146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impact</a:t>
            </a:r>
            <a:r>
              <a:rPr lang="en-US" sz="1146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primary drivers, with MRT proximity providing a continuous spatial gradient for modeling.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6706FF-72D2-75C4-F38A-2400FF0EC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89" y="991444"/>
            <a:ext cx="4203081" cy="17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83F7154-CBF5-95FC-AA5C-706E60803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6" y="3471305"/>
            <a:ext cx="5625437" cy="146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92696" y="476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Exploration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152397" y="0"/>
                </a:moveTo>
                <a:lnTo>
                  <a:pt x="2581278" y="0"/>
                </a:lnTo>
                <a:cubicBezTo>
                  <a:pt x="2665388" y="0"/>
                  <a:pt x="2733675" y="68287"/>
                  <a:pt x="2733675" y="152397"/>
                </a:cubicBezTo>
                <a:lnTo>
                  <a:pt x="2733675" y="923928"/>
                </a:lnTo>
                <a:cubicBezTo>
                  <a:pt x="2733675" y="1008038"/>
                  <a:pt x="2665388" y="1076325"/>
                  <a:pt x="2581278" y="1076325"/>
                </a:cubicBezTo>
                <a:lnTo>
                  <a:pt x="152397" y="1076325"/>
                </a:lnTo>
                <a:cubicBezTo>
                  <a:pt x="68287" y="1076325"/>
                  <a:pt x="0" y="1008038"/>
                  <a:pt x="0" y="923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95300" y="1381125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SGD 1,769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8383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Rental/mo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1363" y="118586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152397" y="0"/>
                </a:moveTo>
                <a:lnTo>
                  <a:pt x="2581278" y="0"/>
                </a:lnTo>
                <a:cubicBezTo>
                  <a:pt x="2665388" y="0"/>
                  <a:pt x="2733675" y="68287"/>
                  <a:pt x="2733675" y="152397"/>
                </a:cubicBezTo>
                <a:lnTo>
                  <a:pt x="2733675" y="923928"/>
                </a:lnTo>
                <a:cubicBezTo>
                  <a:pt x="2733675" y="1008038"/>
                  <a:pt x="2665388" y="1076325"/>
                  <a:pt x="2581278" y="1076325"/>
                </a:cubicBezTo>
                <a:lnTo>
                  <a:pt x="152397" y="1076325"/>
                </a:lnTo>
                <a:cubicBezTo>
                  <a:pt x="68287" y="1076325"/>
                  <a:pt x="0" y="1008038"/>
                  <a:pt x="0" y="923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390900" y="1381125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SGD 608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38525" y="18383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 Dev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6963" y="118586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152397" y="0"/>
                </a:moveTo>
                <a:lnTo>
                  <a:pt x="2581278" y="0"/>
                </a:lnTo>
                <a:cubicBezTo>
                  <a:pt x="2665388" y="0"/>
                  <a:pt x="2733675" y="68287"/>
                  <a:pt x="2733675" y="152397"/>
                </a:cubicBezTo>
                <a:lnTo>
                  <a:pt x="2733675" y="923928"/>
                </a:lnTo>
                <a:cubicBezTo>
                  <a:pt x="2733675" y="1008038"/>
                  <a:pt x="2665388" y="1076325"/>
                  <a:pt x="2581278" y="1076325"/>
                </a:cubicBezTo>
                <a:lnTo>
                  <a:pt x="152397" y="1076325"/>
                </a:lnTo>
                <a:cubicBezTo>
                  <a:pt x="68287" y="1076325"/>
                  <a:pt x="0" y="1008038"/>
                  <a:pt x="0" y="923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286500" y="1381125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23.1%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4125" y="18383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Vacancy Rate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72563" y="118586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152397" y="0"/>
                </a:moveTo>
                <a:lnTo>
                  <a:pt x="2581278" y="0"/>
                </a:lnTo>
                <a:cubicBezTo>
                  <a:pt x="2665388" y="0"/>
                  <a:pt x="2733675" y="68287"/>
                  <a:pt x="2733675" y="152397"/>
                </a:cubicBezTo>
                <a:lnTo>
                  <a:pt x="2733675" y="923928"/>
                </a:lnTo>
                <a:cubicBezTo>
                  <a:pt x="2733675" y="1008038"/>
                  <a:pt x="2665388" y="1076325"/>
                  <a:pt x="2581278" y="1076325"/>
                </a:cubicBezTo>
                <a:lnTo>
                  <a:pt x="152397" y="1076325"/>
                </a:lnTo>
                <a:cubicBezTo>
                  <a:pt x="68287" y="1076325"/>
                  <a:pt x="0" y="1008038"/>
                  <a:pt x="0" y="923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9182100" y="1381125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29725" y="18383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Skewness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2462213"/>
            <a:ext cx="5610225" cy="4010025"/>
          </a:xfrm>
          <a:custGeom>
            <a:avLst/>
            <a:gdLst/>
            <a:ahLst/>
            <a:cxnLst/>
            <a:rect l="l" t="t" r="r" b="b"/>
            <a:pathLst>
              <a:path w="5610225" h="4010025">
                <a:moveTo>
                  <a:pt x="152381" y="0"/>
                </a:moveTo>
                <a:lnTo>
                  <a:pt x="5457844" y="0"/>
                </a:lnTo>
                <a:cubicBezTo>
                  <a:pt x="5542002" y="0"/>
                  <a:pt x="5610225" y="68223"/>
                  <a:pt x="5610225" y="152381"/>
                </a:cubicBezTo>
                <a:lnTo>
                  <a:pt x="5610225" y="3857644"/>
                </a:lnTo>
                <a:cubicBezTo>
                  <a:pt x="5610225" y="3941802"/>
                  <a:pt x="5542002" y="4010025"/>
                  <a:pt x="5457844" y="4010025"/>
                </a:cubicBezTo>
                <a:lnTo>
                  <a:pt x="152381" y="4010025"/>
                </a:lnTo>
                <a:cubicBezTo>
                  <a:pt x="68223" y="4010025"/>
                  <a:pt x="0" y="3941802"/>
                  <a:pt x="0" y="3857644"/>
                </a:cubicBezTo>
                <a:lnTo>
                  <a:pt x="0" y="152381"/>
                </a:lnTo>
                <a:cubicBezTo>
                  <a:pt x="0" y="68280"/>
                  <a:pt x="68280" y="0"/>
                  <a:pt x="15238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628650" y="26955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819150" y="265747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→ Modelling Decisions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30765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685798"/>
                </a:lnTo>
                <a:cubicBezTo>
                  <a:pt x="5219700" y="748883"/>
                  <a:pt x="5168483" y="800100"/>
                  <a:pt x="51053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733425" y="3267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809625" y="3343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1152525" y="3228975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Slight right skew (0.25)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2525" y="3495675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Log-transform not needed; tree models handle natively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1025" y="39909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685798"/>
                </a:lnTo>
                <a:cubicBezTo>
                  <a:pt x="5219700" y="748883"/>
                  <a:pt x="5168483" y="800100"/>
                  <a:pt x="51053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733425" y="4181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828675" y="4257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1152525" y="4143375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zone premium SGD 300–500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2525" y="4410075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Zone encoded as OHE categorical feature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1025" y="49053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685798"/>
                </a:lnTo>
                <a:cubicBezTo>
                  <a:pt x="5219700" y="748883"/>
                  <a:pt x="5168483" y="800100"/>
                  <a:pt x="51053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733425" y="50958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828675" y="51720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28575"/>
                </a:moveTo>
                <a:cubicBezTo>
                  <a:pt x="0" y="12799"/>
                  <a:pt x="12799" y="0"/>
                  <a:pt x="28575" y="0"/>
                </a:cubicBezTo>
                <a:lnTo>
                  <a:pt x="85725" y="0"/>
                </a:lnTo>
                <a:cubicBezTo>
                  <a:pt x="101501" y="0"/>
                  <a:pt x="114300" y="12799"/>
                  <a:pt x="114300" y="28575"/>
                </a:cubicBezTo>
                <a:lnTo>
                  <a:pt x="114300" y="104775"/>
                </a:lnTo>
                <a:cubicBezTo>
                  <a:pt x="114300" y="116711"/>
                  <a:pt x="106978" y="126950"/>
                  <a:pt x="96589" y="131207"/>
                </a:cubicBezTo>
                <a:lnTo>
                  <a:pt x="112633" y="150168"/>
                </a:lnTo>
                <a:cubicBezTo>
                  <a:pt x="115193" y="153174"/>
                  <a:pt x="114806" y="157698"/>
                  <a:pt x="111800" y="160228"/>
                </a:cubicBezTo>
                <a:cubicBezTo>
                  <a:pt x="108793" y="162758"/>
                  <a:pt x="104269" y="162401"/>
                  <a:pt x="101739" y="159395"/>
                </a:cubicBezTo>
                <a:lnTo>
                  <a:pt x="79712" y="133350"/>
                </a:lnTo>
                <a:lnTo>
                  <a:pt x="34677" y="133350"/>
                </a:lnTo>
                <a:lnTo>
                  <a:pt x="12650" y="159395"/>
                </a:lnTo>
                <a:cubicBezTo>
                  <a:pt x="10091" y="162401"/>
                  <a:pt x="5596" y="162788"/>
                  <a:pt x="2590" y="160228"/>
                </a:cubicBezTo>
                <a:cubicBezTo>
                  <a:pt x="-417" y="157669"/>
                  <a:pt x="-804" y="153174"/>
                  <a:pt x="1756" y="150168"/>
                </a:cubicBezTo>
                <a:lnTo>
                  <a:pt x="17800" y="131207"/>
                </a:lnTo>
                <a:cubicBezTo>
                  <a:pt x="7322" y="126950"/>
                  <a:pt x="0" y="116711"/>
                  <a:pt x="0" y="104775"/>
                </a:cubicBezTo>
                <a:lnTo>
                  <a:pt x="0" y="28575"/>
                </a:lnTo>
                <a:close/>
                <a:moveTo>
                  <a:pt x="19050" y="38100"/>
                </a:moveTo>
                <a:lnTo>
                  <a:pt x="19050" y="66675"/>
                </a:lnTo>
                <a:cubicBezTo>
                  <a:pt x="19050" y="71944"/>
                  <a:pt x="23306" y="76200"/>
                  <a:pt x="28575" y="76200"/>
                </a:cubicBezTo>
                <a:lnTo>
                  <a:pt x="50006" y="76200"/>
                </a:lnTo>
                <a:lnTo>
                  <a:pt x="50006" y="28575"/>
                </a:lnTo>
                <a:lnTo>
                  <a:pt x="28575" y="28575"/>
                </a:lnTo>
                <a:cubicBezTo>
                  <a:pt x="23306" y="28575"/>
                  <a:pt x="19050" y="32831"/>
                  <a:pt x="19050" y="38100"/>
                </a:cubicBezTo>
                <a:close/>
                <a:moveTo>
                  <a:pt x="64294" y="76200"/>
                </a:moveTo>
                <a:lnTo>
                  <a:pt x="85725" y="76200"/>
                </a:lnTo>
                <a:cubicBezTo>
                  <a:pt x="90994" y="76200"/>
                  <a:pt x="95250" y="71944"/>
                  <a:pt x="95250" y="66675"/>
                </a:cubicBezTo>
                <a:lnTo>
                  <a:pt x="95250" y="38100"/>
                </a:lnTo>
                <a:cubicBezTo>
                  <a:pt x="95250" y="32831"/>
                  <a:pt x="90994" y="28575"/>
                  <a:pt x="85725" y="28575"/>
                </a:cubicBezTo>
                <a:lnTo>
                  <a:pt x="64294" y="28575"/>
                </a:lnTo>
                <a:lnTo>
                  <a:pt x="64294" y="76200"/>
                </a:lnTo>
                <a:close/>
                <a:moveTo>
                  <a:pt x="28575" y="114300"/>
                </a:moveTo>
                <a:cubicBezTo>
                  <a:pt x="33832" y="114300"/>
                  <a:pt x="38100" y="110032"/>
                  <a:pt x="38100" y="104775"/>
                </a:cubicBez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lose/>
                <a:moveTo>
                  <a:pt x="95250" y="104775"/>
                </a:moveTo>
                <a:cubicBezTo>
                  <a:pt x="95250" y="99518"/>
                  <a:pt x="90982" y="95250"/>
                  <a:pt x="85725" y="95250"/>
                </a:cubicBezTo>
                <a:cubicBezTo>
                  <a:pt x="80468" y="95250"/>
                  <a:pt x="76200" y="99518"/>
                  <a:pt x="76200" y="104775"/>
                </a:cubicBezTo>
                <a:cubicBezTo>
                  <a:pt x="76200" y="110032"/>
                  <a:pt x="80468" y="114300"/>
                  <a:pt x="85725" y="114300"/>
                </a:cubicBezTo>
                <a:cubicBezTo>
                  <a:pt x="90982" y="114300"/>
                  <a:pt x="95250" y="110032"/>
                  <a:pt x="95250" y="104775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1152525" y="505777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MRT: ~SGD 80 discount per km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2525" y="532447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mrt_dist_km included as key continuous predictor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013" y="2462213"/>
            <a:ext cx="5610225" cy="2352675"/>
          </a:xfrm>
          <a:custGeom>
            <a:avLst/>
            <a:gdLst/>
            <a:ahLst/>
            <a:cxnLst/>
            <a:rect l="l" t="t" r="r" b="b"/>
            <a:pathLst>
              <a:path w="5610225" h="2352675">
                <a:moveTo>
                  <a:pt x="152406" y="0"/>
                </a:moveTo>
                <a:lnTo>
                  <a:pt x="5457819" y="0"/>
                </a:lnTo>
                <a:cubicBezTo>
                  <a:pt x="5541934" y="0"/>
                  <a:pt x="5610225" y="68291"/>
                  <a:pt x="5610225" y="152406"/>
                </a:cubicBezTo>
                <a:lnTo>
                  <a:pt x="5610225" y="2200269"/>
                </a:lnTo>
                <a:cubicBezTo>
                  <a:pt x="5610225" y="2284384"/>
                  <a:pt x="5541934" y="2352675"/>
                  <a:pt x="5457819" y="2352675"/>
                </a:cubicBezTo>
                <a:lnTo>
                  <a:pt x="152406" y="2352675"/>
                </a:lnTo>
                <a:cubicBezTo>
                  <a:pt x="68291" y="2352675"/>
                  <a:pt x="0" y="2284384"/>
                  <a:pt x="0" y="22002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Shape 35"/>
          <p:cNvSpPr/>
          <p:nvPr/>
        </p:nvSpPr>
        <p:spPr>
          <a:xfrm>
            <a:off x="6391275" y="26574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685798"/>
                </a:lnTo>
                <a:cubicBezTo>
                  <a:pt x="5219700" y="748883"/>
                  <a:pt x="5168483" y="800100"/>
                  <a:pt x="51053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8" name="Shape 36"/>
          <p:cNvSpPr/>
          <p:nvPr/>
        </p:nvSpPr>
        <p:spPr>
          <a:xfrm>
            <a:off x="6543675" y="2847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E9A00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9" name="Shape 37"/>
          <p:cNvSpPr/>
          <p:nvPr/>
        </p:nvSpPr>
        <p:spPr>
          <a:xfrm>
            <a:off x="6619875" y="2924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171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962775" y="280987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23.1% vacancy → class imbalance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2775" y="307657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AUC used over accuracy; F1 per class reported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275" y="35718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685798"/>
                </a:lnTo>
                <a:cubicBezTo>
                  <a:pt x="5219700" y="748883"/>
                  <a:pt x="5168483" y="800100"/>
                  <a:pt x="51053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3" name="Shape 41"/>
          <p:cNvSpPr/>
          <p:nvPr/>
        </p:nvSpPr>
        <p:spPr>
          <a:xfrm>
            <a:off x="6543675" y="3762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4" name="Shape 42"/>
          <p:cNvSpPr/>
          <p:nvPr/>
        </p:nvSpPr>
        <p:spPr>
          <a:xfrm>
            <a:off x="6610350" y="3838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6962775" y="372427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dummies shift price visibly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62775" y="3990975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All five dummies validated as binary features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4972050"/>
            <a:ext cx="5619750" cy="1504950"/>
          </a:xfrm>
          <a:custGeom>
            <a:avLst/>
            <a:gdLst/>
            <a:ahLst/>
            <a:cxnLst/>
            <a:rect l="l" t="t" r="r" b="b"/>
            <a:pathLst>
              <a:path w="5619750" h="1504950">
                <a:moveTo>
                  <a:pt x="152406" y="0"/>
                </a:moveTo>
                <a:lnTo>
                  <a:pt x="5467344" y="0"/>
                </a:lnTo>
                <a:cubicBezTo>
                  <a:pt x="5551459" y="0"/>
                  <a:pt x="5619750" y="68291"/>
                  <a:pt x="5619750" y="152406"/>
                </a:cubicBezTo>
                <a:lnTo>
                  <a:pt x="5619750" y="1352544"/>
                </a:lnTo>
                <a:cubicBezTo>
                  <a:pt x="5619750" y="1436659"/>
                  <a:pt x="5551459" y="1504950"/>
                  <a:pt x="5467344" y="1504950"/>
                </a:cubicBezTo>
                <a:lnTo>
                  <a:pt x="152406" y="1504950"/>
                </a:lnTo>
                <a:cubicBezTo>
                  <a:pt x="68291" y="1504950"/>
                  <a:pt x="0" y="1436659"/>
                  <a:pt x="0" y="13525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6381750" y="5162550"/>
            <a:ext cx="532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750" y="554355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EDA revealed that </a:t>
            </a: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factors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(zone, MRT proximity) and </a:t>
            </a: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policy effects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the strongest predictors, guiding our feature engineering strategy.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67395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Preparation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85763" y="1033462"/>
            <a:ext cx="11420475" cy="1876425"/>
          </a:xfrm>
          <a:custGeom>
            <a:avLst/>
            <a:gdLst/>
            <a:ahLst/>
            <a:cxnLst/>
            <a:rect l="l" t="t" r="r" b="b"/>
            <a:pathLst>
              <a:path w="11420475" h="1876425">
                <a:moveTo>
                  <a:pt x="152403" y="0"/>
                </a:moveTo>
                <a:lnTo>
                  <a:pt x="11268072" y="0"/>
                </a:lnTo>
                <a:cubicBezTo>
                  <a:pt x="11352242" y="0"/>
                  <a:pt x="11420475" y="68233"/>
                  <a:pt x="11420475" y="152403"/>
                </a:cubicBezTo>
                <a:lnTo>
                  <a:pt x="11420475" y="1724022"/>
                </a:lnTo>
                <a:cubicBezTo>
                  <a:pt x="11420475" y="1808192"/>
                  <a:pt x="11352242" y="1876425"/>
                  <a:pt x="11268072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542925" y="1323975"/>
            <a:ext cx="371475" cy="457200"/>
          </a:xfrm>
          <a:custGeom>
            <a:avLst/>
            <a:gdLst/>
            <a:ahLst/>
            <a:cxnLst/>
            <a:rect l="l" t="t" r="r" b="b"/>
            <a:pathLst>
              <a:path w="371475" h="457200">
                <a:moveTo>
                  <a:pt x="114299" y="0"/>
                </a:moveTo>
                <a:lnTo>
                  <a:pt x="257176" y="0"/>
                </a:lnTo>
                <a:cubicBezTo>
                  <a:pt x="320302" y="0"/>
                  <a:pt x="371475" y="51173"/>
                  <a:pt x="371475" y="114299"/>
                </a:cubicBezTo>
                <a:lnTo>
                  <a:pt x="371475" y="342901"/>
                </a:lnTo>
                <a:cubicBezTo>
                  <a:pt x="371475" y="406027"/>
                  <a:pt x="320302" y="457200"/>
                  <a:pt x="257176" y="457200"/>
                </a:cubicBezTo>
                <a:lnTo>
                  <a:pt x="114299" y="457200"/>
                </a:lnTo>
                <a:cubicBezTo>
                  <a:pt x="51173" y="457200"/>
                  <a:pt x="0" y="406027"/>
                  <a:pt x="0" y="3429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88181" y="141922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3938" y="119062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3938" y="1457325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missing values • Dedup: composite key • Fuzzy address match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12692" y="1457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4704755" y="1323975"/>
            <a:ext cx="361950" cy="457200"/>
          </a:xfrm>
          <a:custGeom>
            <a:avLst/>
            <a:gdLst/>
            <a:ahLst/>
            <a:cxnLst/>
            <a:rect l="l" t="t" r="r" b="b"/>
            <a:pathLst>
              <a:path w="361950" h="457200">
                <a:moveTo>
                  <a:pt x="114300" y="0"/>
                </a:moveTo>
                <a:lnTo>
                  <a:pt x="247650" y="0"/>
                </a:lnTo>
                <a:cubicBezTo>
                  <a:pt x="310734" y="0"/>
                  <a:pt x="361950" y="51216"/>
                  <a:pt x="361950" y="114300"/>
                </a:cubicBezTo>
                <a:lnTo>
                  <a:pt x="361950" y="342900"/>
                </a:lnTo>
                <a:cubicBezTo>
                  <a:pt x="361950" y="406026"/>
                  <a:pt x="310776" y="457200"/>
                  <a:pt x="24765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832524" y="14192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85395" y="1190625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85395" y="1457325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mrt_dist_km • neighborhood_demand • lag_occupancy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11579" y="1457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8303642" y="1323975"/>
            <a:ext cx="361950" cy="457200"/>
          </a:xfrm>
          <a:custGeom>
            <a:avLst/>
            <a:gdLst/>
            <a:ahLst/>
            <a:cxnLst/>
            <a:rect l="l" t="t" r="r" b="b"/>
            <a:pathLst>
              <a:path w="361950" h="457200">
                <a:moveTo>
                  <a:pt x="114300" y="0"/>
                </a:moveTo>
                <a:lnTo>
                  <a:pt x="247650" y="0"/>
                </a:lnTo>
                <a:cubicBezTo>
                  <a:pt x="310734" y="0"/>
                  <a:pt x="361950" y="51216"/>
                  <a:pt x="361950" y="114300"/>
                </a:cubicBezTo>
                <a:lnTo>
                  <a:pt x="361950" y="342900"/>
                </a:lnTo>
                <a:cubicBezTo>
                  <a:pt x="361950" y="406026"/>
                  <a:pt x="310776" y="457200"/>
                  <a:pt x="24765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430518" y="14192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84208" y="1190625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84208" y="1457325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policy dummies • OHE: room_type, zone, lease_type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24563" y="19907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2405435" y="2276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2577926" y="23717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76935" y="2257425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76935" y="25241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MinMaxScaler all numeric → [0,1]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51661" y="2409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1D1D1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6070774" y="2276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6244456" y="23717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42274" y="2257425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42274" y="2524125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Temporal: Train 2021–23 • Test 2024 (holdout)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3071813"/>
            <a:ext cx="5629275" cy="3438525"/>
          </a:xfrm>
          <a:custGeom>
            <a:avLst/>
            <a:gdLst/>
            <a:ahLst/>
            <a:cxnLst/>
            <a:rect l="l" t="t" r="r" b="b"/>
            <a:pathLst>
              <a:path w="5629275" h="3438525">
                <a:moveTo>
                  <a:pt x="152395" y="0"/>
                </a:moveTo>
                <a:lnTo>
                  <a:pt x="5476880" y="0"/>
                </a:lnTo>
                <a:cubicBezTo>
                  <a:pt x="5560989" y="0"/>
                  <a:pt x="5629275" y="68286"/>
                  <a:pt x="5629275" y="152395"/>
                </a:cubicBezTo>
                <a:lnTo>
                  <a:pt x="5629275" y="3286130"/>
                </a:lnTo>
                <a:cubicBezTo>
                  <a:pt x="5629275" y="3370239"/>
                  <a:pt x="5560989" y="3438525"/>
                  <a:pt x="5476880" y="3438525"/>
                </a:cubicBezTo>
                <a:lnTo>
                  <a:pt x="152395" y="3438525"/>
                </a:lnTo>
                <a:cubicBezTo>
                  <a:pt x="68286" y="3438525"/>
                  <a:pt x="0" y="3370239"/>
                  <a:pt x="0" y="328613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566738" y="3267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781050" y="322897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Taxonomy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2925" y="36099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619125" y="36861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mrt_dist_km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573039" y="3686175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114300" y="0"/>
                </a:moveTo>
                <a:lnTo>
                  <a:pt x="542925" y="0"/>
                </a:lnTo>
                <a:cubicBezTo>
                  <a:pt x="606009" y="0"/>
                  <a:pt x="657225" y="51216"/>
                  <a:pt x="657225" y="114300"/>
                </a:cubicBezTo>
                <a:lnTo>
                  <a:pt x="657225" y="114300"/>
                </a:lnTo>
                <a:cubicBezTo>
                  <a:pt x="657225" y="177384"/>
                  <a:pt x="606009" y="228600"/>
                  <a:pt x="5429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1573039" y="3686175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47752" y="3686175"/>
            <a:ext cx="240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Haversine distance to nearest MRT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2925" y="40671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19125" y="4143375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neighborhood_demand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294186" y="4143375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114300" y="0"/>
                </a:moveTo>
                <a:lnTo>
                  <a:pt x="542925" y="0"/>
                </a:lnTo>
                <a:cubicBezTo>
                  <a:pt x="606009" y="0"/>
                  <a:pt x="657225" y="51216"/>
                  <a:pt x="657225" y="114300"/>
                </a:cubicBezTo>
                <a:lnTo>
                  <a:pt x="657225" y="114300"/>
                </a:lnTo>
                <a:cubicBezTo>
                  <a:pt x="657225" y="177384"/>
                  <a:pt x="606009" y="228600"/>
                  <a:pt x="5429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2294186" y="4143375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977902" y="4143375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transactions per area/month (0–100)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2925" y="45243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619125" y="460057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lag_occupancy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749028" y="4600575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114300" y="0"/>
                </a:moveTo>
                <a:lnTo>
                  <a:pt x="542925" y="0"/>
                </a:lnTo>
                <a:cubicBezTo>
                  <a:pt x="606009" y="0"/>
                  <a:pt x="657225" y="51216"/>
                  <a:pt x="657225" y="114300"/>
                </a:cubicBezTo>
                <a:lnTo>
                  <a:pt x="657225" y="114300"/>
                </a:lnTo>
                <a:cubicBezTo>
                  <a:pt x="657225" y="177384"/>
                  <a:pt x="606009" y="228600"/>
                  <a:pt x="5429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1749028" y="4600575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054474" y="460057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Prior-month occupancy (autoregressive)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2925" y="49815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619125" y="505777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amenity_score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721346" y="5057775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114300" y="0"/>
                </a:moveTo>
                <a:lnTo>
                  <a:pt x="542925" y="0"/>
                </a:lnTo>
                <a:cubicBezTo>
                  <a:pt x="606009" y="0"/>
                  <a:pt x="657225" y="51216"/>
                  <a:pt x="657225" y="114300"/>
                </a:cubicBezTo>
                <a:lnTo>
                  <a:pt x="657225" y="114300"/>
                </a:lnTo>
                <a:cubicBezTo>
                  <a:pt x="657225" y="177384"/>
                  <a:pt x="606009" y="228600"/>
                  <a:pt x="5429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1721346" y="5057775"/>
            <a:ext cx="7239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Numeric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777160" y="5057775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n_amenities / 7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2925" y="54387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619125" y="55149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policy dummies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909688" y="5514975"/>
            <a:ext cx="523875" cy="228600"/>
          </a:xfrm>
          <a:custGeom>
            <a:avLst/>
            <a:gdLst/>
            <a:ahLst/>
            <a:cxnLst/>
            <a:rect l="l" t="t" r="r" b="b"/>
            <a:pathLst>
              <a:path w="523875" h="228600">
                <a:moveTo>
                  <a:pt x="114300" y="0"/>
                </a:moveTo>
                <a:lnTo>
                  <a:pt x="409575" y="0"/>
                </a:lnTo>
                <a:cubicBezTo>
                  <a:pt x="472659" y="0"/>
                  <a:pt x="523875" y="51216"/>
                  <a:pt x="523875" y="114300"/>
                </a:cubicBezTo>
                <a:lnTo>
                  <a:pt x="523875" y="114300"/>
                </a:lnTo>
                <a:cubicBezTo>
                  <a:pt x="523875" y="177384"/>
                  <a:pt x="472659" y="228600"/>
                  <a:pt x="4095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1909688" y="5514975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306514" y="5514975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Coded from MND/URA circular dates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42925" y="5895975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0" name="Text 58"/>
          <p:cNvSpPr/>
          <p:nvPr/>
        </p:nvSpPr>
        <p:spPr>
          <a:xfrm>
            <a:off x="619125" y="597217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room_type, zone, lease_type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636490" y="5972175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114300" y="0"/>
                </a:moveTo>
                <a:lnTo>
                  <a:pt x="314325" y="0"/>
                </a:lnTo>
                <a:cubicBezTo>
                  <a:pt x="377409" y="0"/>
                  <a:pt x="428625" y="51216"/>
                  <a:pt x="428625" y="114300"/>
                </a:cubicBezTo>
                <a:lnTo>
                  <a:pt x="428625" y="114300"/>
                </a:lnTo>
                <a:cubicBezTo>
                  <a:pt x="428625" y="177384"/>
                  <a:pt x="377409" y="228600"/>
                  <a:pt x="3143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D1D1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2" name="Text 60"/>
          <p:cNvSpPr/>
          <p:nvPr/>
        </p:nvSpPr>
        <p:spPr>
          <a:xfrm>
            <a:off x="2636490" y="5972175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OHE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813274" y="5972175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One-hot encoded, drop='first'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72200" y="3067050"/>
            <a:ext cx="5638800" cy="2324100"/>
          </a:xfrm>
          <a:custGeom>
            <a:avLst/>
            <a:gdLst/>
            <a:ahLst/>
            <a:cxnLst/>
            <a:rect l="l" t="t" r="r" b="b"/>
            <a:pathLst>
              <a:path w="5638800" h="2324100">
                <a:moveTo>
                  <a:pt x="152391" y="0"/>
                </a:moveTo>
                <a:lnTo>
                  <a:pt x="5486409" y="0"/>
                </a:lnTo>
                <a:cubicBezTo>
                  <a:pt x="5570572" y="0"/>
                  <a:pt x="5638800" y="68228"/>
                  <a:pt x="5638800" y="152391"/>
                </a:cubicBezTo>
                <a:lnTo>
                  <a:pt x="5638800" y="2171709"/>
                </a:lnTo>
                <a:cubicBezTo>
                  <a:pt x="5638800" y="2255872"/>
                  <a:pt x="5570572" y="2324100"/>
                  <a:pt x="54864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5" name="Shape 63"/>
          <p:cNvSpPr/>
          <p:nvPr/>
        </p:nvSpPr>
        <p:spPr>
          <a:xfrm>
            <a:off x="6348413" y="3257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6" name="Text 64"/>
          <p:cNvSpPr/>
          <p:nvPr/>
        </p:nvSpPr>
        <p:spPr>
          <a:xfrm>
            <a:off x="6562725" y="321945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Split Strategy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4600" y="360045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114300" y="0"/>
                </a:moveTo>
                <a:lnTo>
                  <a:pt x="5219700" y="0"/>
                </a:lnTo>
                <a:cubicBezTo>
                  <a:pt x="5282784" y="0"/>
                  <a:pt x="5334000" y="51216"/>
                  <a:pt x="5334000" y="114300"/>
                </a:cubicBezTo>
                <a:lnTo>
                  <a:pt x="5334000" y="647700"/>
                </a:lnTo>
                <a:cubicBezTo>
                  <a:pt x="5334000" y="710784"/>
                  <a:pt x="5282784" y="762000"/>
                  <a:pt x="5219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8" name="Text 66"/>
          <p:cNvSpPr/>
          <p:nvPr/>
        </p:nvSpPr>
        <p:spPr>
          <a:xfrm>
            <a:off x="6438900" y="37338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Set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011793" y="37147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69.5%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38900" y="401955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2021–2023 | n = 3,493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24600" y="447675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114300" y="0"/>
                </a:moveTo>
                <a:lnTo>
                  <a:pt x="5219700" y="0"/>
                </a:lnTo>
                <a:cubicBezTo>
                  <a:pt x="5282784" y="0"/>
                  <a:pt x="5334000" y="51216"/>
                  <a:pt x="5334000" y="114300"/>
                </a:cubicBezTo>
                <a:lnTo>
                  <a:pt x="5334000" y="647700"/>
                </a:lnTo>
                <a:cubicBezTo>
                  <a:pt x="5334000" y="710784"/>
                  <a:pt x="5282784" y="762000"/>
                  <a:pt x="5219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2" name="Text 70"/>
          <p:cNvSpPr/>
          <p:nvPr/>
        </p:nvSpPr>
        <p:spPr>
          <a:xfrm>
            <a:off x="6438900" y="461010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005691" y="4591050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30.5%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438900" y="489585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only | n = 1,534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76963" y="554831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BEB"/>
          </a:solidFill>
          <a:ln w="12700">
            <a:solidFill>
              <a:srgbClr val="FEE68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6" name="Shape 74"/>
          <p:cNvSpPr/>
          <p:nvPr/>
        </p:nvSpPr>
        <p:spPr>
          <a:xfrm>
            <a:off x="6310313" y="5686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E171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7" name="Text 75"/>
          <p:cNvSpPr/>
          <p:nvPr/>
        </p:nvSpPr>
        <p:spPr>
          <a:xfrm>
            <a:off x="6612954" y="5667375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73C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Split — Not Random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12954" y="5934075"/>
            <a:ext cx="515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B4D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Avoids data leakage from future into training, ensuring realistic model evaluation.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65534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58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Price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5-Fold CV + Held-Out 2024 Test 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338263"/>
            <a:ext cx="6791325" cy="5133975"/>
          </a:xfrm>
          <a:custGeom>
            <a:avLst/>
            <a:gdLst/>
            <a:ahLst/>
            <a:cxnLst/>
            <a:rect l="l" t="t" r="r" b="b"/>
            <a:pathLst>
              <a:path w="6791325" h="5133975">
                <a:moveTo>
                  <a:pt x="152376" y="0"/>
                </a:moveTo>
                <a:lnTo>
                  <a:pt x="6638949" y="0"/>
                </a:lnTo>
                <a:cubicBezTo>
                  <a:pt x="6723104" y="0"/>
                  <a:pt x="6791325" y="68221"/>
                  <a:pt x="6791325" y="152376"/>
                </a:cubicBezTo>
                <a:lnTo>
                  <a:pt x="6791325" y="4981599"/>
                </a:lnTo>
                <a:cubicBezTo>
                  <a:pt x="6791325" y="5065754"/>
                  <a:pt x="6723104" y="5133975"/>
                  <a:pt x="6638949" y="5133975"/>
                </a:cubicBezTo>
                <a:lnTo>
                  <a:pt x="152376" y="5133975"/>
                </a:lnTo>
                <a:cubicBezTo>
                  <a:pt x="68221" y="5133975"/>
                  <a:pt x="0" y="5065754"/>
                  <a:pt x="0" y="4981599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42925" y="149542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47888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  <a:lnTo>
                  <a:pt x="6477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542925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19424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RMSE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29260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RMSE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9171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R²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49007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MAE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2228850"/>
            <a:ext cx="6477000" cy="381000"/>
          </a:xfrm>
          <a:custGeom>
            <a:avLst/>
            <a:gdLst/>
            <a:ahLst/>
            <a:cxnLst/>
            <a:rect l="l" t="t" r="r" b="b"/>
            <a:pathLst>
              <a:path w="6477000" h="3810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304800"/>
                </a:lnTo>
                <a:cubicBezTo>
                  <a:pt x="6477000" y="346856"/>
                  <a:pt x="6442856" y="381000"/>
                  <a:pt x="640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619125" y="2305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60352" y="2305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136.0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39753" y="2305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363.4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9154" y="2305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0.634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98554" y="2305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335.3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2686050"/>
            <a:ext cx="6477000" cy="381000"/>
          </a:xfrm>
          <a:custGeom>
            <a:avLst/>
            <a:gdLst/>
            <a:ahLst/>
            <a:cxnLst/>
            <a:rect l="l" t="t" r="r" b="b"/>
            <a:pathLst>
              <a:path w="6477000" h="3810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304800"/>
                </a:lnTo>
                <a:cubicBezTo>
                  <a:pt x="6477000" y="346856"/>
                  <a:pt x="6442856" y="381000"/>
                  <a:pt x="640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619125" y="2762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Ridge (α=10)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60352" y="2762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141.4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39753" y="2762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350.0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19154" y="2762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0.660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98554" y="2762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317.7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2925" y="3143250"/>
            <a:ext cx="6477000" cy="609600"/>
          </a:xfrm>
          <a:custGeom>
            <a:avLst/>
            <a:gdLst/>
            <a:ahLst/>
            <a:cxnLst/>
            <a:rect l="l" t="t" r="r" b="b"/>
            <a:pathLst>
              <a:path w="6477000" h="6096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533400"/>
                </a:lnTo>
                <a:cubicBezTo>
                  <a:pt x="6477000" y="575456"/>
                  <a:pt x="6442856" y="609600"/>
                  <a:pt x="6400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619125" y="3219450"/>
            <a:ext cx="127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60352" y="33337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152.0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139753" y="33337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311.9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19154" y="33337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0.730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98554" y="33337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269.5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2450" y="3838575"/>
            <a:ext cx="6457950" cy="628650"/>
          </a:xfrm>
          <a:custGeom>
            <a:avLst/>
            <a:gdLst/>
            <a:ahLst/>
            <a:cxnLst/>
            <a:rect l="l" t="t" r="r" b="b"/>
            <a:pathLst>
              <a:path w="6457950" h="628650">
                <a:moveTo>
                  <a:pt x="76199" y="0"/>
                </a:moveTo>
                <a:lnTo>
                  <a:pt x="6381751" y="0"/>
                </a:lnTo>
                <a:cubicBezTo>
                  <a:pt x="6423835" y="0"/>
                  <a:pt x="6457950" y="34115"/>
                  <a:pt x="6457950" y="76199"/>
                </a:cubicBezTo>
                <a:lnTo>
                  <a:pt x="6457950" y="552451"/>
                </a:lnTo>
                <a:cubicBezTo>
                  <a:pt x="6457950" y="594535"/>
                  <a:pt x="6423835" y="628650"/>
                  <a:pt x="6381751" y="628650"/>
                </a:cubicBezTo>
                <a:lnTo>
                  <a:pt x="76199" y="628650"/>
                </a:lnTo>
                <a:cubicBezTo>
                  <a:pt x="34115" y="628650"/>
                  <a:pt x="0" y="594535"/>
                  <a:pt x="0" y="5524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0" scaled="1"/>
          </a:gradFill>
          <a:ln w="254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642938" y="4076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819150" y="3924300"/>
            <a:ext cx="109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871811" y="40386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194.9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43548" y="40386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259.5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05833" y="40195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87095" y="40386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211.9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7688" y="4595813"/>
            <a:ext cx="6467475" cy="466725"/>
          </a:xfrm>
          <a:custGeom>
            <a:avLst/>
            <a:gdLst/>
            <a:ahLst/>
            <a:cxnLst/>
            <a:rect l="l" t="t" r="r" b="b"/>
            <a:pathLst>
              <a:path w="6467475" h="466725">
                <a:moveTo>
                  <a:pt x="114301" y="0"/>
                </a:moveTo>
                <a:lnTo>
                  <a:pt x="6353174" y="0"/>
                </a:lnTo>
                <a:cubicBezTo>
                  <a:pt x="6416301" y="0"/>
                  <a:pt x="6467475" y="51174"/>
                  <a:pt x="6467475" y="114301"/>
                </a:cubicBezTo>
                <a:lnTo>
                  <a:pt x="6467475" y="352424"/>
                </a:lnTo>
                <a:cubicBezTo>
                  <a:pt x="6467475" y="415551"/>
                  <a:pt x="6416301" y="466725"/>
                  <a:pt x="635317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690563" y="4743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995363" y="471487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Model:</a:t>
            </a:r>
            <a:r>
              <a:rPr lang="en-US" sz="1200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Random Forest — Best test R² (0.813) &amp; lowest RMSE (SGD 259.5)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5143" y="2609850"/>
            <a:ext cx="4712770" cy="2071688"/>
          </a:xfrm>
          <a:custGeom>
            <a:avLst/>
            <a:gdLst/>
            <a:ahLst/>
            <a:cxnLst/>
            <a:rect l="l" t="t" r="r" b="b"/>
            <a:pathLst>
              <a:path w="4467225" h="3343275">
                <a:moveTo>
                  <a:pt x="152386" y="0"/>
                </a:moveTo>
                <a:lnTo>
                  <a:pt x="4314839" y="0"/>
                </a:lnTo>
                <a:cubicBezTo>
                  <a:pt x="4398999" y="0"/>
                  <a:pt x="4467225" y="68226"/>
                  <a:pt x="4467225" y="152386"/>
                </a:cubicBezTo>
                <a:lnTo>
                  <a:pt x="4467225" y="3190889"/>
                </a:lnTo>
                <a:cubicBezTo>
                  <a:pt x="4467225" y="3275049"/>
                  <a:pt x="4398999" y="3343275"/>
                  <a:pt x="4314839" y="3343275"/>
                </a:cubicBezTo>
                <a:lnTo>
                  <a:pt x="152386" y="3343275"/>
                </a:lnTo>
                <a:cubicBezTo>
                  <a:pt x="68226" y="3343275"/>
                  <a:pt x="0" y="3275049"/>
                  <a:pt x="0" y="31908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7482780" y="2667000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Feature Importances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82780" y="30480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11480" y="30670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7" name="Shape 45"/>
          <p:cNvSpPr/>
          <p:nvPr/>
        </p:nvSpPr>
        <p:spPr>
          <a:xfrm>
            <a:off x="8511480" y="30670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11106076" y="30480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82780" y="33528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511480" y="33718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1" name="Shape 49"/>
          <p:cNvSpPr/>
          <p:nvPr/>
        </p:nvSpPr>
        <p:spPr>
          <a:xfrm>
            <a:off x="8511480" y="3371850"/>
            <a:ext cx="2171700" cy="190500"/>
          </a:xfrm>
          <a:custGeom>
            <a:avLst/>
            <a:gdLst/>
            <a:ahLst/>
            <a:cxnLst/>
            <a:rect l="l" t="t" r="r" b="b"/>
            <a:pathLst>
              <a:path w="2171700" h="190500">
                <a:moveTo>
                  <a:pt x="95250" y="0"/>
                </a:moveTo>
                <a:lnTo>
                  <a:pt x="2076450" y="0"/>
                </a:lnTo>
                <a:cubicBezTo>
                  <a:pt x="2129020" y="0"/>
                  <a:pt x="2171700" y="42680"/>
                  <a:pt x="2171700" y="95250"/>
                </a:cubicBezTo>
                <a:lnTo>
                  <a:pt x="2171700" y="95250"/>
                </a:lnTo>
                <a:cubicBezTo>
                  <a:pt x="2171700" y="147820"/>
                  <a:pt x="2129020" y="190500"/>
                  <a:pt x="2076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>
              <a:alpha val="8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11106076" y="3352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82780" y="36576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11480" y="36766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5" name="Shape 53"/>
          <p:cNvSpPr/>
          <p:nvPr/>
        </p:nvSpPr>
        <p:spPr>
          <a:xfrm>
            <a:off x="8511480" y="3676650"/>
            <a:ext cx="1990725" cy="190500"/>
          </a:xfrm>
          <a:custGeom>
            <a:avLst/>
            <a:gdLst/>
            <a:ahLst/>
            <a:cxnLst/>
            <a:rect l="l" t="t" r="r" b="b"/>
            <a:pathLst>
              <a:path w="1990725" h="190500">
                <a:moveTo>
                  <a:pt x="95250" y="0"/>
                </a:moveTo>
                <a:lnTo>
                  <a:pt x="1895475" y="0"/>
                </a:lnTo>
                <a:cubicBezTo>
                  <a:pt x="1948045" y="0"/>
                  <a:pt x="1990725" y="42680"/>
                  <a:pt x="1990725" y="95250"/>
                </a:cubicBezTo>
                <a:lnTo>
                  <a:pt x="1990725" y="95250"/>
                </a:lnTo>
                <a:cubicBezTo>
                  <a:pt x="1990725" y="147820"/>
                  <a:pt x="1948045" y="190500"/>
                  <a:pt x="18954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>
              <a:alpha val="7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6" name="Text 54"/>
          <p:cNvSpPr/>
          <p:nvPr/>
        </p:nvSpPr>
        <p:spPr>
          <a:xfrm>
            <a:off x="11106076" y="36576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82780" y="39624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 Dist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11480" y="39814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9" name="Shape 57"/>
          <p:cNvSpPr/>
          <p:nvPr/>
        </p:nvSpPr>
        <p:spPr>
          <a:xfrm>
            <a:off x="8511480" y="3981450"/>
            <a:ext cx="1657350" cy="190500"/>
          </a:xfrm>
          <a:custGeom>
            <a:avLst/>
            <a:gdLst/>
            <a:ahLst/>
            <a:cxnLst/>
            <a:rect l="l" t="t" r="r" b="b"/>
            <a:pathLst>
              <a:path w="1657350" h="190500">
                <a:moveTo>
                  <a:pt x="95250" y="0"/>
                </a:moveTo>
                <a:lnTo>
                  <a:pt x="1562100" y="0"/>
                </a:lnTo>
                <a:cubicBezTo>
                  <a:pt x="1614670" y="0"/>
                  <a:pt x="1657350" y="42680"/>
                  <a:pt x="1657350" y="95250"/>
                </a:cubicBezTo>
                <a:lnTo>
                  <a:pt x="1657350" y="95250"/>
                </a:lnTo>
                <a:cubicBezTo>
                  <a:pt x="1657350" y="147820"/>
                  <a:pt x="1614670" y="190500"/>
                  <a:pt x="15621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0" name="Text 58"/>
          <p:cNvSpPr/>
          <p:nvPr/>
        </p:nvSpPr>
        <p:spPr>
          <a:xfrm>
            <a:off x="11106076" y="39624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82780" y="42672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Type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11480" y="4286250"/>
            <a:ext cx="2552700" cy="190500"/>
          </a:xfrm>
          <a:custGeom>
            <a:avLst/>
            <a:gdLst/>
            <a:ahLst/>
            <a:cxnLst/>
            <a:rect l="l" t="t" r="r" b="b"/>
            <a:pathLst>
              <a:path w="2552700" h="190500">
                <a:moveTo>
                  <a:pt x="95250" y="0"/>
                </a:moveTo>
                <a:lnTo>
                  <a:pt x="2457450" y="0"/>
                </a:lnTo>
                <a:cubicBezTo>
                  <a:pt x="2510020" y="0"/>
                  <a:pt x="2552700" y="42680"/>
                  <a:pt x="2552700" y="95250"/>
                </a:cubicBezTo>
                <a:lnTo>
                  <a:pt x="2552700" y="95250"/>
                </a:lnTo>
                <a:cubicBezTo>
                  <a:pt x="2552700" y="147820"/>
                  <a:pt x="2510020" y="190500"/>
                  <a:pt x="2457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3" name="Shape 61"/>
          <p:cNvSpPr/>
          <p:nvPr/>
        </p:nvSpPr>
        <p:spPr>
          <a:xfrm>
            <a:off x="8511480" y="4286250"/>
            <a:ext cx="1333500" cy="190500"/>
          </a:xfrm>
          <a:custGeom>
            <a:avLst/>
            <a:gdLst/>
            <a:ahLst/>
            <a:cxnLst/>
            <a:rect l="l" t="t" r="r" b="b"/>
            <a:pathLst>
              <a:path w="1333500" h="190500">
                <a:moveTo>
                  <a:pt x="95250" y="0"/>
                </a:moveTo>
                <a:lnTo>
                  <a:pt x="1238250" y="0"/>
                </a:lnTo>
                <a:cubicBezTo>
                  <a:pt x="1290820" y="0"/>
                  <a:pt x="1333500" y="42680"/>
                  <a:pt x="1333500" y="95250"/>
                </a:cubicBezTo>
                <a:lnTo>
                  <a:pt x="1333500" y="95250"/>
                </a:lnTo>
                <a:cubicBezTo>
                  <a:pt x="1333500" y="147820"/>
                  <a:pt x="1290820" y="190500"/>
                  <a:pt x="1238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>
              <a:alpha val="5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4" name="Text 62"/>
          <p:cNvSpPr/>
          <p:nvPr/>
        </p:nvSpPr>
        <p:spPr>
          <a:xfrm>
            <a:off x="11106076" y="42672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30380" y="4838700"/>
            <a:ext cx="471277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152395" y="0"/>
                </a:moveTo>
                <a:lnTo>
                  <a:pt x="4324355" y="0"/>
                </a:lnTo>
                <a:cubicBezTo>
                  <a:pt x="4408521" y="0"/>
                  <a:pt x="4476750" y="68229"/>
                  <a:pt x="4476750" y="152395"/>
                </a:cubicBezTo>
                <a:lnTo>
                  <a:pt x="4476750" y="1485905"/>
                </a:lnTo>
                <a:cubicBezTo>
                  <a:pt x="4476750" y="1570071"/>
                  <a:pt x="4408521" y="1638300"/>
                  <a:pt x="432435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6" name="Text 64"/>
          <p:cNvSpPr/>
          <p:nvPr/>
        </p:nvSpPr>
        <p:spPr>
          <a:xfrm>
            <a:off x="7482780" y="499110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482780" y="5334000"/>
            <a:ext cx="42481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Linear/Ridge degraded on 2024 test despite strong CV, they under capture </a:t>
            </a: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year on year dynamics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 Feature importance confirms zone, demand, surge &amp; MRT distance as primary drivers.</a:t>
            </a: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585708-810F-FBA0-E286-1A49D4A00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857" y="138545"/>
            <a:ext cx="4727056" cy="23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65534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3095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Vacancy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5-Fold CV + Held-Out 2024 Test 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338263"/>
            <a:ext cx="6791325" cy="5133975"/>
          </a:xfrm>
          <a:custGeom>
            <a:avLst/>
            <a:gdLst/>
            <a:ahLst/>
            <a:cxnLst/>
            <a:rect l="l" t="t" r="r" b="b"/>
            <a:pathLst>
              <a:path w="6791325" h="5133975">
                <a:moveTo>
                  <a:pt x="152376" y="0"/>
                </a:moveTo>
                <a:lnTo>
                  <a:pt x="6638949" y="0"/>
                </a:lnTo>
                <a:cubicBezTo>
                  <a:pt x="6723104" y="0"/>
                  <a:pt x="6791325" y="68221"/>
                  <a:pt x="6791325" y="152376"/>
                </a:cubicBezTo>
                <a:lnTo>
                  <a:pt x="6791325" y="4981599"/>
                </a:lnTo>
                <a:cubicBezTo>
                  <a:pt x="6791325" y="5065754"/>
                  <a:pt x="6723104" y="5133975"/>
                  <a:pt x="6638949" y="5133975"/>
                </a:cubicBezTo>
                <a:lnTo>
                  <a:pt x="152376" y="5133975"/>
                </a:lnTo>
                <a:cubicBezTo>
                  <a:pt x="68221" y="5133975"/>
                  <a:pt x="0" y="5065754"/>
                  <a:pt x="0" y="4981599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42925" y="149542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47888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  <a:lnTo>
                  <a:pt x="6477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542925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19424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AUC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29260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AUC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9171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49007" y="18764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(Vacant)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450" y="2238375"/>
            <a:ext cx="6457950" cy="438150"/>
          </a:xfrm>
          <a:custGeom>
            <a:avLst/>
            <a:gdLst/>
            <a:ahLst/>
            <a:cxnLst/>
            <a:rect l="l" t="t" r="r" b="b"/>
            <a:pathLst>
              <a:path w="6457950" h="438150">
                <a:moveTo>
                  <a:pt x="76199" y="0"/>
                </a:moveTo>
                <a:lnTo>
                  <a:pt x="6381751" y="0"/>
                </a:lnTo>
                <a:cubicBezTo>
                  <a:pt x="6423835" y="0"/>
                  <a:pt x="6457950" y="34115"/>
                  <a:pt x="6457950" y="76199"/>
                </a:cubicBezTo>
                <a:lnTo>
                  <a:pt x="6457950" y="361951"/>
                </a:lnTo>
                <a:cubicBezTo>
                  <a:pt x="6457950" y="404035"/>
                  <a:pt x="6423835" y="438150"/>
                  <a:pt x="6381751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0" scaled="1"/>
          </a:gradFill>
          <a:ln w="254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647700" y="2381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828675" y="234315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1811" y="2343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34023" y="23241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5358" y="2343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0.785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87095" y="2343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2762250"/>
            <a:ext cx="6477000" cy="381000"/>
          </a:xfrm>
          <a:custGeom>
            <a:avLst/>
            <a:gdLst/>
            <a:ahLst/>
            <a:cxnLst/>
            <a:rect l="l" t="t" r="r" b="b"/>
            <a:pathLst>
              <a:path w="6477000" h="3810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304800"/>
                </a:lnTo>
                <a:cubicBezTo>
                  <a:pt x="6477000" y="346856"/>
                  <a:pt x="6442856" y="381000"/>
                  <a:pt x="640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19125" y="28384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60352" y="28384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0.650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39753" y="28384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0.771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9154" y="28384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0.777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98554" y="28384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925" y="3219450"/>
            <a:ext cx="6477000" cy="381000"/>
          </a:xfrm>
          <a:custGeom>
            <a:avLst/>
            <a:gdLst/>
            <a:ahLst/>
            <a:cxnLst/>
            <a:rect l="l" t="t" r="r" b="b"/>
            <a:pathLst>
              <a:path w="6477000" h="3810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304800"/>
                </a:lnTo>
                <a:cubicBezTo>
                  <a:pt x="6477000" y="346856"/>
                  <a:pt x="6442856" y="381000"/>
                  <a:pt x="640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619125" y="32956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60352" y="32956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39753" y="32956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9154" y="32956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0.767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98554" y="32956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0.39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2925" y="3676650"/>
            <a:ext cx="6477000" cy="609600"/>
          </a:xfrm>
          <a:custGeom>
            <a:avLst/>
            <a:gdLst/>
            <a:ahLst/>
            <a:cxnLst/>
            <a:rect l="l" t="t" r="r" b="b"/>
            <a:pathLst>
              <a:path w="6477000" h="609600">
                <a:moveTo>
                  <a:pt x="76200" y="0"/>
                </a:moveTo>
                <a:lnTo>
                  <a:pt x="6400800" y="0"/>
                </a:lnTo>
                <a:cubicBezTo>
                  <a:pt x="6442856" y="0"/>
                  <a:pt x="6477000" y="34144"/>
                  <a:pt x="6477000" y="76200"/>
                </a:cubicBezTo>
                <a:lnTo>
                  <a:pt x="6477000" y="533400"/>
                </a:lnTo>
                <a:cubicBezTo>
                  <a:pt x="6477000" y="575456"/>
                  <a:pt x="6442856" y="609600"/>
                  <a:pt x="6400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619125" y="3752850"/>
            <a:ext cx="127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860352" y="3867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0.798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39753" y="3867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9154" y="3867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0.779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98554" y="38671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7688" y="4405313"/>
            <a:ext cx="6467475" cy="695325"/>
          </a:xfrm>
          <a:custGeom>
            <a:avLst/>
            <a:gdLst/>
            <a:ahLst/>
            <a:cxnLst/>
            <a:rect l="l" t="t" r="r" b="b"/>
            <a:pathLst>
              <a:path w="6467475" h="695325">
                <a:moveTo>
                  <a:pt x="114298" y="0"/>
                </a:moveTo>
                <a:lnTo>
                  <a:pt x="6353177" y="0"/>
                </a:lnTo>
                <a:cubicBezTo>
                  <a:pt x="6416302" y="0"/>
                  <a:pt x="6467475" y="51173"/>
                  <a:pt x="6467475" y="114298"/>
                </a:cubicBezTo>
                <a:lnTo>
                  <a:pt x="6467475" y="581027"/>
                </a:lnTo>
                <a:cubicBezTo>
                  <a:pt x="6467475" y="644152"/>
                  <a:pt x="6416302" y="695325"/>
                  <a:pt x="6353177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681038" y="4667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980926" y="4524375"/>
            <a:ext cx="5991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Model:</a:t>
            </a:r>
            <a:r>
              <a:rPr lang="en-US" sz="1200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Logistic Regression — Highest test AUC (0.812) with maximum interpretability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5143" y="1338263"/>
            <a:ext cx="4467225" cy="3343275"/>
          </a:xfrm>
          <a:custGeom>
            <a:avLst/>
            <a:gdLst/>
            <a:ahLst/>
            <a:cxnLst/>
            <a:rect l="l" t="t" r="r" b="b"/>
            <a:pathLst>
              <a:path w="4467225" h="3343275">
                <a:moveTo>
                  <a:pt x="152386" y="0"/>
                </a:moveTo>
                <a:lnTo>
                  <a:pt x="4314839" y="0"/>
                </a:lnTo>
                <a:cubicBezTo>
                  <a:pt x="4398999" y="0"/>
                  <a:pt x="4467225" y="68226"/>
                  <a:pt x="4467225" y="152386"/>
                </a:cubicBezTo>
                <a:lnTo>
                  <a:pt x="4467225" y="3190889"/>
                </a:lnTo>
                <a:cubicBezTo>
                  <a:pt x="4467225" y="3275049"/>
                  <a:pt x="4398999" y="3343275"/>
                  <a:pt x="4314839" y="3343275"/>
                </a:cubicBezTo>
                <a:lnTo>
                  <a:pt x="152386" y="3343275"/>
                </a:lnTo>
                <a:cubicBezTo>
                  <a:pt x="68226" y="3343275"/>
                  <a:pt x="0" y="3275049"/>
                  <a:pt x="0" y="31908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7492305" y="1495425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Curve Analysis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92305" y="1762125"/>
            <a:ext cx="4152900" cy="2414588"/>
          </a:xfrm>
          <a:custGeom>
            <a:avLst/>
            <a:gdLst/>
            <a:ahLst/>
            <a:cxnLst/>
            <a:rect l="l" t="t" r="r" b="b"/>
            <a:pathLst>
              <a:path w="4152900" h="1524000">
                <a:moveTo>
                  <a:pt x="114300" y="0"/>
                </a:moveTo>
                <a:lnTo>
                  <a:pt x="4038600" y="0"/>
                </a:lnTo>
                <a:cubicBezTo>
                  <a:pt x="4101684" y="0"/>
                  <a:pt x="4152900" y="51216"/>
                  <a:pt x="4152900" y="114300"/>
                </a:cubicBezTo>
                <a:lnTo>
                  <a:pt x="4152900" y="1409700"/>
                </a:lnTo>
                <a:cubicBezTo>
                  <a:pt x="4152900" y="1472784"/>
                  <a:pt x="4101684" y="1524000"/>
                  <a:pt x="4038600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6" name="Shape 44"/>
          <p:cNvSpPr/>
          <p:nvPr/>
        </p:nvSpPr>
        <p:spPr>
          <a:xfrm>
            <a:off x="9399166" y="221932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8615809" y="263842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Curves — All 4 Models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20571" y="286702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 comparison visualization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25655" y="42910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7816155" y="4252913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Logistic: 0.812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742066" y="42910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9932566" y="4252913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Forest: 0.811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0380" y="4838700"/>
            <a:ext cx="4476750" cy="1638300"/>
          </a:xfrm>
          <a:custGeom>
            <a:avLst/>
            <a:gdLst/>
            <a:ahLst/>
            <a:cxnLst/>
            <a:rect l="l" t="t" r="r" b="b"/>
            <a:pathLst>
              <a:path w="4476750" h="1638300">
                <a:moveTo>
                  <a:pt x="152395" y="0"/>
                </a:moveTo>
                <a:lnTo>
                  <a:pt x="4324355" y="0"/>
                </a:lnTo>
                <a:cubicBezTo>
                  <a:pt x="4408521" y="0"/>
                  <a:pt x="4476750" y="68229"/>
                  <a:pt x="4476750" y="152395"/>
                </a:cubicBezTo>
                <a:lnTo>
                  <a:pt x="4476750" y="1485905"/>
                </a:lnTo>
                <a:cubicBezTo>
                  <a:pt x="4476750" y="1570071"/>
                  <a:pt x="4408521" y="1638300"/>
                  <a:pt x="432435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54" name="Text 52"/>
          <p:cNvSpPr/>
          <p:nvPr/>
        </p:nvSpPr>
        <p:spPr>
          <a:xfrm>
            <a:off x="7482780" y="499110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Logistic Regression?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82780" y="5334000"/>
            <a:ext cx="42481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Vacancy is approximately </a:t>
            </a: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linearly separable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AUC gap vs Random Forest negligible (0.001). Offers maximum interpretability: operators read coefficients as vacancy risk drivers directly.</a:t>
            </a:r>
            <a:endParaRPr lang="en-US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23C1A0-54A7-CD60-9DF4-64C53F093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974" y="1863632"/>
            <a:ext cx="2580383" cy="220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849" y="350849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2883" y="438561"/>
            <a:ext cx="30699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7122" y="350849"/>
            <a:ext cx="6271424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 — Final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849" y="877122"/>
            <a:ext cx="842037" cy="35085"/>
          </a:xfrm>
          <a:custGeom>
            <a:avLst/>
            <a:gdLst/>
            <a:ahLst/>
            <a:cxnLst/>
            <a:rect l="l" t="t" r="r" b="b"/>
            <a:pathLst>
              <a:path w="842037" h="35085">
                <a:moveTo>
                  <a:pt x="17542" y="0"/>
                </a:moveTo>
                <a:lnTo>
                  <a:pt x="824495" y="0"/>
                </a:lnTo>
                <a:cubicBezTo>
                  <a:pt x="834183" y="0"/>
                  <a:pt x="842037" y="7854"/>
                  <a:pt x="842037" y="17542"/>
                </a:cubicBezTo>
                <a:lnTo>
                  <a:pt x="842037" y="17542"/>
                </a:lnTo>
                <a:cubicBezTo>
                  <a:pt x="842037" y="27231"/>
                  <a:pt x="834183" y="35085"/>
                  <a:pt x="824495" y="35085"/>
                </a:cubicBezTo>
                <a:lnTo>
                  <a:pt x="17542" y="35085"/>
                </a:lnTo>
                <a:cubicBezTo>
                  <a:pt x="7861" y="35085"/>
                  <a:pt x="0" y="27224"/>
                  <a:pt x="0" y="17542"/>
                </a:cubicBezTo>
                <a:lnTo>
                  <a:pt x="0" y="17542"/>
                </a:lnTo>
                <a:cubicBezTo>
                  <a:pt x="0" y="7861"/>
                  <a:pt x="7861" y="0"/>
                  <a:pt x="1754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50849" y="1087632"/>
            <a:ext cx="5657439" cy="1789329"/>
          </a:xfrm>
          <a:custGeom>
            <a:avLst/>
            <a:gdLst/>
            <a:ahLst/>
            <a:cxnLst/>
            <a:rect l="l" t="t" r="r" b="b"/>
            <a:pathLst>
              <a:path w="5657439" h="1789329">
                <a:moveTo>
                  <a:pt x="140337" y="0"/>
                </a:moveTo>
                <a:lnTo>
                  <a:pt x="5517102" y="0"/>
                </a:lnTo>
                <a:cubicBezTo>
                  <a:pt x="5594608" y="0"/>
                  <a:pt x="5657439" y="62831"/>
                  <a:pt x="5657439" y="140337"/>
                </a:cubicBezTo>
                <a:lnTo>
                  <a:pt x="5657439" y="1648992"/>
                </a:lnTo>
                <a:cubicBezTo>
                  <a:pt x="5657439" y="1726498"/>
                  <a:pt x="5594608" y="1789329"/>
                  <a:pt x="5517102" y="1789329"/>
                </a:cubicBezTo>
                <a:lnTo>
                  <a:pt x="140337" y="1789329"/>
                </a:lnTo>
                <a:cubicBezTo>
                  <a:pt x="62831" y="1789329"/>
                  <a:pt x="0" y="1726498"/>
                  <a:pt x="0" y="1648992"/>
                </a:cubicBezTo>
                <a:lnTo>
                  <a:pt x="0" y="140337"/>
                </a:lnTo>
                <a:cubicBezTo>
                  <a:pt x="0" y="62831"/>
                  <a:pt x="62831" y="0"/>
                  <a:pt x="140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561358" y="1298141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105257" y="0"/>
                </a:moveTo>
                <a:lnTo>
                  <a:pt x="385932" y="0"/>
                </a:lnTo>
                <a:cubicBezTo>
                  <a:pt x="444063" y="0"/>
                  <a:pt x="491188" y="47125"/>
                  <a:pt x="491188" y="105257"/>
                </a:cubicBezTo>
                <a:lnTo>
                  <a:pt x="491188" y="385932"/>
                </a:lnTo>
                <a:cubicBezTo>
                  <a:pt x="491188" y="444063"/>
                  <a:pt x="444063" y="491188"/>
                  <a:pt x="385932" y="491188"/>
                </a:cubicBezTo>
                <a:lnTo>
                  <a:pt x="105257" y="491188"/>
                </a:lnTo>
                <a:cubicBezTo>
                  <a:pt x="47125" y="491188"/>
                  <a:pt x="0" y="444063"/>
                  <a:pt x="0" y="385932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701698" y="143848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26314" y="26314"/>
                </a:moveTo>
                <a:cubicBezTo>
                  <a:pt x="26314" y="19036"/>
                  <a:pt x="20434" y="13157"/>
                  <a:pt x="13157" y="13157"/>
                </a:cubicBezTo>
                <a:cubicBezTo>
                  <a:pt x="5879" y="13157"/>
                  <a:pt x="0" y="19036"/>
                  <a:pt x="0" y="26314"/>
                </a:cubicBezTo>
                <a:lnTo>
                  <a:pt x="0" y="164460"/>
                </a:lnTo>
                <a:cubicBezTo>
                  <a:pt x="0" y="182633"/>
                  <a:pt x="14719" y="197353"/>
                  <a:pt x="32892" y="197353"/>
                </a:cubicBezTo>
                <a:lnTo>
                  <a:pt x="197353" y="197353"/>
                </a:lnTo>
                <a:cubicBezTo>
                  <a:pt x="204630" y="197353"/>
                  <a:pt x="210509" y="191473"/>
                  <a:pt x="210509" y="184196"/>
                </a:cubicBezTo>
                <a:cubicBezTo>
                  <a:pt x="210509" y="176918"/>
                  <a:pt x="204630" y="171039"/>
                  <a:pt x="197353" y="171039"/>
                </a:cubicBezTo>
                <a:lnTo>
                  <a:pt x="32892" y="171039"/>
                </a:lnTo>
                <a:cubicBezTo>
                  <a:pt x="29274" y="171039"/>
                  <a:pt x="26314" y="168079"/>
                  <a:pt x="26314" y="164460"/>
                </a:cubicBezTo>
                <a:lnTo>
                  <a:pt x="26314" y="26314"/>
                </a:lnTo>
                <a:close/>
                <a:moveTo>
                  <a:pt x="193488" y="61919"/>
                </a:moveTo>
                <a:cubicBezTo>
                  <a:pt x="198627" y="56780"/>
                  <a:pt x="198627" y="48434"/>
                  <a:pt x="193488" y="43294"/>
                </a:cubicBezTo>
                <a:cubicBezTo>
                  <a:pt x="188348" y="38155"/>
                  <a:pt x="180002" y="38155"/>
                  <a:pt x="174863" y="43294"/>
                </a:cubicBezTo>
                <a:lnTo>
                  <a:pt x="131568" y="86630"/>
                </a:lnTo>
                <a:lnTo>
                  <a:pt x="107968" y="63071"/>
                </a:lnTo>
                <a:cubicBezTo>
                  <a:pt x="102829" y="57931"/>
                  <a:pt x="94483" y="57931"/>
                  <a:pt x="89343" y="63071"/>
                </a:cubicBezTo>
                <a:lnTo>
                  <a:pt x="49873" y="102541"/>
                </a:lnTo>
                <a:cubicBezTo>
                  <a:pt x="44733" y="107680"/>
                  <a:pt x="44733" y="116027"/>
                  <a:pt x="49873" y="121166"/>
                </a:cubicBezTo>
                <a:cubicBezTo>
                  <a:pt x="55012" y="126306"/>
                  <a:pt x="63358" y="126306"/>
                  <a:pt x="68498" y="121166"/>
                </a:cubicBezTo>
                <a:lnTo>
                  <a:pt x="98676" y="90988"/>
                </a:lnTo>
                <a:lnTo>
                  <a:pt x="122276" y="114588"/>
                </a:lnTo>
                <a:cubicBezTo>
                  <a:pt x="127416" y="119727"/>
                  <a:pt x="135762" y="119727"/>
                  <a:pt x="140901" y="114588"/>
                </a:cubicBezTo>
                <a:lnTo>
                  <a:pt x="193529" y="6196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1157801" y="1298141"/>
            <a:ext cx="1605134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Regression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7801" y="1578820"/>
            <a:ext cx="157004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358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00829" y="2034924"/>
            <a:ext cx="1596363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914" y="2385773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42191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2394818" y="2034924"/>
            <a:ext cx="15700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259.5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16746" y="2350688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23092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4175719" y="2034924"/>
            <a:ext cx="1570049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211.9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97647" y="2350688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4672" y="1087632"/>
            <a:ext cx="5657439" cy="1789329"/>
          </a:xfrm>
          <a:custGeom>
            <a:avLst/>
            <a:gdLst/>
            <a:ahLst/>
            <a:cxnLst/>
            <a:rect l="l" t="t" r="r" b="b"/>
            <a:pathLst>
              <a:path w="5657439" h="1789329">
                <a:moveTo>
                  <a:pt x="140337" y="0"/>
                </a:moveTo>
                <a:lnTo>
                  <a:pt x="5517102" y="0"/>
                </a:lnTo>
                <a:cubicBezTo>
                  <a:pt x="5594608" y="0"/>
                  <a:pt x="5657439" y="62831"/>
                  <a:pt x="5657439" y="140337"/>
                </a:cubicBezTo>
                <a:lnTo>
                  <a:pt x="5657439" y="1648992"/>
                </a:lnTo>
                <a:cubicBezTo>
                  <a:pt x="5657439" y="1726498"/>
                  <a:pt x="5594608" y="1789329"/>
                  <a:pt x="5517102" y="1789329"/>
                </a:cubicBezTo>
                <a:lnTo>
                  <a:pt x="140337" y="1789329"/>
                </a:lnTo>
                <a:cubicBezTo>
                  <a:pt x="62831" y="1789329"/>
                  <a:pt x="0" y="1726498"/>
                  <a:pt x="0" y="1648992"/>
                </a:cubicBezTo>
                <a:lnTo>
                  <a:pt x="0" y="140337"/>
                </a:lnTo>
                <a:cubicBezTo>
                  <a:pt x="0" y="62831"/>
                  <a:pt x="62831" y="0"/>
                  <a:pt x="140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100000">
                <a:srgbClr val="1D1D1F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6395181" y="1298141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105257" y="0"/>
                </a:moveTo>
                <a:lnTo>
                  <a:pt x="385932" y="0"/>
                </a:lnTo>
                <a:cubicBezTo>
                  <a:pt x="444063" y="0"/>
                  <a:pt x="491188" y="47125"/>
                  <a:pt x="491188" y="105257"/>
                </a:cubicBezTo>
                <a:lnTo>
                  <a:pt x="491188" y="385932"/>
                </a:lnTo>
                <a:cubicBezTo>
                  <a:pt x="491188" y="444063"/>
                  <a:pt x="444063" y="491188"/>
                  <a:pt x="385932" y="491188"/>
                </a:cubicBezTo>
                <a:lnTo>
                  <a:pt x="105257" y="491188"/>
                </a:lnTo>
                <a:cubicBezTo>
                  <a:pt x="47125" y="491188"/>
                  <a:pt x="0" y="444063"/>
                  <a:pt x="0" y="385932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6548677" y="1438481"/>
            <a:ext cx="184196" cy="210509"/>
          </a:xfrm>
          <a:custGeom>
            <a:avLst/>
            <a:gdLst/>
            <a:ahLst/>
            <a:cxnLst/>
            <a:rect l="l" t="t" r="r" b="b"/>
            <a:pathLst>
              <a:path w="184196" h="210509">
                <a:moveTo>
                  <a:pt x="118412" y="26314"/>
                </a:moveTo>
                <a:lnTo>
                  <a:pt x="144725" y="26314"/>
                </a:lnTo>
                <a:lnTo>
                  <a:pt x="144725" y="197353"/>
                </a:lnTo>
                <a:cubicBezTo>
                  <a:pt x="144725" y="204630"/>
                  <a:pt x="150605" y="210509"/>
                  <a:pt x="157882" y="210509"/>
                </a:cubicBezTo>
                <a:lnTo>
                  <a:pt x="171039" y="210509"/>
                </a:lnTo>
                <a:cubicBezTo>
                  <a:pt x="178316" y="210509"/>
                  <a:pt x="184196" y="204630"/>
                  <a:pt x="184196" y="197353"/>
                </a:cubicBezTo>
                <a:cubicBezTo>
                  <a:pt x="184196" y="190075"/>
                  <a:pt x="178316" y="184196"/>
                  <a:pt x="171039" y="184196"/>
                </a:cubicBezTo>
                <a:lnTo>
                  <a:pt x="171039" y="26314"/>
                </a:lnTo>
                <a:cubicBezTo>
                  <a:pt x="171039" y="11800"/>
                  <a:pt x="159239" y="0"/>
                  <a:pt x="144725" y="0"/>
                </a:cubicBezTo>
                <a:lnTo>
                  <a:pt x="105255" y="0"/>
                </a:lnTo>
                <a:lnTo>
                  <a:pt x="105255" y="0"/>
                </a:lnTo>
                <a:lnTo>
                  <a:pt x="39471" y="0"/>
                </a:lnTo>
                <a:cubicBezTo>
                  <a:pt x="24957" y="0"/>
                  <a:pt x="13157" y="11800"/>
                  <a:pt x="13157" y="26314"/>
                </a:cubicBezTo>
                <a:lnTo>
                  <a:pt x="13157" y="184196"/>
                </a:lnTo>
                <a:cubicBezTo>
                  <a:pt x="5879" y="184196"/>
                  <a:pt x="0" y="190075"/>
                  <a:pt x="0" y="197353"/>
                </a:cubicBezTo>
                <a:cubicBezTo>
                  <a:pt x="0" y="204630"/>
                  <a:pt x="5879" y="210509"/>
                  <a:pt x="13157" y="210509"/>
                </a:cubicBezTo>
                <a:lnTo>
                  <a:pt x="105255" y="210509"/>
                </a:lnTo>
                <a:cubicBezTo>
                  <a:pt x="112532" y="210509"/>
                  <a:pt x="118412" y="204630"/>
                  <a:pt x="118412" y="197353"/>
                </a:cubicBezTo>
                <a:lnTo>
                  <a:pt x="118412" y="26314"/>
                </a:lnTo>
                <a:close/>
                <a:moveTo>
                  <a:pt x="65784" y="105255"/>
                </a:moveTo>
                <a:cubicBezTo>
                  <a:pt x="65784" y="97993"/>
                  <a:pt x="71680" y="92098"/>
                  <a:pt x="78941" y="92098"/>
                </a:cubicBezTo>
                <a:cubicBezTo>
                  <a:pt x="86202" y="92098"/>
                  <a:pt x="92098" y="97993"/>
                  <a:pt x="92098" y="105255"/>
                </a:cubicBezTo>
                <a:cubicBezTo>
                  <a:pt x="92098" y="112516"/>
                  <a:pt x="86202" y="118412"/>
                  <a:pt x="78941" y="118412"/>
                </a:cubicBezTo>
                <a:cubicBezTo>
                  <a:pt x="71680" y="118412"/>
                  <a:pt x="65784" y="112516"/>
                  <a:pt x="65784" y="1052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991624" y="1298141"/>
            <a:ext cx="1438481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Classifier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1624" y="1578820"/>
            <a:ext cx="140339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5181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6434651" y="2034924"/>
            <a:ext cx="1596363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69736" y="2385773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76013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8215484" y="2034924"/>
            <a:ext cx="1596363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78.5%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50569" y="2385773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56914" y="1929669"/>
            <a:ext cx="1675304" cy="736783"/>
          </a:xfrm>
          <a:custGeom>
            <a:avLst/>
            <a:gdLst/>
            <a:ahLst/>
            <a:cxnLst/>
            <a:rect l="l" t="t" r="r" b="b"/>
            <a:pathLst>
              <a:path w="1675304" h="736783">
                <a:moveTo>
                  <a:pt x="105257" y="0"/>
                </a:moveTo>
                <a:lnTo>
                  <a:pt x="1570047" y="0"/>
                </a:lnTo>
                <a:cubicBezTo>
                  <a:pt x="1628179" y="0"/>
                  <a:pt x="1675304" y="47125"/>
                  <a:pt x="1675304" y="105257"/>
                </a:cubicBezTo>
                <a:lnTo>
                  <a:pt x="1675304" y="631526"/>
                </a:lnTo>
                <a:cubicBezTo>
                  <a:pt x="1675304" y="689658"/>
                  <a:pt x="1628179" y="736783"/>
                  <a:pt x="1570047" y="736783"/>
                </a:cubicBezTo>
                <a:lnTo>
                  <a:pt x="105257" y="736783"/>
                </a:lnTo>
                <a:cubicBezTo>
                  <a:pt x="47125" y="736783"/>
                  <a:pt x="0" y="689658"/>
                  <a:pt x="0" y="631526"/>
                </a:cubicBezTo>
                <a:lnTo>
                  <a:pt x="0" y="105257"/>
                </a:lnTo>
                <a:cubicBezTo>
                  <a:pt x="0" y="47164"/>
                  <a:pt x="47164" y="0"/>
                  <a:pt x="1052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9996385" y="2034924"/>
            <a:ext cx="1596363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31470" y="2385773"/>
            <a:ext cx="152619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 (vacant)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5235" y="3056771"/>
            <a:ext cx="5648668" cy="3797940"/>
          </a:xfrm>
          <a:custGeom>
            <a:avLst/>
            <a:gdLst/>
            <a:ahLst/>
            <a:cxnLst/>
            <a:rect l="l" t="t" r="r" b="b"/>
            <a:pathLst>
              <a:path w="5648668" h="3797940">
                <a:moveTo>
                  <a:pt x="140334" y="0"/>
                </a:moveTo>
                <a:lnTo>
                  <a:pt x="5508334" y="0"/>
                </a:lnTo>
                <a:cubicBezTo>
                  <a:pt x="5585838" y="0"/>
                  <a:pt x="5648668" y="62830"/>
                  <a:pt x="5648668" y="140334"/>
                </a:cubicBezTo>
                <a:lnTo>
                  <a:pt x="5648668" y="3657606"/>
                </a:lnTo>
                <a:cubicBezTo>
                  <a:pt x="5648668" y="3735110"/>
                  <a:pt x="5585838" y="3797940"/>
                  <a:pt x="5508334" y="3797940"/>
                </a:cubicBezTo>
                <a:lnTo>
                  <a:pt x="140334" y="3797940"/>
                </a:lnTo>
                <a:cubicBezTo>
                  <a:pt x="62830" y="3797940"/>
                  <a:pt x="0" y="3735110"/>
                  <a:pt x="0" y="3657606"/>
                </a:cubicBezTo>
                <a:lnTo>
                  <a:pt x="0" y="140334"/>
                </a:lnTo>
                <a:cubicBezTo>
                  <a:pt x="0" y="62881"/>
                  <a:pt x="62881" y="0"/>
                  <a:pt x="14033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6314" dist="877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5" name="Shape 33"/>
          <p:cNvSpPr/>
          <p:nvPr/>
        </p:nvSpPr>
        <p:spPr>
          <a:xfrm>
            <a:off x="546009" y="3271666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58109" y="52559"/>
                </a:moveTo>
                <a:lnTo>
                  <a:pt x="51702" y="46152"/>
                </a:lnTo>
                <a:cubicBezTo>
                  <a:pt x="47419" y="41869"/>
                  <a:pt x="47419" y="34914"/>
                  <a:pt x="51702" y="30631"/>
                </a:cubicBezTo>
                <a:lnTo>
                  <a:pt x="91001" y="-8703"/>
                </a:lnTo>
                <a:cubicBezTo>
                  <a:pt x="95284" y="-12986"/>
                  <a:pt x="102240" y="-12986"/>
                  <a:pt x="106522" y="-8703"/>
                </a:cubicBezTo>
                <a:lnTo>
                  <a:pt x="112929" y="-2261"/>
                </a:lnTo>
                <a:cubicBezTo>
                  <a:pt x="117212" y="2021"/>
                  <a:pt x="117212" y="8977"/>
                  <a:pt x="112929" y="13260"/>
                </a:cubicBezTo>
                <a:lnTo>
                  <a:pt x="73630" y="52559"/>
                </a:lnTo>
                <a:cubicBezTo>
                  <a:pt x="69347" y="56842"/>
                  <a:pt x="62392" y="56842"/>
                  <a:pt x="58109" y="52559"/>
                </a:cubicBezTo>
                <a:close/>
                <a:moveTo>
                  <a:pt x="94565" y="72534"/>
                </a:moveTo>
                <a:lnTo>
                  <a:pt x="83806" y="61775"/>
                </a:lnTo>
                <a:lnTo>
                  <a:pt x="122180" y="23401"/>
                </a:lnTo>
                <a:lnTo>
                  <a:pt x="163090" y="64311"/>
                </a:lnTo>
                <a:lnTo>
                  <a:pt x="124716" y="102685"/>
                </a:lnTo>
                <a:lnTo>
                  <a:pt x="113957" y="91927"/>
                </a:lnTo>
                <a:lnTo>
                  <a:pt x="34468" y="171416"/>
                </a:lnTo>
                <a:cubicBezTo>
                  <a:pt x="29123" y="176761"/>
                  <a:pt x="20455" y="176761"/>
                  <a:pt x="15076" y="171416"/>
                </a:cubicBezTo>
                <a:cubicBezTo>
                  <a:pt x="9696" y="166071"/>
                  <a:pt x="9731" y="157402"/>
                  <a:pt x="15076" y="152023"/>
                </a:cubicBezTo>
                <a:lnTo>
                  <a:pt x="94565" y="72534"/>
                </a:lnTo>
                <a:close/>
                <a:moveTo>
                  <a:pt x="133932" y="128348"/>
                </a:moveTo>
                <a:cubicBezTo>
                  <a:pt x="129650" y="124065"/>
                  <a:pt x="129650" y="117110"/>
                  <a:pt x="133932" y="112827"/>
                </a:cubicBezTo>
                <a:lnTo>
                  <a:pt x="173232" y="73528"/>
                </a:lnTo>
                <a:cubicBezTo>
                  <a:pt x="177514" y="69245"/>
                  <a:pt x="184470" y="69245"/>
                  <a:pt x="188753" y="73528"/>
                </a:cubicBezTo>
                <a:lnTo>
                  <a:pt x="195160" y="79935"/>
                </a:lnTo>
                <a:cubicBezTo>
                  <a:pt x="199443" y="84217"/>
                  <a:pt x="199443" y="91173"/>
                  <a:pt x="195160" y="95456"/>
                </a:cubicBezTo>
                <a:lnTo>
                  <a:pt x="155861" y="134789"/>
                </a:lnTo>
                <a:cubicBezTo>
                  <a:pt x="151578" y="139072"/>
                  <a:pt x="144622" y="139072"/>
                  <a:pt x="140340" y="134789"/>
                </a:cubicBezTo>
                <a:lnTo>
                  <a:pt x="133932" y="128382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754325" y="3236581"/>
            <a:ext cx="51574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Impact on Rental Price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9430" y="3626901"/>
            <a:ext cx="5280276" cy="605214"/>
          </a:xfrm>
          <a:custGeom>
            <a:avLst/>
            <a:gdLst/>
            <a:ahLst/>
            <a:cxnLst/>
            <a:rect l="l" t="t" r="r" b="b"/>
            <a:pathLst>
              <a:path w="5280276" h="605214">
                <a:moveTo>
                  <a:pt x="105253" y="0"/>
                </a:moveTo>
                <a:lnTo>
                  <a:pt x="5175023" y="0"/>
                </a:lnTo>
                <a:cubicBezTo>
                  <a:pt x="5233153" y="0"/>
                  <a:pt x="5280276" y="47123"/>
                  <a:pt x="5280276" y="105253"/>
                </a:cubicBezTo>
                <a:lnTo>
                  <a:pt x="5280276" y="499962"/>
                </a:lnTo>
                <a:cubicBezTo>
                  <a:pt x="5280276" y="558091"/>
                  <a:pt x="5233153" y="605214"/>
                  <a:pt x="5175023" y="605214"/>
                </a:cubicBezTo>
                <a:lnTo>
                  <a:pt x="105253" y="605214"/>
                </a:lnTo>
                <a:cubicBezTo>
                  <a:pt x="47123" y="605214"/>
                  <a:pt x="0" y="558091"/>
                  <a:pt x="0" y="499962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649071" y="3736541"/>
            <a:ext cx="155250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COVID Phase 2 HA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9071" y="3947050"/>
            <a:ext cx="1543735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2021-05-16 → 2021-08-09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00510" y="3789168"/>
            <a:ext cx="912207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−SGD 75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9430" y="4346141"/>
            <a:ext cx="5280276" cy="605214"/>
          </a:xfrm>
          <a:custGeom>
            <a:avLst/>
            <a:gdLst/>
            <a:ahLst/>
            <a:cxnLst/>
            <a:rect l="l" t="t" r="r" b="b"/>
            <a:pathLst>
              <a:path w="5280276" h="605214">
                <a:moveTo>
                  <a:pt x="105253" y="0"/>
                </a:moveTo>
                <a:lnTo>
                  <a:pt x="5175023" y="0"/>
                </a:lnTo>
                <a:cubicBezTo>
                  <a:pt x="5233153" y="0"/>
                  <a:pt x="5280276" y="47123"/>
                  <a:pt x="5280276" y="105253"/>
                </a:cubicBezTo>
                <a:lnTo>
                  <a:pt x="5280276" y="499962"/>
                </a:lnTo>
                <a:cubicBezTo>
                  <a:pt x="5280276" y="558091"/>
                  <a:pt x="5233153" y="605214"/>
                  <a:pt x="5175023" y="605214"/>
                </a:cubicBezTo>
                <a:lnTo>
                  <a:pt x="105253" y="605214"/>
                </a:lnTo>
                <a:cubicBezTo>
                  <a:pt x="47123" y="605214"/>
                  <a:pt x="0" y="558091"/>
                  <a:pt x="0" y="499962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649071" y="4455781"/>
            <a:ext cx="154373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ABSD Hike 2021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071" y="4666291"/>
            <a:ext cx="153496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2021-12-16 → 2022-06-30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05353" y="4508409"/>
            <a:ext cx="806953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+SGD 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9430" y="5065381"/>
            <a:ext cx="5280276" cy="605214"/>
          </a:xfrm>
          <a:custGeom>
            <a:avLst/>
            <a:gdLst/>
            <a:ahLst/>
            <a:cxnLst/>
            <a:rect l="l" t="t" r="r" b="b"/>
            <a:pathLst>
              <a:path w="5280276" h="605214">
                <a:moveTo>
                  <a:pt x="105253" y="0"/>
                </a:moveTo>
                <a:lnTo>
                  <a:pt x="5175023" y="0"/>
                </a:lnTo>
                <a:cubicBezTo>
                  <a:pt x="5233153" y="0"/>
                  <a:pt x="5280276" y="47123"/>
                  <a:pt x="5280276" y="105253"/>
                </a:cubicBezTo>
                <a:lnTo>
                  <a:pt x="5280276" y="499962"/>
                </a:lnTo>
                <a:cubicBezTo>
                  <a:pt x="5280276" y="558091"/>
                  <a:pt x="5233153" y="605214"/>
                  <a:pt x="5175023" y="605214"/>
                </a:cubicBezTo>
                <a:lnTo>
                  <a:pt x="105253" y="605214"/>
                </a:lnTo>
                <a:cubicBezTo>
                  <a:pt x="47123" y="605214"/>
                  <a:pt x="0" y="558091"/>
                  <a:pt x="0" y="499962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44"/>
          <p:cNvSpPr/>
          <p:nvPr/>
        </p:nvSpPr>
        <p:spPr>
          <a:xfrm>
            <a:off x="649071" y="5175022"/>
            <a:ext cx="151742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Surge 2022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9071" y="5385531"/>
            <a:ext cx="1508650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2022-01-01 → 2022-12-31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88994" y="5210106"/>
            <a:ext cx="1254285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+SGD 371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9430" y="5784622"/>
            <a:ext cx="5280276" cy="605214"/>
          </a:xfrm>
          <a:custGeom>
            <a:avLst/>
            <a:gdLst/>
            <a:ahLst/>
            <a:cxnLst/>
            <a:rect l="l" t="t" r="r" b="b"/>
            <a:pathLst>
              <a:path w="5280276" h="605214">
                <a:moveTo>
                  <a:pt x="105253" y="0"/>
                </a:moveTo>
                <a:lnTo>
                  <a:pt x="5175023" y="0"/>
                </a:lnTo>
                <a:cubicBezTo>
                  <a:pt x="5233153" y="0"/>
                  <a:pt x="5280276" y="47123"/>
                  <a:pt x="5280276" y="105253"/>
                </a:cubicBezTo>
                <a:lnTo>
                  <a:pt x="5280276" y="499962"/>
                </a:lnTo>
                <a:cubicBezTo>
                  <a:pt x="5280276" y="558091"/>
                  <a:pt x="5233153" y="605214"/>
                  <a:pt x="5175023" y="605214"/>
                </a:cubicBezTo>
                <a:lnTo>
                  <a:pt x="105253" y="605214"/>
                </a:lnTo>
                <a:cubicBezTo>
                  <a:pt x="47123" y="605214"/>
                  <a:pt x="0" y="558091"/>
                  <a:pt x="0" y="499962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649071" y="5894262"/>
            <a:ext cx="152619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Guidelines 2023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9071" y="6104771"/>
            <a:ext cx="151742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2023-01-01 → 2023-12-31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764761" y="5946889"/>
            <a:ext cx="1052547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+SGD 255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4345" y="6499476"/>
            <a:ext cx="5350446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Baseline: SGD 1,723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9057" y="3056771"/>
            <a:ext cx="5648668" cy="2868190"/>
          </a:xfrm>
          <a:custGeom>
            <a:avLst/>
            <a:gdLst/>
            <a:ahLst/>
            <a:cxnLst/>
            <a:rect l="l" t="t" r="r" b="b"/>
            <a:pathLst>
              <a:path w="5648668" h="2868190">
                <a:moveTo>
                  <a:pt x="140341" y="0"/>
                </a:moveTo>
                <a:lnTo>
                  <a:pt x="5508327" y="0"/>
                </a:lnTo>
                <a:cubicBezTo>
                  <a:pt x="5585835" y="0"/>
                  <a:pt x="5648668" y="62833"/>
                  <a:pt x="5648668" y="140341"/>
                </a:cubicBezTo>
                <a:lnTo>
                  <a:pt x="5648668" y="2727849"/>
                </a:lnTo>
                <a:cubicBezTo>
                  <a:pt x="5648668" y="2805357"/>
                  <a:pt x="5585835" y="2868190"/>
                  <a:pt x="5508327" y="2868190"/>
                </a:cubicBezTo>
                <a:lnTo>
                  <a:pt x="140341" y="2868190"/>
                </a:lnTo>
                <a:cubicBezTo>
                  <a:pt x="62833" y="2868190"/>
                  <a:pt x="0" y="2805357"/>
                  <a:pt x="0" y="2727849"/>
                </a:cubicBezTo>
                <a:lnTo>
                  <a:pt x="0" y="140341"/>
                </a:lnTo>
                <a:cubicBezTo>
                  <a:pt x="0" y="62833"/>
                  <a:pt x="62833" y="0"/>
                  <a:pt x="14034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6314" dist="877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6368867" y="3236581"/>
            <a:ext cx="537676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Predictions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8867" y="3587430"/>
            <a:ext cx="5289047" cy="666613"/>
          </a:xfrm>
          <a:custGeom>
            <a:avLst/>
            <a:gdLst/>
            <a:ahLst/>
            <a:cxnLst/>
            <a:rect l="l" t="t" r="r" b="b"/>
            <a:pathLst>
              <a:path w="5289047" h="666613">
                <a:moveTo>
                  <a:pt x="105252" y="0"/>
                </a:moveTo>
                <a:lnTo>
                  <a:pt x="5183796" y="0"/>
                </a:lnTo>
                <a:cubicBezTo>
                  <a:pt x="5241925" y="0"/>
                  <a:pt x="5289047" y="47123"/>
                  <a:pt x="5289047" y="105252"/>
                </a:cubicBezTo>
                <a:lnTo>
                  <a:pt x="5289047" y="561361"/>
                </a:lnTo>
                <a:cubicBezTo>
                  <a:pt x="5289047" y="619490"/>
                  <a:pt x="5241925" y="666613"/>
                  <a:pt x="5183796" y="666613"/>
                </a:cubicBezTo>
                <a:lnTo>
                  <a:pt x="105252" y="666613"/>
                </a:lnTo>
                <a:cubicBezTo>
                  <a:pt x="47123" y="666613"/>
                  <a:pt x="0" y="619490"/>
                  <a:pt x="0" y="561361"/>
                </a:cubicBezTo>
                <a:lnTo>
                  <a:pt x="0" y="105252"/>
                </a:lnTo>
                <a:cubicBezTo>
                  <a:pt x="0" y="47123"/>
                  <a:pt x="47123" y="0"/>
                  <a:pt x="10525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6474122" y="3710227"/>
            <a:ext cx="86835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Suite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738238" y="3692685"/>
            <a:ext cx="90343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SGD 1,968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74122" y="3973364"/>
            <a:ext cx="513993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location, full amenities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68867" y="4324213"/>
            <a:ext cx="5289047" cy="666613"/>
          </a:xfrm>
          <a:custGeom>
            <a:avLst/>
            <a:gdLst/>
            <a:ahLst/>
            <a:cxnLst/>
            <a:rect l="l" t="t" r="r" b="b"/>
            <a:pathLst>
              <a:path w="5289047" h="666613">
                <a:moveTo>
                  <a:pt x="105252" y="0"/>
                </a:moveTo>
                <a:lnTo>
                  <a:pt x="5183796" y="0"/>
                </a:lnTo>
                <a:cubicBezTo>
                  <a:pt x="5241925" y="0"/>
                  <a:pt x="5289047" y="47123"/>
                  <a:pt x="5289047" y="105252"/>
                </a:cubicBezTo>
                <a:lnTo>
                  <a:pt x="5289047" y="561361"/>
                </a:lnTo>
                <a:cubicBezTo>
                  <a:pt x="5289047" y="619490"/>
                  <a:pt x="5241925" y="666613"/>
                  <a:pt x="5183796" y="666613"/>
                </a:cubicBezTo>
                <a:lnTo>
                  <a:pt x="105252" y="666613"/>
                </a:lnTo>
                <a:cubicBezTo>
                  <a:pt x="47123" y="666613"/>
                  <a:pt x="0" y="619490"/>
                  <a:pt x="0" y="561361"/>
                </a:cubicBezTo>
                <a:lnTo>
                  <a:pt x="0" y="105252"/>
                </a:lnTo>
                <a:cubicBezTo>
                  <a:pt x="0" y="47123"/>
                  <a:pt x="47123" y="0"/>
                  <a:pt x="10525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1" name="Text 59"/>
          <p:cNvSpPr/>
          <p:nvPr/>
        </p:nvSpPr>
        <p:spPr>
          <a:xfrm>
            <a:off x="6474122" y="4447010"/>
            <a:ext cx="75432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East Single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740842" y="4429468"/>
            <a:ext cx="90343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SGD 1,205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74122" y="4710147"/>
            <a:ext cx="513993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room, good MRT access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68867" y="5060996"/>
            <a:ext cx="5289047" cy="666613"/>
          </a:xfrm>
          <a:custGeom>
            <a:avLst/>
            <a:gdLst/>
            <a:ahLst/>
            <a:cxnLst/>
            <a:rect l="l" t="t" r="r" b="b"/>
            <a:pathLst>
              <a:path w="5289047" h="666613">
                <a:moveTo>
                  <a:pt x="105252" y="0"/>
                </a:moveTo>
                <a:lnTo>
                  <a:pt x="5183796" y="0"/>
                </a:lnTo>
                <a:cubicBezTo>
                  <a:pt x="5241925" y="0"/>
                  <a:pt x="5289047" y="47123"/>
                  <a:pt x="5289047" y="105252"/>
                </a:cubicBezTo>
                <a:lnTo>
                  <a:pt x="5289047" y="561361"/>
                </a:lnTo>
                <a:cubicBezTo>
                  <a:pt x="5289047" y="619490"/>
                  <a:pt x="5241925" y="666613"/>
                  <a:pt x="5183796" y="666613"/>
                </a:cubicBezTo>
                <a:lnTo>
                  <a:pt x="105252" y="666613"/>
                </a:lnTo>
                <a:cubicBezTo>
                  <a:pt x="47123" y="666613"/>
                  <a:pt x="0" y="619490"/>
                  <a:pt x="0" y="561361"/>
                </a:cubicBezTo>
                <a:lnTo>
                  <a:pt x="0" y="105252"/>
                </a:lnTo>
                <a:cubicBezTo>
                  <a:pt x="0" y="47123"/>
                  <a:pt x="47123" y="0"/>
                  <a:pt x="105252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5" name="Text 63"/>
          <p:cNvSpPr/>
          <p:nvPr/>
        </p:nvSpPr>
        <p:spPr>
          <a:xfrm>
            <a:off x="6474122" y="5183793"/>
            <a:ext cx="1648990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 Twin-Share (surge)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852607" y="5166250"/>
            <a:ext cx="78941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SGD 958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74122" y="5446929"/>
            <a:ext cx="513993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room, during rental surge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89057" y="6074072"/>
            <a:ext cx="5648668" cy="780639"/>
          </a:xfrm>
          <a:custGeom>
            <a:avLst/>
            <a:gdLst/>
            <a:ahLst/>
            <a:cxnLst/>
            <a:rect l="l" t="t" r="r" b="b"/>
            <a:pathLst>
              <a:path w="5648668" h="780639">
                <a:moveTo>
                  <a:pt x="105254" y="0"/>
                </a:moveTo>
                <a:lnTo>
                  <a:pt x="5543414" y="0"/>
                </a:lnTo>
                <a:cubicBezTo>
                  <a:pt x="5601544" y="0"/>
                  <a:pt x="5648668" y="47124"/>
                  <a:pt x="5648668" y="105254"/>
                </a:cubicBezTo>
                <a:lnTo>
                  <a:pt x="5648668" y="675385"/>
                </a:lnTo>
                <a:cubicBezTo>
                  <a:pt x="5648668" y="733515"/>
                  <a:pt x="5601544" y="780639"/>
                  <a:pt x="5543414" y="780639"/>
                </a:cubicBezTo>
                <a:lnTo>
                  <a:pt x="105254" y="780639"/>
                </a:lnTo>
                <a:cubicBezTo>
                  <a:pt x="47124" y="780639"/>
                  <a:pt x="0" y="733515"/>
                  <a:pt x="0" y="675385"/>
                </a:cubicBezTo>
                <a:lnTo>
                  <a:pt x="0" y="105254"/>
                </a:lnTo>
                <a:cubicBezTo>
                  <a:pt x="0" y="47163"/>
                  <a:pt x="47163" y="0"/>
                  <a:pt x="105254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9" name="Shape 67"/>
          <p:cNvSpPr/>
          <p:nvPr/>
        </p:nvSpPr>
        <p:spPr>
          <a:xfrm>
            <a:off x="6333782" y="6253882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105255" y="0"/>
                </a:moveTo>
                <a:lnTo>
                  <a:pt x="315764" y="0"/>
                </a:lnTo>
                <a:cubicBezTo>
                  <a:pt x="373895" y="0"/>
                  <a:pt x="421019" y="47124"/>
                  <a:pt x="421019" y="105255"/>
                </a:cubicBezTo>
                <a:lnTo>
                  <a:pt x="421019" y="315764"/>
                </a:lnTo>
                <a:cubicBezTo>
                  <a:pt x="421019" y="373895"/>
                  <a:pt x="373895" y="421019"/>
                  <a:pt x="315764" y="421019"/>
                </a:cubicBezTo>
                <a:lnTo>
                  <a:pt x="105255" y="421019"/>
                </a:lnTo>
                <a:cubicBezTo>
                  <a:pt x="47124" y="421019"/>
                  <a:pt x="0" y="373895"/>
                  <a:pt x="0" y="315764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0" name="Shape 68"/>
          <p:cNvSpPr/>
          <p:nvPr/>
        </p:nvSpPr>
        <p:spPr>
          <a:xfrm>
            <a:off x="6478508" y="6376679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85622" y="22887"/>
                </a:moveTo>
                <a:cubicBezTo>
                  <a:pt x="89186" y="17988"/>
                  <a:pt x="88089" y="11135"/>
                  <a:pt x="83190" y="7572"/>
                </a:cubicBezTo>
                <a:cubicBezTo>
                  <a:pt x="78290" y="4009"/>
                  <a:pt x="71438" y="5105"/>
                  <a:pt x="67874" y="10005"/>
                </a:cubicBezTo>
                <a:lnTo>
                  <a:pt x="31556" y="59925"/>
                </a:lnTo>
                <a:lnTo>
                  <a:pt x="18707" y="47077"/>
                </a:lnTo>
                <a:cubicBezTo>
                  <a:pt x="14425" y="42794"/>
                  <a:pt x="7469" y="42794"/>
                  <a:pt x="3186" y="47077"/>
                </a:cubicBezTo>
                <a:cubicBezTo>
                  <a:pt x="-1096" y="51360"/>
                  <a:pt x="-1096" y="58315"/>
                  <a:pt x="3186" y="62598"/>
                </a:cubicBezTo>
                <a:lnTo>
                  <a:pt x="25114" y="84526"/>
                </a:lnTo>
                <a:cubicBezTo>
                  <a:pt x="27376" y="86787"/>
                  <a:pt x="30528" y="87952"/>
                  <a:pt x="33714" y="87712"/>
                </a:cubicBezTo>
                <a:cubicBezTo>
                  <a:pt x="36901" y="87472"/>
                  <a:pt x="39847" y="85828"/>
                  <a:pt x="41732" y="83224"/>
                </a:cubicBezTo>
                <a:lnTo>
                  <a:pt x="85588" y="22922"/>
                </a:lnTo>
                <a:close/>
                <a:moveTo>
                  <a:pt x="129478" y="69485"/>
                </a:moveTo>
                <a:cubicBezTo>
                  <a:pt x="133042" y="64585"/>
                  <a:pt x="131945" y="57732"/>
                  <a:pt x="127046" y="54169"/>
                </a:cubicBezTo>
                <a:cubicBezTo>
                  <a:pt x="122146" y="50606"/>
                  <a:pt x="115294" y="51702"/>
                  <a:pt x="111730" y="56602"/>
                </a:cubicBezTo>
                <a:lnTo>
                  <a:pt x="53484" y="136673"/>
                </a:lnTo>
                <a:lnTo>
                  <a:pt x="29671" y="112861"/>
                </a:lnTo>
                <a:cubicBezTo>
                  <a:pt x="25389" y="108578"/>
                  <a:pt x="18433" y="108578"/>
                  <a:pt x="14150" y="112861"/>
                </a:cubicBezTo>
                <a:cubicBezTo>
                  <a:pt x="9868" y="117144"/>
                  <a:pt x="9868" y="124099"/>
                  <a:pt x="14150" y="128382"/>
                </a:cubicBezTo>
                <a:lnTo>
                  <a:pt x="47043" y="161274"/>
                </a:lnTo>
                <a:cubicBezTo>
                  <a:pt x="49304" y="163535"/>
                  <a:pt x="52456" y="164700"/>
                  <a:pt x="55642" y="164460"/>
                </a:cubicBezTo>
                <a:cubicBezTo>
                  <a:pt x="58829" y="164221"/>
                  <a:pt x="61775" y="162576"/>
                  <a:pt x="63660" y="159972"/>
                </a:cubicBezTo>
                <a:lnTo>
                  <a:pt x="129444" y="6951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1" name="Text 69"/>
          <p:cNvSpPr/>
          <p:nvPr/>
        </p:nvSpPr>
        <p:spPr>
          <a:xfrm>
            <a:off x="6860056" y="6218797"/>
            <a:ext cx="193844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 Met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60056" y="6499476"/>
            <a:ext cx="192966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R² &gt; 0.70 | ✅ AUC &gt; 0.70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729" y="337729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101319" y="0"/>
                </a:moveTo>
                <a:lnTo>
                  <a:pt x="236410" y="0"/>
                </a:lnTo>
                <a:cubicBezTo>
                  <a:pt x="292367" y="0"/>
                  <a:pt x="337729" y="45362"/>
                  <a:pt x="337729" y="101319"/>
                </a:cubicBezTo>
                <a:lnTo>
                  <a:pt x="337729" y="236410"/>
                </a:lnTo>
                <a:cubicBezTo>
                  <a:pt x="337729" y="292367"/>
                  <a:pt x="292367" y="337729"/>
                  <a:pt x="236410" y="337729"/>
                </a:cubicBezTo>
                <a:lnTo>
                  <a:pt x="101319" y="337729"/>
                </a:lnTo>
                <a:cubicBezTo>
                  <a:pt x="45362" y="337729"/>
                  <a:pt x="0" y="292367"/>
                  <a:pt x="0" y="236410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19192" y="388388"/>
            <a:ext cx="253296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6776" y="337729"/>
            <a:ext cx="347016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&amp; Conclusion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729" y="743003"/>
            <a:ext cx="810548" cy="33773"/>
          </a:xfrm>
          <a:custGeom>
            <a:avLst/>
            <a:gdLst/>
            <a:ahLst/>
            <a:cxnLst/>
            <a:rect l="l" t="t" r="r" b="b"/>
            <a:pathLst>
              <a:path w="810548" h="33773">
                <a:moveTo>
                  <a:pt x="16886" y="0"/>
                </a:moveTo>
                <a:lnTo>
                  <a:pt x="793662" y="0"/>
                </a:lnTo>
                <a:cubicBezTo>
                  <a:pt x="802988" y="0"/>
                  <a:pt x="810548" y="7560"/>
                  <a:pt x="810548" y="16886"/>
                </a:cubicBezTo>
                <a:lnTo>
                  <a:pt x="810548" y="16886"/>
                </a:lnTo>
                <a:cubicBezTo>
                  <a:pt x="810548" y="26213"/>
                  <a:pt x="802988" y="33773"/>
                  <a:pt x="793662" y="33773"/>
                </a:cubicBezTo>
                <a:lnTo>
                  <a:pt x="16886" y="33773"/>
                </a:lnTo>
                <a:cubicBezTo>
                  <a:pt x="7560" y="33773"/>
                  <a:pt x="0" y="26213"/>
                  <a:pt x="0" y="16886"/>
                </a:cubicBezTo>
                <a:lnTo>
                  <a:pt x="0" y="16886"/>
                </a:lnTo>
                <a:cubicBezTo>
                  <a:pt x="0" y="7560"/>
                  <a:pt x="7560" y="0"/>
                  <a:pt x="1688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341950" y="916089"/>
            <a:ext cx="5682283" cy="1730859"/>
          </a:xfrm>
          <a:custGeom>
            <a:avLst/>
            <a:gdLst/>
            <a:ahLst/>
            <a:cxnLst/>
            <a:rect l="l" t="t" r="r" b="b"/>
            <a:pathLst>
              <a:path w="5682283" h="1730859">
                <a:moveTo>
                  <a:pt x="135094" y="0"/>
                </a:moveTo>
                <a:lnTo>
                  <a:pt x="5547189" y="0"/>
                </a:lnTo>
                <a:cubicBezTo>
                  <a:pt x="5621799" y="0"/>
                  <a:pt x="5682283" y="60483"/>
                  <a:pt x="5682283" y="135094"/>
                </a:cubicBezTo>
                <a:lnTo>
                  <a:pt x="5682283" y="1595765"/>
                </a:lnTo>
                <a:cubicBezTo>
                  <a:pt x="5682283" y="1670375"/>
                  <a:pt x="5621799" y="1730859"/>
                  <a:pt x="5547189" y="1730859"/>
                </a:cubicBezTo>
                <a:lnTo>
                  <a:pt x="135094" y="1730859"/>
                </a:lnTo>
                <a:cubicBezTo>
                  <a:pt x="60483" y="1730859"/>
                  <a:pt x="0" y="1670375"/>
                  <a:pt x="0" y="1595765"/>
                </a:cubicBezTo>
                <a:lnTo>
                  <a:pt x="0" y="135094"/>
                </a:lnTo>
                <a:cubicBezTo>
                  <a:pt x="0" y="60483"/>
                  <a:pt x="60483" y="0"/>
                  <a:pt x="1350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ECFDF5"/>
              </a:gs>
            </a:gsLst>
            <a:lin ang="2700000" scaled="1"/>
          </a:gra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481263" y="1055402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101319" y="0"/>
                </a:moveTo>
                <a:lnTo>
                  <a:pt x="303956" y="0"/>
                </a:lnTo>
                <a:cubicBezTo>
                  <a:pt x="359912" y="0"/>
                  <a:pt x="405274" y="45362"/>
                  <a:pt x="405274" y="101319"/>
                </a:cubicBezTo>
                <a:lnTo>
                  <a:pt x="405274" y="303956"/>
                </a:lnTo>
                <a:cubicBezTo>
                  <a:pt x="405274" y="359912"/>
                  <a:pt x="359912" y="405274"/>
                  <a:pt x="303956" y="405274"/>
                </a:cubicBezTo>
                <a:lnTo>
                  <a:pt x="101319" y="405274"/>
                </a:lnTo>
                <a:cubicBezTo>
                  <a:pt x="45362" y="405274"/>
                  <a:pt x="0" y="359912"/>
                  <a:pt x="0" y="303956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599468" y="1173607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168864"/>
                </a:moveTo>
                <a:cubicBezTo>
                  <a:pt x="131031" y="168864"/>
                  <a:pt x="168864" y="131031"/>
                  <a:pt x="168864" y="84432"/>
                </a:cubicBezTo>
                <a:cubicBezTo>
                  <a:pt x="168864" y="37833"/>
                  <a:pt x="131031" y="0"/>
                  <a:pt x="84432" y="0"/>
                </a:cubicBezTo>
                <a:cubicBezTo>
                  <a:pt x="37833" y="0"/>
                  <a:pt x="0" y="37833"/>
                  <a:pt x="0" y="84432"/>
                </a:cubicBezTo>
                <a:cubicBezTo>
                  <a:pt x="0" y="131031"/>
                  <a:pt x="37833" y="168864"/>
                  <a:pt x="84432" y="168864"/>
                </a:cubicBezTo>
                <a:close/>
                <a:moveTo>
                  <a:pt x="112268" y="70151"/>
                </a:moveTo>
                <a:lnTo>
                  <a:pt x="85883" y="112367"/>
                </a:lnTo>
                <a:cubicBezTo>
                  <a:pt x="84498" y="114577"/>
                  <a:pt x="82123" y="115962"/>
                  <a:pt x="79518" y="116094"/>
                </a:cubicBezTo>
                <a:cubicBezTo>
                  <a:pt x="76912" y="116226"/>
                  <a:pt x="74406" y="115039"/>
                  <a:pt x="72856" y="112928"/>
                </a:cubicBezTo>
                <a:lnTo>
                  <a:pt x="57025" y="91820"/>
                </a:lnTo>
                <a:cubicBezTo>
                  <a:pt x="54386" y="88324"/>
                  <a:pt x="55112" y="83377"/>
                  <a:pt x="58608" y="80738"/>
                </a:cubicBezTo>
                <a:cubicBezTo>
                  <a:pt x="62104" y="78100"/>
                  <a:pt x="67051" y="78825"/>
                  <a:pt x="69689" y="82321"/>
                </a:cubicBezTo>
                <a:lnTo>
                  <a:pt x="78594" y="94195"/>
                </a:lnTo>
                <a:lnTo>
                  <a:pt x="98845" y="61774"/>
                </a:lnTo>
                <a:cubicBezTo>
                  <a:pt x="101154" y="58080"/>
                  <a:pt x="106035" y="56926"/>
                  <a:pt x="109762" y="59267"/>
                </a:cubicBezTo>
                <a:cubicBezTo>
                  <a:pt x="113489" y="61609"/>
                  <a:pt x="114610" y="66457"/>
                  <a:pt x="112268" y="7018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987856" y="1139834"/>
            <a:ext cx="1629540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Criteria Met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263" y="1561994"/>
            <a:ext cx="2651169" cy="675457"/>
          </a:xfrm>
          <a:custGeom>
            <a:avLst/>
            <a:gdLst/>
            <a:ahLst/>
            <a:cxnLst/>
            <a:rect l="l" t="t" r="r" b="b"/>
            <a:pathLst>
              <a:path w="2651169" h="675457">
                <a:moveTo>
                  <a:pt x="101319" y="0"/>
                </a:moveTo>
                <a:lnTo>
                  <a:pt x="2549850" y="0"/>
                </a:lnTo>
                <a:cubicBezTo>
                  <a:pt x="2605807" y="0"/>
                  <a:pt x="2651169" y="45362"/>
                  <a:pt x="2651169" y="101319"/>
                </a:cubicBezTo>
                <a:lnTo>
                  <a:pt x="2651169" y="574139"/>
                </a:lnTo>
                <a:cubicBezTo>
                  <a:pt x="2651169" y="630095"/>
                  <a:pt x="2605807" y="675457"/>
                  <a:pt x="2549850" y="675457"/>
                </a:cubicBezTo>
                <a:lnTo>
                  <a:pt x="101319" y="675457"/>
                </a:lnTo>
                <a:cubicBezTo>
                  <a:pt x="45362" y="675457"/>
                  <a:pt x="0" y="630095"/>
                  <a:pt x="0" y="57413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531922" y="1663313"/>
            <a:ext cx="254985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= 0.813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030" y="1967269"/>
            <a:ext cx="25076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 0.70 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2761" y="1561994"/>
            <a:ext cx="2651169" cy="675457"/>
          </a:xfrm>
          <a:custGeom>
            <a:avLst/>
            <a:gdLst/>
            <a:ahLst/>
            <a:cxnLst/>
            <a:rect l="l" t="t" r="r" b="b"/>
            <a:pathLst>
              <a:path w="2651169" h="675457">
                <a:moveTo>
                  <a:pt x="101319" y="0"/>
                </a:moveTo>
                <a:lnTo>
                  <a:pt x="2549850" y="0"/>
                </a:lnTo>
                <a:cubicBezTo>
                  <a:pt x="2605807" y="0"/>
                  <a:pt x="2651169" y="45362"/>
                  <a:pt x="2651169" y="101319"/>
                </a:cubicBezTo>
                <a:lnTo>
                  <a:pt x="2651169" y="574139"/>
                </a:lnTo>
                <a:cubicBezTo>
                  <a:pt x="2651169" y="630095"/>
                  <a:pt x="2605807" y="675457"/>
                  <a:pt x="2549850" y="675457"/>
                </a:cubicBezTo>
                <a:lnTo>
                  <a:pt x="101319" y="675457"/>
                </a:lnTo>
                <a:cubicBezTo>
                  <a:pt x="45362" y="675457"/>
                  <a:pt x="0" y="630095"/>
                  <a:pt x="0" y="57413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3283421" y="1663313"/>
            <a:ext cx="254985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 = 0.812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04529" y="1967269"/>
            <a:ext cx="25076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&gt; 0.70 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1263" y="2304997"/>
            <a:ext cx="547120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criteria met on held-out 2024 test 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1950" y="2790482"/>
            <a:ext cx="5682283" cy="3250637"/>
          </a:xfrm>
          <a:custGeom>
            <a:avLst/>
            <a:gdLst/>
            <a:ahLst/>
            <a:cxnLst/>
            <a:rect l="l" t="t" r="r" b="b"/>
            <a:pathLst>
              <a:path w="5682283" h="3250637">
                <a:moveTo>
                  <a:pt x="135096" y="0"/>
                </a:moveTo>
                <a:lnTo>
                  <a:pt x="5547186" y="0"/>
                </a:lnTo>
                <a:cubicBezTo>
                  <a:pt x="5621798" y="0"/>
                  <a:pt x="5682283" y="60485"/>
                  <a:pt x="5682283" y="135096"/>
                </a:cubicBezTo>
                <a:lnTo>
                  <a:pt x="5682283" y="3115541"/>
                </a:lnTo>
                <a:cubicBezTo>
                  <a:pt x="5682283" y="3190152"/>
                  <a:pt x="5621798" y="3250637"/>
                  <a:pt x="5547186" y="3250637"/>
                </a:cubicBezTo>
                <a:lnTo>
                  <a:pt x="135096" y="3250637"/>
                </a:lnTo>
                <a:cubicBezTo>
                  <a:pt x="60485" y="3250637"/>
                  <a:pt x="0" y="3190152"/>
                  <a:pt x="0" y="3115541"/>
                </a:cubicBezTo>
                <a:lnTo>
                  <a:pt x="0" y="135096"/>
                </a:lnTo>
                <a:cubicBezTo>
                  <a:pt x="0" y="60485"/>
                  <a:pt x="60485" y="0"/>
                  <a:pt x="1350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5330" dist="844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502371" y="2963568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110817" y="116094"/>
                </a:moveTo>
                <a:cubicBezTo>
                  <a:pt x="142875" y="116094"/>
                  <a:pt x="168864" y="90105"/>
                  <a:pt x="168864" y="58047"/>
                </a:cubicBezTo>
                <a:cubicBezTo>
                  <a:pt x="168864" y="25989"/>
                  <a:pt x="142875" y="0"/>
                  <a:pt x="110817" y="0"/>
                </a:cubicBezTo>
                <a:cubicBezTo>
                  <a:pt x="78759" y="0"/>
                  <a:pt x="52770" y="25989"/>
                  <a:pt x="52770" y="58047"/>
                </a:cubicBezTo>
                <a:cubicBezTo>
                  <a:pt x="52770" y="64215"/>
                  <a:pt x="53727" y="70184"/>
                  <a:pt x="55508" y="75758"/>
                </a:cubicBezTo>
                <a:lnTo>
                  <a:pt x="2309" y="128957"/>
                </a:lnTo>
                <a:cubicBezTo>
                  <a:pt x="825" y="130441"/>
                  <a:pt x="0" y="132453"/>
                  <a:pt x="0" y="134564"/>
                </a:cubicBezTo>
                <a:lnTo>
                  <a:pt x="0" y="160949"/>
                </a:lnTo>
                <a:cubicBezTo>
                  <a:pt x="0" y="165335"/>
                  <a:pt x="3529" y="168864"/>
                  <a:pt x="7916" y="168864"/>
                </a:cubicBezTo>
                <a:lnTo>
                  <a:pt x="34301" y="168864"/>
                </a:lnTo>
                <a:cubicBezTo>
                  <a:pt x="38687" y="168864"/>
                  <a:pt x="42216" y="165335"/>
                  <a:pt x="42216" y="160949"/>
                </a:cubicBezTo>
                <a:lnTo>
                  <a:pt x="42216" y="147756"/>
                </a:lnTo>
                <a:lnTo>
                  <a:pt x="55409" y="147756"/>
                </a:lnTo>
                <a:cubicBezTo>
                  <a:pt x="59795" y="147756"/>
                  <a:pt x="63324" y="144227"/>
                  <a:pt x="63324" y="139841"/>
                </a:cubicBezTo>
                <a:lnTo>
                  <a:pt x="63324" y="126648"/>
                </a:lnTo>
                <a:lnTo>
                  <a:pt x="76517" y="126648"/>
                </a:lnTo>
                <a:cubicBezTo>
                  <a:pt x="78627" y="126648"/>
                  <a:pt x="80639" y="125824"/>
                  <a:pt x="82123" y="124340"/>
                </a:cubicBezTo>
                <a:lnTo>
                  <a:pt x="93106" y="113357"/>
                </a:lnTo>
                <a:cubicBezTo>
                  <a:pt x="98680" y="115138"/>
                  <a:pt x="104650" y="116094"/>
                  <a:pt x="110817" y="116094"/>
                </a:cubicBezTo>
                <a:close/>
                <a:moveTo>
                  <a:pt x="124010" y="31662"/>
                </a:moveTo>
                <a:cubicBezTo>
                  <a:pt x="131291" y="31662"/>
                  <a:pt x="137202" y="37573"/>
                  <a:pt x="137202" y="44855"/>
                </a:cubicBezTo>
                <a:cubicBezTo>
                  <a:pt x="137202" y="52136"/>
                  <a:pt x="131291" y="58047"/>
                  <a:pt x="124010" y="58047"/>
                </a:cubicBezTo>
                <a:cubicBezTo>
                  <a:pt x="116729" y="58047"/>
                  <a:pt x="110817" y="52136"/>
                  <a:pt x="110817" y="44855"/>
                </a:cubicBezTo>
                <a:cubicBezTo>
                  <a:pt x="110817" y="37573"/>
                  <a:pt x="116729" y="31662"/>
                  <a:pt x="124010" y="31662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92343" y="2929795"/>
            <a:ext cx="5277008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Drivers Identified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1263" y="3267524"/>
            <a:ext cx="5403657" cy="607911"/>
          </a:xfrm>
          <a:custGeom>
            <a:avLst/>
            <a:gdLst/>
            <a:ahLst/>
            <a:cxnLst/>
            <a:rect l="l" t="t" r="r" b="b"/>
            <a:pathLst>
              <a:path w="5403657" h="607911">
                <a:moveTo>
                  <a:pt x="101321" y="0"/>
                </a:moveTo>
                <a:lnTo>
                  <a:pt x="5302336" y="0"/>
                </a:lnTo>
                <a:cubicBezTo>
                  <a:pt x="5358294" y="0"/>
                  <a:pt x="5403657" y="45363"/>
                  <a:pt x="5403657" y="101321"/>
                </a:cubicBezTo>
                <a:lnTo>
                  <a:pt x="5403657" y="506591"/>
                </a:lnTo>
                <a:cubicBezTo>
                  <a:pt x="5403657" y="562549"/>
                  <a:pt x="5358294" y="607911"/>
                  <a:pt x="5302336" y="607911"/>
                </a:cubicBezTo>
                <a:lnTo>
                  <a:pt x="101321" y="607911"/>
                </a:lnTo>
                <a:cubicBezTo>
                  <a:pt x="45363" y="607911"/>
                  <a:pt x="0" y="562549"/>
                  <a:pt x="0" y="506591"/>
                </a:cubicBezTo>
                <a:lnTo>
                  <a:pt x="0" y="101321"/>
                </a:lnTo>
                <a:cubicBezTo>
                  <a:pt x="0" y="45363"/>
                  <a:pt x="45363" y="0"/>
                  <a:pt x="101321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582582" y="3385729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67546" y="0"/>
                </a:moveTo>
                <a:lnTo>
                  <a:pt x="202637" y="0"/>
                </a:lnTo>
                <a:cubicBezTo>
                  <a:pt x="239917" y="0"/>
                  <a:pt x="270183" y="30266"/>
                  <a:pt x="270183" y="67546"/>
                </a:cubicBezTo>
                <a:lnTo>
                  <a:pt x="270183" y="202637"/>
                </a:lnTo>
                <a:cubicBezTo>
                  <a:pt x="270183" y="239917"/>
                  <a:pt x="239917" y="270183"/>
                  <a:pt x="202637" y="270183"/>
                </a:cubicBezTo>
                <a:lnTo>
                  <a:pt x="67546" y="270183"/>
                </a:lnTo>
                <a:cubicBezTo>
                  <a:pt x="30266" y="270183"/>
                  <a:pt x="0" y="239917"/>
                  <a:pt x="0" y="202637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693993" y="3436388"/>
            <a:ext cx="10976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083" y="3368842"/>
            <a:ext cx="195882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zone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4083" y="3571479"/>
            <a:ext cx="195882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premium SGD 300–500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1263" y="3942981"/>
            <a:ext cx="5403657" cy="607911"/>
          </a:xfrm>
          <a:custGeom>
            <a:avLst/>
            <a:gdLst/>
            <a:ahLst/>
            <a:cxnLst/>
            <a:rect l="l" t="t" r="r" b="b"/>
            <a:pathLst>
              <a:path w="5403657" h="607911">
                <a:moveTo>
                  <a:pt x="101321" y="0"/>
                </a:moveTo>
                <a:lnTo>
                  <a:pt x="5302336" y="0"/>
                </a:lnTo>
                <a:cubicBezTo>
                  <a:pt x="5358294" y="0"/>
                  <a:pt x="5403657" y="45363"/>
                  <a:pt x="5403657" y="101321"/>
                </a:cubicBezTo>
                <a:lnTo>
                  <a:pt x="5403657" y="506591"/>
                </a:lnTo>
                <a:cubicBezTo>
                  <a:pt x="5403657" y="562549"/>
                  <a:pt x="5358294" y="607911"/>
                  <a:pt x="5302336" y="607911"/>
                </a:cubicBezTo>
                <a:lnTo>
                  <a:pt x="101321" y="607911"/>
                </a:lnTo>
                <a:cubicBezTo>
                  <a:pt x="45363" y="607911"/>
                  <a:pt x="0" y="562549"/>
                  <a:pt x="0" y="506591"/>
                </a:cubicBezTo>
                <a:lnTo>
                  <a:pt x="0" y="101321"/>
                </a:lnTo>
                <a:cubicBezTo>
                  <a:pt x="0" y="45363"/>
                  <a:pt x="45363" y="0"/>
                  <a:pt x="101321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582582" y="4061186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67546" y="0"/>
                </a:moveTo>
                <a:lnTo>
                  <a:pt x="202637" y="0"/>
                </a:lnTo>
                <a:cubicBezTo>
                  <a:pt x="239917" y="0"/>
                  <a:pt x="270183" y="30266"/>
                  <a:pt x="270183" y="67546"/>
                </a:cubicBezTo>
                <a:lnTo>
                  <a:pt x="270183" y="202637"/>
                </a:lnTo>
                <a:cubicBezTo>
                  <a:pt x="270183" y="239917"/>
                  <a:pt x="239917" y="270183"/>
                  <a:pt x="202637" y="270183"/>
                </a:cubicBezTo>
                <a:lnTo>
                  <a:pt x="67546" y="270183"/>
                </a:lnTo>
                <a:cubicBezTo>
                  <a:pt x="30266" y="270183"/>
                  <a:pt x="0" y="239917"/>
                  <a:pt x="0" y="202637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683307" y="4111845"/>
            <a:ext cx="12664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4083" y="4044299"/>
            <a:ext cx="1384687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MRT proximity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4083" y="4246936"/>
            <a:ext cx="1384687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~SGD 80/km discount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1263" y="4618438"/>
            <a:ext cx="5403657" cy="607911"/>
          </a:xfrm>
          <a:custGeom>
            <a:avLst/>
            <a:gdLst/>
            <a:ahLst/>
            <a:cxnLst/>
            <a:rect l="l" t="t" r="r" b="b"/>
            <a:pathLst>
              <a:path w="5403657" h="607911">
                <a:moveTo>
                  <a:pt x="101321" y="0"/>
                </a:moveTo>
                <a:lnTo>
                  <a:pt x="5302336" y="0"/>
                </a:lnTo>
                <a:cubicBezTo>
                  <a:pt x="5358294" y="0"/>
                  <a:pt x="5403657" y="45363"/>
                  <a:pt x="5403657" y="101321"/>
                </a:cubicBezTo>
                <a:lnTo>
                  <a:pt x="5403657" y="506591"/>
                </a:lnTo>
                <a:cubicBezTo>
                  <a:pt x="5403657" y="562549"/>
                  <a:pt x="5358294" y="607911"/>
                  <a:pt x="5302336" y="607911"/>
                </a:cubicBezTo>
                <a:lnTo>
                  <a:pt x="101321" y="607911"/>
                </a:lnTo>
                <a:cubicBezTo>
                  <a:pt x="45363" y="607911"/>
                  <a:pt x="0" y="562549"/>
                  <a:pt x="0" y="506591"/>
                </a:cubicBezTo>
                <a:lnTo>
                  <a:pt x="0" y="101321"/>
                </a:lnTo>
                <a:cubicBezTo>
                  <a:pt x="0" y="45363"/>
                  <a:pt x="45363" y="0"/>
                  <a:pt x="101321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582582" y="4736643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67546" y="0"/>
                </a:moveTo>
                <a:lnTo>
                  <a:pt x="202637" y="0"/>
                </a:lnTo>
                <a:cubicBezTo>
                  <a:pt x="239917" y="0"/>
                  <a:pt x="270183" y="30266"/>
                  <a:pt x="270183" y="67546"/>
                </a:cubicBezTo>
                <a:lnTo>
                  <a:pt x="270183" y="202637"/>
                </a:lnTo>
                <a:cubicBezTo>
                  <a:pt x="270183" y="239917"/>
                  <a:pt x="239917" y="270183"/>
                  <a:pt x="202637" y="270183"/>
                </a:cubicBezTo>
                <a:lnTo>
                  <a:pt x="67546" y="270183"/>
                </a:lnTo>
                <a:cubicBezTo>
                  <a:pt x="30266" y="270183"/>
                  <a:pt x="0" y="239917"/>
                  <a:pt x="0" y="202637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682779" y="4787302"/>
            <a:ext cx="12664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4083" y="4719756"/>
            <a:ext cx="151133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Neighbourhood demand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4083" y="4922393"/>
            <a:ext cx="151133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 transaction index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1263" y="5293895"/>
            <a:ext cx="5403657" cy="607911"/>
          </a:xfrm>
          <a:custGeom>
            <a:avLst/>
            <a:gdLst/>
            <a:ahLst/>
            <a:cxnLst/>
            <a:rect l="l" t="t" r="r" b="b"/>
            <a:pathLst>
              <a:path w="5403657" h="607911">
                <a:moveTo>
                  <a:pt x="101321" y="0"/>
                </a:moveTo>
                <a:lnTo>
                  <a:pt x="5302336" y="0"/>
                </a:lnTo>
                <a:cubicBezTo>
                  <a:pt x="5358294" y="0"/>
                  <a:pt x="5403657" y="45363"/>
                  <a:pt x="5403657" y="101321"/>
                </a:cubicBezTo>
                <a:lnTo>
                  <a:pt x="5403657" y="506591"/>
                </a:lnTo>
                <a:cubicBezTo>
                  <a:pt x="5403657" y="562549"/>
                  <a:pt x="5358294" y="607911"/>
                  <a:pt x="5302336" y="607911"/>
                </a:cubicBezTo>
                <a:lnTo>
                  <a:pt x="101321" y="607911"/>
                </a:lnTo>
                <a:cubicBezTo>
                  <a:pt x="45363" y="607911"/>
                  <a:pt x="0" y="562549"/>
                  <a:pt x="0" y="506591"/>
                </a:cubicBezTo>
                <a:lnTo>
                  <a:pt x="0" y="101321"/>
                </a:lnTo>
                <a:cubicBezTo>
                  <a:pt x="0" y="45363"/>
                  <a:pt x="45363" y="0"/>
                  <a:pt x="101321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Shape 34"/>
          <p:cNvSpPr/>
          <p:nvPr/>
        </p:nvSpPr>
        <p:spPr>
          <a:xfrm>
            <a:off x="582582" y="5412100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67546" y="0"/>
                </a:moveTo>
                <a:lnTo>
                  <a:pt x="202637" y="0"/>
                </a:lnTo>
                <a:cubicBezTo>
                  <a:pt x="239917" y="0"/>
                  <a:pt x="270183" y="30266"/>
                  <a:pt x="270183" y="67546"/>
                </a:cubicBezTo>
                <a:lnTo>
                  <a:pt x="270183" y="202637"/>
                </a:lnTo>
                <a:cubicBezTo>
                  <a:pt x="270183" y="239917"/>
                  <a:pt x="239917" y="270183"/>
                  <a:pt x="202637" y="270183"/>
                </a:cubicBezTo>
                <a:lnTo>
                  <a:pt x="67546" y="270183"/>
                </a:lnTo>
                <a:cubicBezTo>
                  <a:pt x="30266" y="270183"/>
                  <a:pt x="0" y="239917"/>
                  <a:pt x="0" y="202637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682845" y="5462759"/>
            <a:ext cx="12664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4083" y="5395213"/>
            <a:ext cx="1789961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regime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4083" y="5597850"/>
            <a:ext cx="1789961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Rental surge 2022: +SGD 371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5854" y="916089"/>
            <a:ext cx="5682283" cy="1629540"/>
          </a:xfrm>
          <a:custGeom>
            <a:avLst/>
            <a:gdLst/>
            <a:ahLst/>
            <a:cxnLst/>
            <a:rect l="l" t="t" r="r" b="b"/>
            <a:pathLst>
              <a:path w="5682283" h="1629540">
                <a:moveTo>
                  <a:pt x="135089" y="0"/>
                </a:moveTo>
                <a:lnTo>
                  <a:pt x="5547194" y="0"/>
                </a:lnTo>
                <a:cubicBezTo>
                  <a:pt x="5621801" y="0"/>
                  <a:pt x="5682283" y="60481"/>
                  <a:pt x="5682283" y="135089"/>
                </a:cubicBezTo>
                <a:lnTo>
                  <a:pt x="5682283" y="1494451"/>
                </a:lnTo>
                <a:cubicBezTo>
                  <a:pt x="5682283" y="1569059"/>
                  <a:pt x="5621801" y="1629540"/>
                  <a:pt x="5547194" y="1629540"/>
                </a:cubicBezTo>
                <a:lnTo>
                  <a:pt x="135089" y="1629540"/>
                </a:lnTo>
                <a:cubicBezTo>
                  <a:pt x="60481" y="1629540"/>
                  <a:pt x="0" y="1569059"/>
                  <a:pt x="0" y="1494451"/>
                </a:cubicBezTo>
                <a:lnTo>
                  <a:pt x="0" y="135089"/>
                </a:lnTo>
                <a:cubicBezTo>
                  <a:pt x="0" y="60531"/>
                  <a:pt x="60531" y="0"/>
                  <a:pt x="1350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10196"/>
              </a:srgbClr>
            </a:solidFill>
            <a:prstDash val="solid"/>
          </a:ln>
          <a:effectLst>
            <a:outerShdw blurRad="25330" dist="844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6326275" y="1089175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0"/>
                </a:moveTo>
                <a:cubicBezTo>
                  <a:pt x="89280" y="0"/>
                  <a:pt x="93733" y="2671"/>
                  <a:pt x="96042" y="6926"/>
                </a:cubicBezTo>
                <a:lnTo>
                  <a:pt x="167281" y="138851"/>
                </a:lnTo>
                <a:cubicBezTo>
                  <a:pt x="169491" y="142941"/>
                  <a:pt x="169392" y="147888"/>
                  <a:pt x="167017" y="151879"/>
                </a:cubicBezTo>
                <a:cubicBezTo>
                  <a:pt x="164643" y="155870"/>
                  <a:pt x="160322" y="158310"/>
                  <a:pt x="155672" y="158310"/>
                </a:cubicBezTo>
                <a:lnTo>
                  <a:pt x="13193" y="158310"/>
                </a:lnTo>
                <a:cubicBezTo>
                  <a:pt x="8542" y="158310"/>
                  <a:pt x="4255" y="155870"/>
                  <a:pt x="1847" y="151879"/>
                </a:cubicBezTo>
                <a:cubicBezTo>
                  <a:pt x="-561" y="147888"/>
                  <a:pt x="-627" y="142941"/>
                  <a:pt x="1583" y="138851"/>
                </a:cubicBezTo>
                <a:lnTo>
                  <a:pt x="72823" y="6926"/>
                </a:lnTo>
                <a:cubicBezTo>
                  <a:pt x="75131" y="2671"/>
                  <a:pt x="79584" y="0"/>
                  <a:pt x="84432" y="0"/>
                </a:cubicBezTo>
                <a:close/>
                <a:moveTo>
                  <a:pt x="84432" y="55409"/>
                </a:moveTo>
                <a:cubicBezTo>
                  <a:pt x="80046" y="55409"/>
                  <a:pt x="76517" y="58938"/>
                  <a:pt x="76517" y="63324"/>
                </a:cubicBezTo>
                <a:lnTo>
                  <a:pt x="76517" y="100263"/>
                </a:lnTo>
                <a:cubicBezTo>
                  <a:pt x="76517" y="104650"/>
                  <a:pt x="80046" y="108179"/>
                  <a:pt x="84432" y="108179"/>
                </a:cubicBezTo>
                <a:cubicBezTo>
                  <a:pt x="88819" y="108179"/>
                  <a:pt x="92348" y="104650"/>
                  <a:pt x="92348" y="100263"/>
                </a:cubicBezTo>
                <a:lnTo>
                  <a:pt x="92348" y="63324"/>
                </a:lnTo>
                <a:cubicBezTo>
                  <a:pt x="92348" y="58938"/>
                  <a:pt x="88819" y="55409"/>
                  <a:pt x="84432" y="55409"/>
                </a:cubicBezTo>
                <a:close/>
                <a:moveTo>
                  <a:pt x="93238" y="126648"/>
                </a:moveTo>
                <a:cubicBezTo>
                  <a:pt x="93438" y="123380"/>
                  <a:pt x="91808" y="120270"/>
                  <a:pt x="89006" y="118575"/>
                </a:cubicBezTo>
                <a:cubicBezTo>
                  <a:pt x="86204" y="116880"/>
                  <a:pt x="82693" y="116880"/>
                  <a:pt x="79891" y="118575"/>
                </a:cubicBezTo>
                <a:cubicBezTo>
                  <a:pt x="77089" y="120270"/>
                  <a:pt x="75459" y="123380"/>
                  <a:pt x="75659" y="126648"/>
                </a:cubicBezTo>
                <a:cubicBezTo>
                  <a:pt x="75459" y="129917"/>
                  <a:pt x="77089" y="133027"/>
                  <a:pt x="79891" y="134722"/>
                </a:cubicBezTo>
                <a:cubicBezTo>
                  <a:pt x="82693" y="136417"/>
                  <a:pt x="86204" y="136417"/>
                  <a:pt x="89006" y="134722"/>
                </a:cubicBezTo>
                <a:cubicBezTo>
                  <a:pt x="91808" y="133027"/>
                  <a:pt x="93438" y="129917"/>
                  <a:pt x="93238" y="126648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6516248" y="1055402"/>
            <a:ext cx="5277008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7832" y="1460676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0" y="50659"/>
                </a:moveTo>
                <a:cubicBezTo>
                  <a:pt x="0" y="22700"/>
                  <a:pt x="22700" y="0"/>
                  <a:pt x="50659" y="0"/>
                </a:cubicBezTo>
                <a:cubicBezTo>
                  <a:pt x="78619" y="0"/>
                  <a:pt x="101319" y="22700"/>
                  <a:pt x="101319" y="50659"/>
                </a:cubicBezTo>
                <a:cubicBezTo>
                  <a:pt x="101319" y="78619"/>
                  <a:pt x="78619" y="101319"/>
                  <a:pt x="50659" y="101319"/>
                </a:cubicBezTo>
                <a:cubicBezTo>
                  <a:pt x="22700" y="101319"/>
                  <a:pt x="0" y="78619"/>
                  <a:pt x="0" y="50659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6533134" y="1393130"/>
            <a:ext cx="2600510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data</a:t>
            </a: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needs live 99.co scraping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7832" y="1730859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0" y="50659"/>
                </a:moveTo>
                <a:cubicBezTo>
                  <a:pt x="0" y="22700"/>
                  <a:pt x="22700" y="0"/>
                  <a:pt x="50659" y="0"/>
                </a:cubicBezTo>
                <a:cubicBezTo>
                  <a:pt x="78619" y="0"/>
                  <a:pt x="101319" y="22700"/>
                  <a:pt x="101319" y="50659"/>
                </a:cubicBezTo>
                <a:cubicBezTo>
                  <a:pt x="101319" y="78619"/>
                  <a:pt x="78619" y="101319"/>
                  <a:pt x="50659" y="101319"/>
                </a:cubicBezTo>
                <a:cubicBezTo>
                  <a:pt x="22700" y="101319"/>
                  <a:pt x="0" y="78619"/>
                  <a:pt x="0" y="50659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6" name="Text 44"/>
          <p:cNvSpPr/>
          <p:nvPr/>
        </p:nvSpPr>
        <p:spPr>
          <a:xfrm>
            <a:off x="6533134" y="1663313"/>
            <a:ext cx="331818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granularity</a:t>
            </a: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weekly modelling recommended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17832" y="2001042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0" y="50659"/>
                </a:moveTo>
                <a:cubicBezTo>
                  <a:pt x="0" y="22700"/>
                  <a:pt x="22700" y="0"/>
                  <a:pt x="50659" y="0"/>
                </a:cubicBezTo>
                <a:cubicBezTo>
                  <a:pt x="78619" y="0"/>
                  <a:pt x="101319" y="22700"/>
                  <a:pt x="101319" y="50659"/>
                </a:cubicBezTo>
                <a:cubicBezTo>
                  <a:pt x="101319" y="78619"/>
                  <a:pt x="78619" y="101319"/>
                  <a:pt x="50659" y="101319"/>
                </a:cubicBezTo>
                <a:cubicBezTo>
                  <a:pt x="22700" y="101319"/>
                  <a:pt x="0" y="78619"/>
                  <a:pt x="0" y="50659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6533134" y="1933496"/>
            <a:ext cx="266805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spatial autocorrelation</a:t>
            </a: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correction (GWR)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7832" y="2271224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0" y="50659"/>
                </a:moveTo>
                <a:cubicBezTo>
                  <a:pt x="0" y="22700"/>
                  <a:pt x="22700" y="0"/>
                  <a:pt x="50659" y="0"/>
                </a:cubicBezTo>
                <a:cubicBezTo>
                  <a:pt x="78619" y="0"/>
                  <a:pt x="101319" y="22700"/>
                  <a:pt x="101319" y="50659"/>
                </a:cubicBezTo>
                <a:cubicBezTo>
                  <a:pt x="101319" y="78619"/>
                  <a:pt x="78619" y="101319"/>
                  <a:pt x="50659" y="101319"/>
                </a:cubicBezTo>
                <a:cubicBezTo>
                  <a:pt x="22700" y="101319"/>
                  <a:pt x="0" y="78619"/>
                  <a:pt x="0" y="50659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6533134" y="2203679"/>
            <a:ext cx="313243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Vacant F1 = 0.41</a:t>
            </a: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SMOTE/class-weighting needed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5854" y="2689163"/>
            <a:ext cx="5682283" cy="3351956"/>
          </a:xfrm>
          <a:custGeom>
            <a:avLst/>
            <a:gdLst/>
            <a:ahLst/>
            <a:cxnLst/>
            <a:rect l="l" t="t" r="r" b="b"/>
            <a:pathLst>
              <a:path w="5682283" h="3351956">
                <a:moveTo>
                  <a:pt x="135084" y="0"/>
                </a:moveTo>
                <a:lnTo>
                  <a:pt x="5547199" y="0"/>
                </a:lnTo>
                <a:cubicBezTo>
                  <a:pt x="5621803" y="0"/>
                  <a:pt x="5682283" y="60479"/>
                  <a:pt x="5682283" y="135084"/>
                </a:cubicBezTo>
                <a:lnTo>
                  <a:pt x="5682283" y="3216872"/>
                </a:lnTo>
                <a:cubicBezTo>
                  <a:pt x="5682283" y="3291477"/>
                  <a:pt x="5621803" y="3351956"/>
                  <a:pt x="5547199" y="3351956"/>
                </a:cubicBezTo>
                <a:lnTo>
                  <a:pt x="135084" y="3351956"/>
                </a:lnTo>
                <a:cubicBezTo>
                  <a:pt x="60529" y="3351956"/>
                  <a:pt x="0" y="3291427"/>
                  <a:pt x="0" y="3216872"/>
                </a:cubicBezTo>
                <a:lnTo>
                  <a:pt x="0" y="135084"/>
                </a:lnTo>
                <a:cubicBezTo>
                  <a:pt x="0" y="60479"/>
                  <a:pt x="60479" y="0"/>
                  <a:pt x="13508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0071E3">
                  <a:alpha val="10000"/>
                </a:srgbClr>
              </a:gs>
            </a:gsLst>
            <a:lin ang="270000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Shape 50"/>
          <p:cNvSpPr/>
          <p:nvPr/>
        </p:nvSpPr>
        <p:spPr>
          <a:xfrm>
            <a:off x="6326275" y="2862249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42216" y="105540"/>
                </a:moveTo>
                <a:lnTo>
                  <a:pt x="8080" y="105540"/>
                </a:lnTo>
                <a:cubicBezTo>
                  <a:pt x="-132" y="105540"/>
                  <a:pt x="-5178" y="96602"/>
                  <a:pt x="-956" y="89544"/>
                </a:cubicBezTo>
                <a:lnTo>
                  <a:pt x="16491" y="60455"/>
                </a:lnTo>
                <a:cubicBezTo>
                  <a:pt x="19360" y="55672"/>
                  <a:pt x="24505" y="52770"/>
                  <a:pt x="30079" y="52770"/>
                </a:cubicBezTo>
                <a:lnTo>
                  <a:pt x="61411" y="52770"/>
                </a:lnTo>
                <a:cubicBezTo>
                  <a:pt x="86510" y="10257"/>
                  <a:pt x="123944" y="8113"/>
                  <a:pt x="148977" y="11774"/>
                </a:cubicBezTo>
                <a:cubicBezTo>
                  <a:pt x="153198" y="12401"/>
                  <a:pt x="156496" y="15699"/>
                  <a:pt x="157090" y="19888"/>
                </a:cubicBezTo>
                <a:cubicBezTo>
                  <a:pt x="160751" y="44921"/>
                  <a:pt x="158607" y="82354"/>
                  <a:pt x="116094" y="107453"/>
                </a:cubicBezTo>
                <a:lnTo>
                  <a:pt x="116094" y="138785"/>
                </a:lnTo>
                <a:cubicBezTo>
                  <a:pt x="116094" y="144359"/>
                  <a:pt x="113192" y="149504"/>
                  <a:pt x="108410" y="152374"/>
                </a:cubicBezTo>
                <a:lnTo>
                  <a:pt x="79320" y="169821"/>
                </a:lnTo>
                <a:cubicBezTo>
                  <a:pt x="72295" y="174042"/>
                  <a:pt x="63324" y="168963"/>
                  <a:pt x="63324" y="160784"/>
                </a:cubicBezTo>
                <a:lnTo>
                  <a:pt x="63324" y="126648"/>
                </a:lnTo>
                <a:cubicBezTo>
                  <a:pt x="63324" y="115006"/>
                  <a:pt x="53858" y="105540"/>
                  <a:pt x="42216" y="105540"/>
                </a:cubicBezTo>
                <a:lnTo>
                  <a:pt x="42183" y="105540"/>
                </a:lnTo>
                <a:close/>
                <a:moveTo>
                  <a:pt x="131925" y="52770"/>
                </a:moveTo>
                <a:cubicBezTo>
                  <a:pt x="131925" y="44033"/>
                  <a:pt x="124832" y="36939"/>
                  <a:pt x="116094" y="36939"/>
                </a:cubicBezTo>
                <a:cubicBezTo>
                  <a:pt x="107357" y="36939"/>
                  <a:pt x="100263" y="44033"/>
                  <a:pt x="100263" y="52770"/>
                </a:cubicBezTo>
                <a:cubicBezTo>
                  <a:pt x="100263" y="61507"/>
                  <a:pt x="107357" y="68601"/>
                  <a:pt x="116094" y="68601"/>
                </a:cubicBezTo>
                <a:cubicBezTo>
                  <a:pt x="124832" y="68601"/>
                  <a:pt x="131925" y="61507"/>
                  <a:pt x="131925" y="5277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6516248" y="2828476"/>
            <a:ext cx="5277008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 for Future Work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05167" y="3183091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67545" y="0"/>
                </a:moveTo>
                <a:lnTo>
                  <a:pt x="135092" y="0"/>
                </a:lnTo>
                <a:cubicBezTo>
                  <a:pt x="172371" y="0"/>
                  <a:pt x="202637" y="30266"/>
                  <a:pt x="202637" y="67545"/>
                </a:cubicBezTo>
                <a:lnTo>
                  <a:pt x="202637" y="135092"/>
                </a:lnTo>
                <a:cubicBezTo>
                  <a:pt x="202637" y="172371"/>
                  <a:pt x="172371" y="202637"/>
                  <a:pt x="135092" y="202637"/>
                </a:cubicBezTo>
                <a:lnTo>
                  <a:pt x="67545" y="202637"/>
                </a:lnTo>
                <a:cubicBezTo>
                  <a:pt x="30266" y="202637"/>
                  <a:pt x="0" y="172371"/>
                  <a:pt x="0" y="135092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5" name="Shape 53"/>
          <p:cNvSpPr/>
          <p:nvPr/>
        </p:nvSpPr>
        <p:spPr>
          <a:xfrm>
            <a:off x="6355827" y="3233751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99458" y="55132"/>
                </a:moveTo>
                <a:cubicBezTo>
                  <a:pt x="101932" y="52658"/>
                  <a:pt x="101932" y="48641"/>
                  <a:pt x="99458" y="46167"/>
                </a:cubicBezTo>
                <a:lnTo>
                  <a:pt x="67796" y="14505"/>
                </a:lnTo>
                <a:cubicBezTo>
                  <a:pt x="65323" y="12032"/>
                  <a:pt x="61306" y="12032"/>
                  <a:pt x="58832" y="14505"/>
                </a:cubicBezTo>
                <a:cubicBezTo>
                  <a:pt x="56358" y="16979"/>
                  <a:pt x="56358" y="20996"/>
                  <a:pt x="58832" y="23469"/>
                </a:cubicBezTo>
                <a:lnTo>
                  <a:pt x="79689" y="44327"/>
                </a:lnTo>
                <a:lnTo>
                  <a:pt x="6332" y="44327"/>
                </a:lnTo>
                <a:cubicBezTo>
                  <a:pt x="2830" y="44327"/>
                  <a:pt x="0" y="47157"/>
                  <a:pt x="0" y="50659"/>
                </a:cubicBezTo>
                <a:cubicBezTo>
                  <a:pt x="0" y="54162"/>
                  <a:pt x="2830" y="56992"/>
                  <a:pt x="6332" y="56992"/>
                </a:cubicBezTo>
                <a:lnTo>
                  <a:pt x="79689" y="56992"/>
                </a:lnTo>
                <a:lnTo>
                  <a:pt x="58832" y="77849"/>
                </a:lnTo>
                <a:cubicBezTo>
                  <a:pt x="56358" y="80323"/>
                  <a:pt x="56358" y="84340"/>
                  <a:pt x="58832" y="86813"/>
                </a:cubicBezTo>
                <a:cubicBezTo>
                  <a:pt x="61306" y="89287"/>
                  <a:pt x="65323" y="89287"/>
                  <a:pt x="67796" y="86813"/>
                </a:cubicBezTo>
                <a:lnTo>
                  <a:pt x="99458" y="5515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6" name="Text 54"/>
          <p:cNvSpPr/>
          <p:nvPr/>
        </p:nvSpPr>
        <p:spPr>
          <a:xfrm>
            <a:off x="6609123" y="3166205"/>
            <a:ext cx="2735601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scraping pipeline (99.co / PropertyGuru)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05167" y="3470161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67545" y="0"/>
                </a:moveTo>
                <a:lnTo>
                  <a:pt x="135092" y="0"/>
                </a:lnTo>
                <a:cubicBezTo>
                  <a:pt x="172371" y="0"/>
                  <a:pt x="202637" y="30266"/>
                  <a:pt x="202637" y="67545"/>
                </a:cubicBezTo>
                <a:lnTo>
                  <a:pt x="202637" y="135092"/>
                </a:lnTo>
                <a:cubicBezTo>
                  <a:pt x="202637" y="172371"/>
                  <a:pt x="172371" y="202637"/>
                  <a:pt x="135092" y="202637"/>
                </a:cubicBezTo>
                <a:lnTo>
                  <a:pt x="67545" y="202637"/>
                </a:lnTo>
                <a:cubicBezTo>
                  <a:pt x="30266" y="202637"/>
                  <a:pt x="0" y="172371"/>
                  <a:pt x="0" y="135092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8" name="Shape 56"/>
          <p:cNvSpPr/>
          <p:nvPr/>
        </p:nvSpPr>
        <p:spPr>
          <a:xfrm>
            <a:off x="6355827" y="3520820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99458" y="55132"/>
                </a:moveTo>
                <a:cubicBezTo>
                  <a:pt x="101932" y="52658"/>
                  <a:pt x="101932" y="48641"/>
                  <a:pt x="99458" y="46167"/>
                </a:cubicBezTo>
                <a:lnTo>
                  <a:pt x="67796" y="14505"/>
                </a:lnTo>
                <a:cubicBezTo>
                  <a:pt x="65323" y="12032"/>
                  <a:pt x="61306" y="12032"/>
                  <a:pt x="58832" y="14505"/>
                </a:cubicBezTo>
                <a:cubicBezTo>
                  <a:pt x="56358" y="16979"/>
                  <a:pt x="56358" y="20996"/>
                  <a:pt x="58832" y="23469"/>
                </a:cubicBezTo>
                <a:lnTo>
                  <a:pt x="79689" y="44327"/>
                </a:lnTo>
                <a:lnTo>
                  <a:pt x="6332" y="44327"/>
                </a:lnTo>
                <a:cubicBezTo>
                  <a:pt x="2830" y="44327"/>
                  <a:pt x="0" y="47157"/>
                  <a:pt x="0" y="50659"/>
                </a:cubicBezTo>
                <a:cubicBezTo>
                  <a:pt x="0" y="54162"/>
                  <a:pt x="2830" y="56992"/>
                  <a:pt x="6332" y="56992"/>
                </a:cubicBezTo>
                <a:lnTo>
                  <a:pt x="79689" y="56992"/>
                </a:lnTo>
                <a:lnTo>
                  <a:pt x="58832" y="77849"/>
                </a:lnTo>
                <a:cubicBezTo>
                  <a:pt x="56358" y="80323"/>
                  <a:pt x="56358" y="84340"/>
                  <a:pt x="58832" y="86813"/>
                </a:cubicBezTo>
                <a:cubicBezTo>
                  <a:pt x="61306" y="89287"/>
                  <a:pt x="65323" y="89287"/>
                  <a:pt x="67796" y="86813"/>
                </a:cubicBezTo>
                <a:lnTo>
                  <a:pt x="99458" y="5515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9" name="Text 57"/>
          <p:cNvSpPr/>
          <p:nvPr/>
        </p:nvSpPr>
        <p:spPr>
          <a:xfrm>
            <a:off x="6609123" y="3453274"/>
            <a:ext cx="2313440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Weekly-frequency vacancy modelling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5167" y="3757230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67545" y="0"/>
                </a:moveTo>
                <a:lnTo>
                  <a:pt x="135092" y="0"/>
                </a:lnTo>
                <a:cubicBezTo>
                  <a:pt x="172371" y="0"/>
                  <a:pt x="202637" y="30266"/>
                  <a:pt x="202637" y="67545"/>
                </a:cubicBezTo>
                <a:lnTo>
                  <a:pt x="202637" y="135092"/>
                </a:lnTo>
                <a:cubicBezTo>
                  <a:pt x="202637" y="172371"/>
                  <a:pt x="172371" y="202637"/>
                  <a:pt x="135092" y="202637"/>
                </a:cubicBezTo>
                <a:lnTo>
                  <a:pt x="67545" y="202637"/>
                </a:lnTo>
                <a:cubicBezTo>
                  <a:pt x="30266" y="202637"/>
                  <a:pt x="0" y="172371"/>
                  <a:pt x="0" y="135092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1" name="Shape 59"/>
          <p:cNvSpPr/>
          <p:nvPr/>
        </p:nvSpPr>
        <p:spPr>
          <a:xfrm>
            <a:off x="6355827" y="3807889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99458" y="55132"/>
                </a:moveTo>
                <a:cubicBezTo>
                  <a:pt x="101932" y="52658"/>
                  <a:pt x="101932" y="48641"/>
                  <a:pt x="99458" y="46167"/>
                </a:cubicBezTo>
                <a:lnTo>
                  <a:pt x="67796" y="14505"/>
                </a:lnTo>
                <a:cubicBezTo>
                  <a:pt x="65323" y="12032"/>
                  <a:pt x="61306" y="12032"/>
                  <a:pt x="58832" y="14505"/>
                </a:cubicBezTo>
                <a:cubicBezTo>
                  <a:pt x="56358" y="16979"/>
                  <a:pt x="56358" y="20996"/>
                  <a:pt x="58832" y="23469"/>
                </a:cubicBezTo>
                <a:lnTo>
                  <a:pt x="79689" y="44327"/>
                </a:lnTo>
                <a:lnTo>
                  <a:pt x="6332" y="44327"/>
                </a:lnTo>
                <a:cubicBezTo>
                  <a:pt x="2830" y="44327"/>
                  <a:pt x="0" y="47157"/>
                  <a:pt x="0" y="50659"/>
                </a:cubicBezTo>
                <a:cubicBezTo>
                  <a:pt x="0" y="54162"/>
                  <a:pt x="2830" y="56992"/>
                  <a:pt x="6332" y="56992"/>
                </a:cubicBezTo>
                <a:lnTo>
                  <a:pt x="79689" y="56992"/>
                </a:lnTo>
                <a:lnTo>
                  <a:pt x="58832" y="77849"/>
                </a:lnTo>
                <a:cubicBezTo>
                  <a:pt x="56358" y="80323"/>
                  <a:pt x="56358" y="84340"/>
                  <a:pt x="58832" y="86813"/>
                </a:cubicBezTo>
                <a:cubicBezTo>
                  <a:pt x="61306" y="89287"/>
                  <a:pt x="65323" y="89287"/>
                  <a:pt x="67796" y="86813"/>
                </a:cubicBezTo>
                <a:lnTo>
                  <a:pt x="99458" y="5515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2" name="Text 60"/>
          <p:cNvSpPr/>
          <p:nvPr/>
        </p:nvSpPr>
        <p:spPr>
          <a:xfrm>
            <a:off x="6609123" y="3740343"/>
            <a:ext cx="298045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GWR for spatial heterogeneity (Chen et al., 2024)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5167" y="4044299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67545" y="0"/>
                </a:moveTo>
                <a:lnTo>
                  <a:pt x="135092" y="0"/>
                </a:lnTo>
                <a:cubicBezTo>
                  <a:pt x="172371" y="0"/>
                  <a:pt x="202637" y="30266"/>
                  <a:pt x="202637" y="67545"/>
                </a:cubicBezTo>
                <a:lnTo>
                  <a:pt x="202637" y="135092"/>
                </a:lnTo>
                <a:cubicBezTo>
                  <a:pt x="202637" y="172371"/>
                  <a:pt x="172371" y="202637"/>
                  <a:pt x="135092" y="202637"/>
                </a:cubicBezTo>
                <a:lnTo>
                  <a:pt x="67545" y="202637"/>
                </a:lnTo>
                <a:cubicBezTo>
                  <a:pt x="30266" y="202637"/>
                  <a:pt x="0" y="172371"/>
                  <a:pt x="0" y="135092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4" name="Shape 62"/>
          <p:cNvSpPr/>
          <p:nvPr/>
        </p:nvSpPr>
        <p:spPr>
          <a:xfrm>
            <a:off x="6355827" y="4094958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99458" y="55132"/>
                </a:moveTo>
                <a:cubicBezTo>
                  <a:pt x="101932" y="52658"/>
                  <a:pt x="101932" y="48641"/>
                  <a:pt x="99458" y="46167"/>
                </a:cubicBezTo>
                <a:lnTo>
                  <a:pt x="67796" y="14505"/>
                </a:lnTo>
                <a:cubicBezTo>
                  <a:pt x="65323" y="12032"/>
                  <a:pt x="61306" y="12032"/>
                  <a:pt x="58832" y="14505"/>
                </a:cubicBezTo>
                <a:cubicBezTo>
                  <a:pt x="56358" y="16979"/>
                  <a:pt x="56358" y="20996"/>
                  <a:pt x="58832" y="23469"/>
                </a:cubicBezTo>
                <a:lnTo>
                  <a:pt x="79689" y="44327"/>
                </a:lnTo>
                <a:lnTo>
                  <a:pt x="6332" y="44327"/>
                </a:lnTo>
                <a:cubicBezTo>
                  <a:pt x="2830" y="44327"/>
                  <a:pt x="0" y="47157"/>
                  <a:pt x="0" y="50659"/>
                </a:cubicBezTo>
                <a:cubicBezTo>
                  <a:pt x="0" y="54162"/>
                  <a:pt x="2830" y="56992"/>
                  <a:pt x="6332" y="56992"/>
                </a:cubicBezTo>
                <a:lnTo>
                  <a:pt x="79689" y="56992"/>
                </a:lnTo>
                <a:lnTo>
                  <a:pt x="58832" y="77849"/>
                </a:lnTo>
                <a:cubicBezTo>
                  <a:pt x="56358" y="80323"/>
                  <a:pt x="56358" y="84340"/>
                  <a:pt x="58832" y="86813"/>
                </a:cubicBezTo>
                <a:cubicBezTo>
                  <a:pt x="61306" y="89287"/>
                  <a:pt x="65323" y="89287"/>
                  <a:pt x="67796" y="86813"/>
                </a:cubicBezTo>
                <a:lnTo>
                  <a:pt x="99458" y="5515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5" name="Text 63"/>
          <p:cNvSpPr/>
          <p:nvPr/>
        </p:nvSpPr>
        <p:spPr>
          <a:xfrm>
            <a:off x="6609123" y="4027413"/>
            <a:ext cx="232188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for operator pricing dashboards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5167" y="4331368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67545" y="0"/>
                </a:moveTo>
                <a:lnTo>
                  <a:pt x="135092" y="0"/>
                </a:lnTo>
                <a:cubicBezTo>
                  <a:pt x="172371" y="0"/>
                  <a:pt x="202637" y="30266"/>
                  <a:pt x="202637" y="67545"/>
                </a:cubicBezTo>
                <a:lnTo>
                  <a:pt x="202637" y="135092"/>
                </a:lnTo>
                <a:cubicBezTo>
                  <a:pt x="202637" y="172371"/>
                  <a:pt x="172371" y="202637"/>
                  <a:pt x="135092" y="202637"/>
                </a:cubicBezTo>
                <a:lnTo>
                  <a:pt x="67545" y="202637"/>
                </a:lnTo>
                <a:cubicBezTo>
                  <a:pt x="30266" y="202637"/>
                  <a:pt x="0" y="172371"/>
                  <a:pt x="0" y="135092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7" name="Shape 65"/>
          <p:cNvSpPr/>
          <p:nvPr/>
        </p:nvSpPr>
        <p:spPr>
          <a:xfrm>
            <a:off x="6355827" y="4382028"/>
            <a:ext cx="101319" cy="101319"/>
          </a:xfrm>
          <a:custGeom>
            <a:avLst/>
            <a:gdLst/>
            <a:ahLst/>
            <a:cxnLst/>
            <a:rect l="l" t="t" r="r" b="b"/>
            <a:pathLst>
              <a:path w="101319" h="101319">
                <a:moveTo>
                  <a:pt x="99458" y="55132"/>
                </a:moveTo>
                <a:cubicBezTo>
                  <a:pt x="101932" y="52658"/>
                  <a:pt x="101932" y="48641"/>
                  <a:pt x="99458" y="46167"/>
                </a:cubicBezTo>
                <a:lnTo>
                  <a:pt x="67796" y="14505"/>
                </a:lnTo>
                <a:cubicBezTo>
                  <a:pt x="65323" y="12032"/>
                  <a:pt x="61306" y="12032"/>
                  <a:pt x="58832" y="14505"/>
                </a:cubicBezTo>
                <a:cubicBezTo>
                  <a:pt x="56358" y="16979"/>
                  <a:pt x="56358" y="20996"/>
                  <a:pt x="58832" y="23469"/>
                </a:cubicBezTo>
                <a:lnTo>
                  <a:pt x="79689" y="44327"/>
                </a:lnTo>
                <a:lnTo>
                  <a:pt x="6332" y="44327"/>
                </a:lnTo>
                <a:cubicBezTo>
                  <a:pt x="2830" y="44327"/>
                  <a:pt x="0" y="47157"/>
                  <a:pt x="0" y="50659"/>
                </a:cubicBezTo>
                <a:cubicBezTo>
                  <a:pt x="0" y="54162"/>
                  <a:pt x="2830" y="56992"/>
                  <a:pt x="6332" y="56992"/>
                </a:cubicBezTo>
                <a:lnTo>
                  <a:pt x="79689" y="56992"/>
                </a:lnTo>
                <a:lnTo>
                  <a:pt x="58832" y="77849"/>
                </a:lnTo>
                <a:cubicBezTo>
                  <a:pt x="56358" y="80323"/>
                  <a:pt x="56358" y="84340"/>
                  <a:pt x="58832" y="86813"/>
                </a:cubicBezTo>
                <a:cubicBezTo>
                  <a:pt x="61306" y="89287"/>
                  <a:pt x="65323" y="89287"/>
                  <a:pt x="67796" y="86813"/>
                </a:cubicBezTo>
                <a:lnTo>
                  <a:pt x="99458" y="5515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8" name="Text 66"/>
          <p:cNvSpPr/>
          <p:nvPr/>
        </p:nvSpPr>
        <p:spPr>
          <a:xfrm>
            <a:off x="6609123" y="4314482"/>
            <a:ext cx="2397873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1D1D1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 / Prophet for forward forecasting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37729" y="6146659"/>
            <a:ext cx="11516543" cy="709230"/>
          </a:xfrm>
          <a:custGeom>
            <a:avLst/>
            <a:gdLst/>
            <a:ahLst/>
            <a:cxnLst/>
            <a:rect l="l" t="t" r="r" b="b"/>
            <a:pathLst>
              <a:path w="11516543" h="709230">
                <a:moveTo>
                  <a:pt x="135094" y="0"/>
                </a:moveTo>
                <a:lnTo>
                  <a:pt x="11381449" y="0"/>
                </a:lnTo>
                <a:cubicBezTo>
                  <a:pt x="11456059" y="0"/>
                  <a:pt x="11516543" y="60484"/>
                  <a:pt x="11516543" y="135094"/>
                </a:cubicBezTo>
                <a:lnTo>
                  <a:pt x="11516543" y="574136"/>
                </a:lnTo>
                <a:cubicBezTo>
                  <a:pt x="11516543" y="648746"/>
                  <a:pt x="11456059" y="709230"/>
                  <a:pt x="11381449" y="709230"/>
                </a:cubicBezTo>
                <a:lnTo>
                  <a:pt x="135094" y="709230"/>
                </a:lnTo>
                <a:cubicBezTo>
                  <a:pt x="60484" y="709230"/>
                  <a:pt x="0" y="648746"/>
                  <a:pt x="0" y="574136"/>
                </a:cubicBezTo>
                <a:lnTo>
                  <a:pt x="0" y="135094"/>
                </a:lnTo>
                <a:cubicBezTo>
                  <a:pt x="0" y="60534"/>
                  <a:pt x="60534" y="0"/>
                  <a:pt x="1350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70" name="Text 68"/>
          <p:cNvSpPr/>
          <p:nvPr/>
        </p:nvSpPr>
        <p:spPr>
          <a:xfrm>
            <a:off x="439047" y="6281751"/>
            <a:ext cx="11313906" cy="43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6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 transforms rental housing management</a:t>
            </a:r>
            <a:r>
              <a:rPr lang="en-US" sz="106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reactive to data-driven — enabling pricing optimisation for operators, vacancy risk management for investors, and policy impact simulation for regulators.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51951b51a00e099c6946de8298b34505af529d2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80" r="18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>
                  <a:alpha val="95000"/>
                </a:srgbClr>
              </a:gs>
              <a:gs pos="50000">
                <a:srgbClr val="1D1D1F">
                  <a:alpha val="90000"/>
                </a:srgbClr>
              </a:gs>
              <a:gs pos="100000">
                <a:srgbClr val="0071E3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Chen, L. J., Chuen, G. S., &amp; Thow, Y. K. (n.d.). Predicting HDB rental price in Singapore. National University of Singapore.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907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Ong, S. S. (2022). A new player in the market: Co-living entrants impacting the rental ecosystem [Master's thesis, NUS].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3622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Chen, W., Farag, S., Butt, U., &amp; Al-Khateeb, H. (2024). Leveraging machine learning for sophisticated rental value predictions. Applied Sciences, 14(20), 9528.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933700"/>
            <a:ext cx="5638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Salary.sg. (2025). The rise of co-living spaces in Singapore.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25755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Cribs. (2024, August 4). Co-living spaces in Singapore: Analysing their growth and impact on the rental market.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3829050"/>
            <a:ext cx="5638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Singapore Business Review. (2024). Student demand fuels next phase of co-living.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48400" y="12192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 Transport Authority (LTA). (2023). DataMall API — train station codes and Chinese names.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8400" y="17907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Redevelopment Authority. (2022, Oct). Guidelines on dwelling units in non-landed residential developments (dc22-10).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8400" y="23622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Lim, J. S. (2021). Effect of co-living spaces on non-landed private residential property rents in Singapore [Master's thesis, NUS].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8400" y="29337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Redevelopment Authority. (2023, Jan 27). Release of 4th Quarter 2022 real estate statistics.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48400" y="35052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Ministry of Finance, MND, &amp; MAS. (2021, December 15). Measures to cool the property market.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48400" y="40767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Redevelopment Authority. (2023, Dec 20). Temporary relaxation of occupancy cap.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48400" y="4648200"/>
            <a:ext cx="5638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Ministry of Health. (2021, May 14). Updates on local situation and heightened alert.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48400" y="497205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Redevelopment Authority. (2024). Private residential property rental statistics.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5F5F7">
              <a:alpha val="2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8"/>
          <p:cNvSpPr/>
          <p:nvPr/>
        </p:nvSpPr>
        <p:spPr>
          <a:xfrm>
            <a:off x="381000" y="6253163"/>
            <a:ext cx="12544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CoLive Predictive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787872" y="62484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TCX3212 Phase 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00474" y="6248400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Ruenn Rong Rayna &amp; Noviana Ghovin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00792" y="624840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1823</Words>
  <Application>Microsoft Office PowerPoint</Application>
  <PresentationFormat>Widescreen</PresentationFormat>
  <Paragraphs>382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CoLive Predictive</dc:title>
  <dc:subject>CoLive Predictive</dc:subject>
  <dc:creator>Kimi</dc:creator>
  <cp:lastModifiedBy>Rayna Low</cp:lastModifiedBy>
  <cp:revision>13</cp:revision>
  <dcterms:created xsi:type="dcterms:W3CDTF">2026-04-02T09:46:37Z</dcterms:created>
  <dcterms:modified xsi:type="dcterms:W3CDTF">2026-04-06T15:52:26Z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{"Label":"CoLive Predictive","ContentProducer":"001191110108MACG2KBH8F10000","ProduceID":"19d4d8fe-7512-8d04-8000-00008d3dd74d","ReservedCode1":"","ContentPropagator":"001191110108MACG2KBH8F20000","PropagateID":"19d4d8fe-7512-8d04-8000-00008d3dd74d","ReservedCode2":""}</vt:lpwstr>
  </property>
</Properties>
</file>